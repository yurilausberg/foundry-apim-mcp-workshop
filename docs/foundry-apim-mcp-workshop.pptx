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1" d="100"/>
          <a:sy n="101" d="100"/>
        </p:scale>
        <p:origin x="84" y="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20354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participant outcome: one governed tool layer that can serve both code-first and low-code agents. Frame the workshop as a build sequence rather than a product tour.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set the success criteria. The workshop is complete only when the tool call is grounded, controlled, and observable.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separation of responsibilities. APIM is the stable governed MCP boundary. The backend can be a mock, a public API, or a real enterprise service without changing the agent concept.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timeline to protect time. The longest blocks are the API to MCP transformation and the code-first agent. Optional extensions should not displace the core path.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start with configuration drift. Resolve identity and network issues here. Keep customer or production data out of the workshop sandbox.</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ordering: prove REST behavior before generating MCP tools. The mock path keeps the group moving. The Petstore path adds a live backend without changing the architecture.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to MCP step is a transformation, not a rewrite. Point out how operation IDs and descriptions influence the model's tool selection.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checkpoint saves time. If MCP Inspector cannot list and call the tools, stop here. Agent troubleshooting should begin only after the direct MCP client passes.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the sample as a reusable profile-driven host. The application code stays stable while endpoints, tool lists, names, and approval behavior change through environment variables.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tool examples to make approval concrete. The read path should feel fluid. Creates and status changes should pause before execution so participants can discuss consent and auditability.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Run the ASP.NET Core web project first. Confirm that the Responses API is listening at http://localhost:8088/responses before opening either client. For the PowerShell smoke test, prepare $body from the lab request payload and run the displayed Invoke-RestMethod command. Open Agent Inspector from Foundry Toolkit for the teaching view because it exposes model input, tool discovery, tool calls, approvals, and the final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reinforces reuse. The Petstore profile is not a second application. It proves that the host can be configured for a different MCP server and approval model.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 Path A and Path B as two interfaces over the same deployment manifest. Foundry Toolkit reads the selected service from azure.yaml and resolves declared values from the source .env or process environment. azd reads the same service definition and resolves values from the selected azd environment. Both paths package the same source and create an immutable hosted-agent version in Foundry Agent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declaring one approach universally better. The value is the shared governed tool layer. Selection depends on customization needs, delivery ownership, and the target workflow.</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from outside to inside. Identity determines who connects. APIM enforces gateway controls. The agent limits tools and asks for approval. Operations teams monitor and respond. The surrounding Microsoft Agent 365 plane adds enterprise inventory, ownership, identity, lifecycle, security, and compliance when it is enabled. It complements these runtime controls rather than replacing them. Published Foundry agents appear in the Agent 365 registry automatically. Activity ingestion and broader security and compliance features require tenant licensing and administrator enablement. Hosted-agent telemetry also requires the Agent 365 SDK and Microsoft Entra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16 is the optional identity extension within Lab 5. Bearer is the token presentation method, not an alternative to OAuth. Both authenticated paths send the delegated access token in the Authorization header, and APIM validates the same issuer, audience, client, and scope claims. The middle card is manual token injection for a one-time test. The right card is client-managed MCP OAuth, which uses protected-resource metadata, a 401 challenge, compatible client registration, Authorization Code with PKCE, consent, token caching, and refresh.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17 is the monitoring verification within Lab 5. The workshop policy preserves an incoming x-correlation-id or creates a GUID at APIM, records it in trace metadata, and forwards it downstream. This correlation ID is separate from the JWT. The access token establishes identity and authorization; the correlation ID connects telemetry for one request. Because the workshop policy starts at APIM, correlating the client and agent requires an upstream correlation header or additional W3C trace-context instrumentation.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Narrate the increasing risk. Retrieval is automatic. Recommendation stays grounded in retrieved data. The final state change pauses for approval and makes the control boundary visible.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for the architecture discussion. For each row, identify an owner and the evidence needed before a production release.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recovery routes are part of the workshop design. The facilitator should preserve the learning sequence instead of spending the session debugging optional extensions.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converting learning into decisions. Capture the candidate API, business owner, platform owner, identity pattern, approval rules, deployment method, and the next validation date.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502920" y="6473952"/>
            <a:ext cx="11183112" cy="0"/>
          </a:xfrm>
          <a:prstGeom prst="line">
            <a:avLst/>
          </a:prstGeom>
          <a:noFill/>
          <a:ln w="12700">
            <a:solidFill>
              <a:srgbClr val="D5E0E8"/>
            </a:solidFill>
            <a:prstDash val="solid"/>
          </a:ln>
        </p:spPr>
        <p:txBody>
          <a:bodyPr/>
          <a:lstStyle/>
          <a:p>
            <a:endParaRPr lang="en-US"/>
          </a:p>
        </p:txBody>
      </p:sp>
      <p:sp>
        <p:nvSpPr>
          <p:cNvPr id="25" name="Slide Number Placeholder 0"/>
          <p:cNvSpPr>
            <a:spLocks noGrp="1"/>
          </p:cNvSpPr>
          <p:nvPr>
            <p:ph type="sldNum" sz="quarter" idx="4294967295"/>
          </p:nvPr>
        </p:nvSpPr>
        <p:spPr>
          <a:xfrm>
            <a:off x="11109960" y="6510528"/>
            <a:ext cx="548640"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748494"/>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510528"/>
            <a:ext cx="548640"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748494"/>
                </a:solidFill>
                <a:latin typeface="Aptos"/>
                <a:ea typeface="Aptos"/>
                <a:cs typeface="Apto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svg"/><Relationship Id="rId7" Type="http://schemas.openxmlformats.org/officeDocument/2006/relationships/hyperlink" Target="https://aka.ms/MCPWorkshop"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4.svg"/><Relationship Id="rId11" Type="http://schemas.openxmlformats.org/officeDocument/2006/relationships/image" Target="../media/image19.svg"/><Relationship Id="rId5" Type="http://schemas.openxmlformats.org/officeDocument/2006/relationships/image" Target="../media/image13.sv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0.svg"/><Relationship Id="rId7" Type="http://schemas.openxmlformats.org/officeDocument/2006/relationships/image" Target="../media/image24.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3.svg"/><Relationship Id="rId5" Type="http://schemas.openxmlformats.org/officeDocument/2006/relationships/image" Target="../media/image22.svg"/><Relationship Id="rId4" Type="http://schemas.openxmlformats.org/officeDocument/2006/relationships/image" Target="../media/image21.svg"/></Relationships>
</file>

<file path=ppt/slides/_rels/slide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6.svg"/></Relationships>
</file>

<file path=ppt/slides/_rels/slide7.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8.svg"/></Relationships>
</file>

<file path=ppt/slides/_rels/slide8.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1.svg"/><Relationship Id="rId5" Type="http://schemas.openxmlformats.org/officeDocument/2006/relationships/image" Target="../media/image30.svg"/><Relationship Id="rId4" Type="http://schemas.openxmlformats.org/officeDocument/2006/relationships/image" Target="../media/image27.svg"/></Relationships>
</file>

<file path=ppt/slides/_rels/slide9.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4.svg"/><Relationship Id="rId4" Type="http://schemas.openxmlformats.org/officeDocument/2006/relationships/image" Target="../media/image33.svg"/></Relationships>
</file>

<file path=ppt/slides/_rels/slide10.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svg"/><Relationship Id="rId7" Type="http://schemas.openxmlformats.org/officeDocument/2006/relationships/image" Target="../media/image39.sv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8.svg"/><Relationship Id="rId5" Type="http://schemas.openxmlformats.org/officeDocument/2006/relationships/image" Target="../media/image37.svg"/><Relationship Id="rId4" Type="http://schemas.openxmlformats.org/officeDocument/2006/relationships/image" Target="../media/image36.svg"/><Relationship Id="rId9" Type="http://schemas.openxmlformats.org/officeDocument/2006/relationships/image" Target="../media/image41.svg"/></Relationships>
</file>

<file path=ppt/slides/_rels/slide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43.svg"/><Relationship Id="rId4" Type="http://schemas.openxmlformats.org/officeDocument/2006/relationships/image" Target="../media/image42.svg"/></Relationships>
</file>

<file path=ppt/slides/_rels/slide12.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46.svg"/><Relationship Id="rId4" Type="http://schemas.openxmlformats.org/officeDocument/2006/relationships/image" Target="../media/image45.svg"/></Relationships>
</file>

<file path=ppt/slides/_rels/slide13.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47.svg"/><Relationship Id="rId7" Type="http://schemas.openxmlformats.org/officeDocument/2006/relationships/image" Target="../media/image50.sv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9.svg"/><Relationship Id="rId5" Type="http://schemas.openxmlformats.org/officeDocument/2006/relationships/image" Target="../media/image27.svg"/><Relationship Id="rId4" Type="http://schemas.openxmlformats.org/officeDocument/2006/relationships/image" Target="../media/image48.svg"/><Relationship Id="rId9" Type="http://schemas.openxmlformats.org/officeDocument/2006/relationships/image" Target="../media/image51.svg"/></Relationships>
</file>

<file path=ppt/slides/_rels/slide14.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52.svg"/></Relationships>
</file>

<file path=ppt/slides/_rels/slide15.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4.svg"/><Relationship Id="rId5" Type="http://schemas.openxmlformats.org/officeDocument/2006/relationships/image" Target="../media/image3.svg"/><Relationship Id="rId4" Type="http://schemas.openxmlformats.org/officeDocument/2006/relationships/image" Target="../media/image2.svg"/></Relationships>
</file>

<file path=ppt/slides/_rels/slide16.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1.svg"/><Relationship Id="rId5" Type="http://schemas.openxmlformats.org/officeDocument/2006/relationships/image" Target="../media/image57.svg"/><Relationship Id="rId4" Type="http://schemas.openxmlformats.org/officeDocument/2006/relationships/image" Target="../media/image56.svg"/></Relationships>
</file>

<file path=ppt/slides/_rels/slide17.xml.rels><?xml version="1.0" encoding="UTF-8" standalone="yes"?>
<Relationships xmlns="http://schemas.openxmlformats.org/package/2006/relationships"><Relationship Id="rId8" Type="http://schemas.openxmlformats.org/officeDocument/2006/relationships/image" Target="../media/image60.svg"/><Relationship Id="rId3" Type="http://schemas.openxmlformats.org/officeDocument/2006/relationships/image" Target="../media/image58.svg"/><Relationship Id="rId7" Type="http://schemas.openxmlformats.org/officeDocument/2006/relationships/image" Target="../media/image23.sv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7.svg"/><Relationship Id="rId11" Type="http://schemas.openxmlformats.org/officeDocument/2006/relationships/image" Target="../media/image62.svg"/><Relationship Id="rId5" Type="http://schemas.openxmlformats.org/officeDocument/2006/relationships/image" Target="../media/image59.svg"/><Relationship Id="rId10" Type="http://schemas.openxmlformats.org/officeDocument/2006/relationships/image" Target="../media/image61.svg"/><Relationship Id="rId4" Type="http://schemas.openxmlformats.org/officeDocument/2006/relationships/image" Target="../media/image8.svg"/><Relationship Id="rId9" Type="http://schemas.openxmlformats.org/officeDocument/2006/relationships/image" Target="../media/image31.svg"/></Relationships>
</file>

<file path=ppt/slides/_rels/slide18.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41.svg"/><Relationship Id="rId4" Type="http://schemas.openxmlformats.org/officeDocument/2006/relationships/image" Target="../media/image63.sv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65.sv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64.svg"/><Relationship Id="rId5" Type="http://schemas.openxmlformats.org/officeDocument/2006/relationships/image" Target="../media/image53.svg"/><Relationship Id="rId4" Type="http://schemas.openxmlformats.org/officeDocument/2006/relationships/image" Target="../media/image2.svg"/></Relationships>
</file>

<file path=ppt/slides/_rels/slide21.xml.rels><?xml version="1.0" encoding="UTF-8" standalone="yes"?>
<Relationships xmlns="http://schemas.openxmlformats.org/package/2006/relationships"><Relationship Id="rId3" Type="http://schemas.openxmlformats.org/officeDocument/2006/relationships/image" Target="../media/image66.sv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69.svg"/><Relationship Id="rId5" Type="http://schemas.openxmlformats.org/officeDocument/2006/relationships/image" Target="../media/image68.svg"/><Relationship Id="rId4" Type="http://schemas.openxmlformats.org/officeDocument/2006/relationships/image" Target="../media/image67.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43"/>
        </a:solidFill>
        <a:effectLst/>
      </p:bgPr>
    </p:bg>
    <p:spTree>
      <p:nvGrpSpPr>
        <p:cNvPr id="1" name=""/>
        <p:cNvGrpSpPr/>
        <p:nvPr/>
      </p:nvGrpSpPr>
      <p:grpSpPr>
        <a:xfrm>
          <a:off x="0" y="0"/>
          <a:ext cx="0" cy="0"/>
          <a:chOff x="0" y="0"/>
          <a:chExt cx="0" cy="0"/>
        </a:xfrm>
      </p:grpSpPr>
      <p:sp>
        <p:nvSpPr>
          <p:cNvPr id="2" name="Shape 0"/>
          <p:cNvSpPr/>
          <p:nvPr/>
        </p:nvSpPr>
        <p:spPr>
          <a:xfrm>
            <a:off x="7909560" y="-1097280"/>
            <a:ext cx="5120640" cy="5120640"/>
          </a:xfrm>
          <a:prstGeom prst="ellipse">
            <a:avLst/>
          </a:prstGeom>
          <a:solidFill>
            <a:srgbClr val="0F8B8D">
              <a:alpha val="88000"/>
            </a:srgbClr>
          </a:solidFill>
          <a:ln w="12700">
            <a:solidFill>
              <a:srgbClr val="0F8B8D">
                <a:alpha val="0"/>
              </a:srgbClr>
            </a:solidFill>
            <a:prstDash val="solid"/>
          </a:ln>
        </p:spPr>
        <p:txBody>
          <a:bodyPr/>
          <a:lstStyle/>
          <a:p>
            <a:endParaRPr lang="en-US"/>
          </a:p>
        </p:txBody>
      </p:sp>
      <p:sp>
        <p:nvSpPr>
          <p:cNvPr id="3" name="Shape 1"/>
          <p:cNvSpPr/>
          <p:nvPr/>
        </p:nvSpPr>
        <p:spPr>
          <a:xfrm>
            <a:off x="9646920" y="3611880"/>
            <a:ext cx="3566160" cy="3566160"/>
          </a:xfrm>
          <a:prstGeom prst="ellipse">
            <a:avLst/>
          </a:prstGeom>
          <a:solidFill>
            <a:srgbClr val="F4B942">
              <a:alpha val="94000"/>
            </a:srgbClr>
          </a:solidFill>
          <a:ln w="12700">
            <a:solidFill>
              <a:srgbClr val="F4B942">
                <a:alpha val="0"/>
              </a:srgbClr>
            </a:solidFill>
            <a:prstDash val="solid"/>
          </a:ln>
        </p:spPr>
        <p:txBody>
          <a:bodyPr/>
          <a:lstStyle/>
          <a:p>
            <a:endParaRPr lang="en-US"/>
          </a:p>
        </p:txBody>
      </p:sp>
      <p:sp>
        <p:nvSpPr>
          <p:cNvPr id="4" name="Shape 2"/>
          <p:cNvSpPr/>
          <p:nvPr/>
        </p:nvSpPr>
        <p:spPr>
          <a:xfrm>
            <a:off x="7498080" y="2011680"/>
            <a:ext cx="2468880" cy="2286000"/>
          </a:xfrm>
          <a:prstGeom prst="line">
            <a:avLst/>
          </a:prstGeom>
          <a:noFill/>
          <a:ln w="19050">
            <a:solidFill>
              <a:srgbClr val="FFFFFF">
                <a:alpha val="45000"/>
              </a:srgbClr>
            </a:solidFill>
            <a:prstDash val="solid"/>
          </a:ln>
        </p:spPr>
        <p:txBody>
          <a:bodyPr/>
          <a:lstStyle/>
          <a:p>
            <a:endParaRPr lang="en-US"/>
          </a:p>
        </p:txBody>
      </p:sp>
      <p:sp>
        <p:nvSpPr>
          <p:cNvPr id="5" name="Shape 3"/>
          <p:cNvSpPr/>
          <p:nvPr/>
        </p:nvSpPr>
        <p:spPr>
          <a:xfrm>
            <a:off x="8778240" y="1280160"/>
            <a:ext cx="1828800" cy="3749040"/>
          </a:xfrm>
          <a:prstGeom prst="line">
            <a:avLst/>
          </a:prstGeom>
          <a:noFill/>
          <a:ln w="19050">
            <a:solidFill>
              <a:srgbClr val="FFFFFF">
                <a:alpha val="45000"/>
              </a:srgbClr>
            </a:solidFill>
            <a:prstDash val="solid"/>
          </a:ln>
        </p:spPr>
        <p:txBody>
          <a:bodyPr/>
          <a:lstStyle/>
          <a:p>
            <a:endParaRPr lang="en-US"/>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29600" y="1325880"/>
            <a:ext cx="658368" cy="658368"/>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46920" y="2331720"/>
            <a:ext cx="658368" cy="658368"/>
          </a:xfrm>
          <a:prstGeom prst="rect">
            <a:avLst/>
          </a:prstGeom>
        </p:spPr>
      </p:pic>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66760" y="3977640"/>
            <a:ext cx="658368" cy="658368"/>
          </a:xfrm>
          <a:prstGeom prst="rect">
            <a:avLst/>
          </a:prstGeom>
        </p:spPr>
      </p:pic>
      <p:pic>
        <p:nvPicPr>
          <p:cNvPr id="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378440" y="4709160"/>
            <a:ext cx="658368" cy="658368"/>
          </a:xfrm>
          <a:prstGeom prst="rect">
            <a:avLst/>
          </a:prstGeom>
        </p:spPr>
      </p:pic>
      <p:sp>
        <p:nvSpPr>
          <p:cNvPr id="10" name="Shape 4"/>
          <p:cNvSpPr/>
          <p:nvPr/>
        </p:nvSpPr>
        <p:spPr>
          <a:xfrm>
            <a:off x="640080" y="621792"/>
            <a:ext cx="1920240" cy="310896"/>
          </a:xfrm>
          <a:prstGeom prst="roundRect">
            <a:avLst>
              <a:gd name="adj" fmla="val 23529"/>
            </a:avLst>
          </a:prstGeom>
          <a:solidFill>
            <a:srgbClr val="5BD6C5"/>
          </a:solidFill>
          <a:ln w="12700">
            <a:solidFill>
              <a:srgbClr val="5BD6C5"/>
            </a:solidFill>
            <a:prstDash val="solid"/>
          </a:ln>
        </p:spPr>
        <p:txBody>
          <a:bodyPr/>
          <a:lstStyle/>
          <a:p>
            <a:endParaRPr lang="en-US"/>
          </a:p>
        </p:txBody>
      </p:sp>
      <p:sp>
        <p:nvSpPr>
          <p:cNvPr id="11" name="Text 5"/>
          <p:cNvSpPr/>
          <p:nvPr/>
        </p:nvSpPr>
        <p:spPr>
          <a:xfrm>
            <a:off x="713232" y="685800"/>
            <a:ext cx="1773936" cy="146304"/>
          </a:xfrm>
          <a:prstGeom prst="rect">
            <a:avLst/>
          </a:prstGeom>
          <a:noFill/>
          <a:ln/>
        </p:spPr>
        <p:txBody>
          <a:bodyPr wrap="square" lIns="0" tIns="0" rIns="0" bIns="0" rtlCol="0" anchor="ctr">
            <a:normAutofit/>
          </a:bodyPr>
          <a:lstStyle/>
          <a:p>
            <a:pPr marL="0" indent="0" algn="ctr">
              <a:buNone/>
            </a:pPr>
            <a:r>
              <a:rPr lang="en-US" sz="850" b="1" dirty="0">
                <a:solidFill>
                  <a:srgbClr val="102A43"/>
                </a:solidFill>
                <a:latin typeface="Aptos" pitchFamily="34" charset="0"/>
                <a:ea typeface="Aptos" pitchFamily="34" charset="-122"/>
                <a:cs typeface="Aptos" pitchFamily="34" charset="-120"/>
              </a:rPr>
              <a:t>HANDS-ON WORKSHOP</a:t>
            </a:r>
            <a:endParaRPr lang="en-US" sz="850" dirty="0"/>
          </a:p>
        </p:txBody>
      </p:sp>
      <p:sp>
        <p:nvSpPr>
          <p:cNvPr id="12" name="Text 6"/>
          <p:cNvSpPr/>
          <p:nvPr/>
        </p:nvSpPr>
        <p:spPr>
          <a:xfrm>
            <a:off x="640080" y="1325880"/>
            <a:ext cx="6675120" cy="1463040"/>
          </a:xfrm>
          <a:prstGeom prst="rect">
            <a:avLst/>
          </a:prstGeom>
          <a:noFill/>
          <a:ln/>
        </p:spPr>
        <p:txBody>
          <a:bodyPr wrap="square" lIns="0" tIns="0" rIns="0" bIns="0" rtlCol="0" anchor="ctr">
            <a:normAutofit/>
          </a:bodyPr>
          <a:lstStyle/>
          <a:p>
            <a:pPr marL="0" indent="0">
              <a:lnSpc>
                <a:spcPct val="90000"/>
              </a:lnSpc>
              <a:buNone/>
            </a:pPr>
            <a:r>
              <a:rPr lang="en-US" sz="3600" b="1" dirty="0">
                <a:solidFill>
                  <a:srgbClr val="FFFFFF"/>
                </a:solidFill>
                <a:latin typeface="Aptos Display" pitchFamily="34" charset="0"/>
                <a:ea typeface="Aptos Display" pitchFamily="34" charset="-122"/>
                <a:cs typeface="Aptos Display" pitchFamily="34" charset="-120"/>
              </a:rPr>
              <a:t>Build a Governed</a:t>
            </a:r>
            <a:endParaRPr lang="en-US" sz="3600" dirty="0"/>
          </a:p>
          <a:p>
            <a:pPr marL="0" indent="0">
              <a:lnSpc>
                <a:spcPct val="90000"/>
              </a:lnSpc>
              <a:buNone/>
            </a:pPr>
            <a:r>
              <a:rPr lang="en-US" sz="3600" b="1" dirty="0">
                <a:solidFill>
                  <a:srgbClr val="FFFFFF"/>
                </a:solidFill>
                <a:latin typeface="Aptos Display" pitchFamily="34" charset="0"/>
                <a:ea typeface="Aptos Display" pitchFamily="34" charset="-122"/>
                <a:cs typeface="Aptos Display" pitchFamily="34" charset="-120"/>
              </a:rPr>
              <a:t>MCP Agent</a:t>
            </a:r>
            <a:endParaRPr lang="en-US" sz="3600" dirty="0"/>
          </a:p>
        </p:txBody>
      </p:sp>
      <p:sp>
        <p:nvSpPr>
          <p:cNvPr id="13" name="Text 7"/>
          <p:cNvSpPr/>
          <p:nvPr/>
        </p:nvSpPr>
        <p:spPr>
          <a:xfrm>
            <a:off x="658368" y="3063240"/>
            <a:ext cx="6355080" cy="685800"/>
          </a:xfrm>
          <a:prstGeom prst="rect">
            <a:avLst/>
          </a:prstGeom>
          <a:noFill/>
          <a:ln/>
        </p:spPr>
        <p:txBody>
          <a:bodyPr wrap="square" lIns="0" tIns="0" rIns="0" bIns="0" rtlCol="0" anchor="ctr">
            <a:normAutofit/>
          </a:bodyPr>
          <a:lstStyle/>
          <a:p>
            <a:pPr marL="0" indent="0">
              <a:buNone/>
            </a:pPr>
            <a:r>
              <a:rPr lang="en-US" sz="1750" dirty="0">
                <a:solidFill>
                  <a:srgbClr val="D9E8F2"/>
                </a:solidFill>
                <a:latin typeface="Aptos" pitchFamily="34" charset="0"/>
                <a:ea typeface="Aptos" pitchFamily="34" charset="-122"/>
                <a:cs typeface="Aptos" pitchFamily="34" charset="-120"/>
              </a:rPr>
              <a:t>From REST API to APIM-hosted MCP tools, Microsoft Foundry agents, and production controls</a:t>
            </a:r>
            <a:endParaRPr lang="en-US" sz="1750" dirty="0"/>
          </a:p>
        </p:txBody>
      </p:sp>
      <p:sp>
        <p:nvSpPr>
          <p:cNvPr id="14" name="Shape 8"/>
          <p:cNvSpPr/>
          <p:nvPr/>
        </p:nvSpPr>
        <p:spPr>
          <a:xfrm>
            <a:off x="658368" y="4096512"/>
            <a:ext cx="5257800" cy="0"/>
          </a:xfrm>
          <a:prstGeom prst="line">
            <a:avLst/>
          </a:prstGeom>
          <a:noFill/>
          <a:ln w="38100">
            <a:solidFill>
              <a:srgbClr val="5BD6C5"/>
            </a:solidFill>
            <a:prstDash val="solid"/>
          </a:ln>
        </p:spPr>
        <p:txBody>
          <a:bodyPr/>
          <a:lstStyle/>
          <a:p>
            <a:endParaRPr lang="en-US"/>
          </a:p>
        </p:txBody>
      </p:sp>
      <p:sp>
        <p:nvSpPr>
          <p:cNvPr id="15" name="Text 9"/>
          <p:cNvSpPr/>
          <p:nvPr/>
        </p:nvSpPr>
        <p:spPr>
          <a:xfrm>
            <a:off x="658368" y="4315968"/>
            <a:ext cx="4114800" cy="274320"/>
          </a:xfrm>
          <a:prstGeom prst="rect">
            <a:avLst/>
          </a:prstGeom>
          <a:noFill/>
          <a:ln/>
        </p:spPr>
        <p:txBody>
          <a:bodyPr wrap="square" lIns="0" tIns="0" rIns="0" bIns="0" rtlCol="0" anchor="ctr"/>
          <a:lstStyle/>
          <a:p>
            <a:pPr marL="0" indent="0">
              <a:buNone/>
            </a:pPr>
            <a:r>
              <a:rPr lang="en-US" sz="1150" b="1" dirty="0">
                <a:solidFill>
                  <a:srgbClr val="5BD6C5"/>
                </a:solidFill>
                <a:latin typeface="Aptos" pitchFamily="34" charset="0"/>
                <a:ea typeface="Aptos" pitchFamily="34" charset="-122"/>
                <a:cs typeface="Aptos" pitchFamily="34" charset="-120"/>
              </a:rPr>
              <a:t>Six-hour workshop | Labs 0 through 6</a:t>
            </a:r>
            <a:endParaRPr lang="en-US" sz="1150" dirty="0"/>
          </a:p>
        </p:txBody>
      </p:sp>
      <p:sp>
        <p:nvSpPr>
          <p:cNvPr id="16" name="Text 10"/>
          <p:cNvSpPr/>
          <p:nvPr/>
        </p:nvSpPr>
        <p:spPr>
          <a:xfrm>
            <a:off x="658368" y="4736592"/>
            <a:ext cx="6126480" cy="384048"/>
          </a:xfrm>
          <a:prstGeom prst="rect">
            <a:avLst/>
          </a:prstGeom>
          <a:noFill/>
          <a:ln/>
        </p:spPr>
        <p:txBody>
          <a:bodyPr wrap="square" lIns="0" tIns="0" rIns="0" bIns="0" rtlCol="0" anchor="ctr">
            <a:normAutofit/>
          </a:bodyPr>
          <a:lstStyle/>
          <a:p>
            <a:pPr marL="0" indent="0">
              <a:buNone/>
            </a:pPr>
            <a:r>
              <a:rPr lang="en-US" sz="1300" dirty="0">
                <a:solidFill>
                  <a:srgbClr val="FFFFFF"/>
                </a:solidFill>
                <a:latin typeface="Aptos" pitchFamily="34" charset="0"/>
                <a:ea typeface="Aptos" pitchFamily="34" charset="-122"/>
                <a:cs typeface="Aptos" pitchFamily="34" charset="-120"/>
              </a:rPr>
              <a:t>Microsoft Foundry + Azure API Management + Model Context Protocol</a:t>
            </a:r>
            <a:endParaRPr lang="en-US" sz="1300" dirty="0"/>
          </a:p>
        </p:txBody>
      </p:sp>
      <p:sp>
        <p:nvSpPr>
          <p:cNvPr id="17" name="Text 11"/>
          <p:cNvSpPr/>
          <p:nvPr/>
        </p:nvSpPr>
        <p:spPr>
          <a:xfrm>
            <a:off x="658368" y="6299200"/>
            <a:ext cx="3200400" cy="201168"/>
          </a:xfrm>
          <a:prstGeom prst="rect">
            <a:avLst/>
          </a:prstGeom>
          <a:noFill/>
          <a:ln/>
        </p:spPr>
        <p:txBody>
          <a:bodyPr wrap="square" lIns="0" tIns="0" rIns="0" bIns="0" rtlCol="0" anchor="ctr"/>
          <a:lstStyle/>
          <a:p>
            <a:pPr marL="0" indent="0">
              <a:buNone/>
            </a:pPr>
            <a:r>
              <a:rPr lang="en-US" sz="950" dirty="0">
                <a:solidFill>
                  <a:srgbClr val="AFC7D7"/>
                </a:solidFill>
                <a:latin typeface="Aptos" pitchFamily="34" charset="0"/>
                <a:ea typeface="Aptos" pitchFamily="34" charset="-122"/>
                <a:cs typeface="Aptos" pitchFamily="34" charset="-120"/>
              </a:rPr>
              <a:t>Public workshop edition</a:t>
            </a:r>
            <a:endParaRPr lang="en-US" sz="950" dirty="0"/>
          </a:p>
        </p:txBody>
      </p:sp>
      <p:pic>
        <p:nvPicPr>
          <p:cNvPr id="19" name="Workshop Repo QR" descr="QR code linking to https://aka.ms/MCPWorkshop">
            <a:hlinkClick r:id="rId7"/>
            <a:extLst>
              <a:ext uri="{FF2B5EF4-FFF2-40B4-BE49-F238E27FC236}">
                <a16:creationId xmlns:a16="http://schemas.microsoft.com/office/drawing/2014/main" id="{A73C613E-4750-90AF-FDF0-3A81E526DA7B}"/>
              </a:ext>
            </a:extLst>
          </p:cNvPr>
          <p:cNvPicPr>
            <a:picLocks/>
          </p:cNvPicPr>
          <p:nvPr/>
        </p:nvPicPr>
        <p:blipFill>
          <a:blip r:embed="rId8"/>
          <a:stretch>
            <a:fillRect/>
          </a:stretch>
        </p:blipFill>
        <p:spPr>
          <a:xfrm>
            <a:off x="660400" y="5181600"/>
            <a:ext cx="914400" cy="914400"/>
          </a:xfrm>
          <a:prstGeom prst="rect">
            <a:avLst/>
          </a:prstGeom>
        </p:spPr>
      </p:pic>
      <p:sp>
        <p:nvSpPr>
          <p:cNvPr id="20" name="Workshop Repo Label">
            <a:extLst>
              <a:ext uri="{FF2B5EF4-FFF2-40B4-BE49-F238E27FC236}">
                <a16:creationId xmlns:a16="http://schemas.microsoft.com/office/drawing/2014/main" id="{3ED29ABE-FEF1-FE94-4EFE-FCC2CD734316}"/>
              </a:ext>
            </a:extLst>
          </p:cNvPr>
          <p:cNvSpPr txBox="1"/>
          <p:nvPr/>
        </p:nvSpPr>
        <p:spPr>
          <a:xfrm>
            <a:off x="1739900" y="5334000"/>
            <a:ext cx="2286000" cy="138499"/>
          </a:xfrm>
          <a:prstGeom prst="rect">
            <a:avLst/>
          </a:prstGeom>
          <a:noFill/>
        </p:spPr>
        <p:txBody>
          <a:bodyPr vert="horz" lIns="0" tIns="0" rIns="0" bIns="0" rtlCol="0">
            <a:spAutoFit/>
          </a:bodyPr>
          <a:lstStyle/>
          <a:p>
            <a:r>
              <a:rPr lang="en-US" sz="900" b="1">
                <a:solidFill>
                  <a:srgbClr val="60D4CB"/>
                </a:solidFill>
                <a:latin typeface="Aptos" panose="020B0004020202020204" pitchFamily="34" charset="0"/>
              </a:rPr>
              <a:t>WORKSHOP REPO</a:t>
            </a:r>
          </a:p>
        </p:txBody>
      </p:sp>
      <p:sp>
        <p:nvSpPr>
          <p:cNvPr id="21" name="Workshop Repo URL">
            <a:hlinkClick r:id="rId7"/>
            <a:extLst>
              <a:ext uri="{FF2B5EF4-FFF2-40B4-BE49-F238E27FC236}">
                <a16:creationId xmlns:a16="http://schemas.microsoft.com/office/drawing/2014/main" id="{B5CECEF4-17F6-8571-E785-BB9F4D6F939F}"/>
              </a:ext>
            </a:extLst>
          </p:cNvPr>
          <p:cNvSpPr txBox="1"/>
          <p:nvPr/>
        </p:nvSpPr>
        <p:spPr>
          <a:xfrm>
            <a:off x="1739900" y="5600700"/>
            <a:ext cx="2413000" cy="215444"/>
          </a:xfrm>
          <a:prstGeom prst="rect">
            <a:avLst/>
          </a:prstGeom>
          <a:noFill/>
        </p:spPr>
        <p:txBody>
          <a:bodyPr vert="horz" lIns="0" tIns="0" rIns="0" bIns="0" rtlCol="0">
            <a:spAutoFit/>
          </a:bodyPr>
          <a:lstStyle/>
          <a:p>
            <a:r>
              <a:rPr lang="en-US" sz="1400" b="1">
                <a:solidFill>
                  <a:srgbClr val="FFFFFF"/>
                </a:solidFill>
                <a:latin typeface="Aptos" panose="020B0004020202020204" pitchFamily="34" charset="0"/>
              </a:rPr>
              <a:t>aka.ms/MCPWorkshop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292608"/>
            <a:ext cx="2926080" cy="201168"/>
          </a:xfrm>
          <a:prstGeom prst="rect">
            <a:avLst/>
          </a:prstGeom>
          <a:noFill/>
          <a:ln/>
        </p:spPr>
        <p:txBody>
          <a:bodyPr wrap="square" lIns="254" tIns="254" rIns="254" bIns="254" rtlCol="0" anchor="ctr"/>
          <a:lstStyle/>
          <a:p>
            <a:pPr marL="0" indent="0">
              <a:buNone/>
            </a:pPr>
            <a:r>
              <a:rPr lang="en-US" sz="900" b="1" kern="0" spc="140" dirty="0">
                <a:solidFill>
                  <a:srgbClr val="0F8B8D"/>
                </a:solidFill>
                <a:latin typeface="Aptos" pitchFamily="34" charset="0"/>
                <a:ea typeface="Aptos" pitchFamily="34" charset="-122"/>
                <a:cs typeface="Aptos" pitchFamily="34" charset="-120"/>
              </a:rPr>
              <a:t> WORKSHOP PROMISE</a:t>
            </a:r>
            <a:endParaRPr lang="en-US" sz="900" dirty="0"/>
          </a:p>
        </p:txBody>
      </p:sp>
      <p:sp>
        <p:nvSpPr>
          <p:cNvPr id="3" name="Text 1"/>
          <p:cNvSpPr/>
          <p:nvPr/>
        </p:nvSpPr>
        <p:spPr>
          <a:xfrm>
            <a:off x="640080" y="548640"/>
            <a:ext cx="10835640" cy="502920"/>
          </a:xfrm>
          <a:prstGeom prst="rect">
            <a:avLst/>
          </a:prstGeom>
          <a:noFill/>
          <a:ln/>
        </p:spPr>
        <p:txBody>
          <a:bodyPr wrap="square" lIns="0" tIns="0" rIns="0" bIns="0" rtlCol="0" anchor="ctr">
            <a:normAutofit/>
          </a:bodyPr>
          <a:lstStyle/>
          <a:p>
            <a:pPr marL="0" indent="0">
              <a:buNone/>
            </a:pPr>
            <a:r>
              <a:rPr lang="en-US" sz="2700" b="1" dirty="0">
                <a:solidFill>
                  <a:srgbClr val="102A43"/>
                </a:solidFill>
                <a:latin typeface="Aptos Display" pitchFamily="34" charset="0"/>
                <a:ea typeface="Aptos Display" pitchFamily="34" charset="-122"/>
                <a:cs typeface="Aptos Display" pitchFamily="34" charset="-120"/>
              </a:rPr>
              <a:t>What participants will build</a:t>
            </a:r>
            <a:endParaRPr lang="en-US" sz="2700" dirty="0"/>
          </a:p>
        </p:txBody>
      </p:sp>
      <p:sp>
        <p:nvSpPr>
          <p:cNvPr id="4" name="Text 2"/>
          <p:cNvSpPr/>
          <p:nvPr/>
        </p:nvSpPr>
        <p:spPr>
          <a:xfrm>
            <a:off x="658368" y="1078992"/>
            <a:ext cx="10698480" cy="310896"/>
          </a:xfrm>
          <a:prstGeom prst="rect">
            <a:avLst/>
          </a:prstGeom>
          <a:noFill/>
          <a:ln/>
        </p:spPr>
        <p:txBody>
          <a:bodyPr wrap="square" lIns="254" tIns="254" rIns="254" bIns="254" rtlCol="0" anchor="ctr">
            <a:normAutofit/>
          </a:bodyPr>
          <a:lstStyle/>
          <a:p>
            <a:pPr marL="0" indent="0">
              <a:buNone/>
            </a:pPr>
            <a:r>
              <a:rPr lang="en-US" sz="1250" dirty="0">
                <a:solidFill>
                  <a:srgbClr val="4F6474"/>
                </a:solidFill>
                <a:latin typeface="Aptos" pitchFamily="34" charset="0"/>
                <a:ea typeface="Aptos" pitchFamily="34" charset="-122"/>
                <a:cs typeface="Aptos" pitchFamily="34" charset="-120"/>
              </a:rPr>
              <a:t> A complete path from an API contract to a governed agent experience</a:t>
            </a:r>
            <a:endParaRPr lang="en-US" sz="1250" dirty="0"/>
          </a:p>
        </p:txBody>
      </p:sp>
      <p:sp>
        <p:nvSpPr>
          <p:cNvPr id="5" name="Shape 3"/>
          <p:cNvSpPr/>
          <p:nvPr/>
        </p:nvSpPr>
        <p:spPr>
          <a:xfrm>
            <a:off x="594360" y="1874520"/>
            <a:ext cx="2578608" cy="3044952"/>
          </a:xfrm>
          <a:prstGeom prst="roundRect">
            <a:avLst>
              <a:gd name="adj" fmla="val 2837"/>
            </a:avLst>
          </a:prstGeom>
          <a:solidFill>
            <a:srgbClr val="FFFFFF"/>
          </a:solidFill>
          <a:ln w="12700">
            <a:solidFill>
              <a:srgbClr val="DDE6EC"/>
            </a:solidFill>
            <a:prstDash val="solid"/>
          </a:ln>
          <a:effectLst>
            <a:outerShdw blurRad="25400" dist="50800" dir="2700000" algn="bl" rotWithShape="0">
              <a:srgbClr val="102A43">
                <a:alpha val="14000"/>
              </a:srgbClr>
            </a:outerShdw>
          </a:effectLst>
        </p:spPr>
        <p:txBody>
          <a:bodyPr/>
          <a:lstStyle/>
          <a:p>
            <a:endParaRPr lang="en-US"/>
          </a:p>
        </p:txBody>
      </p:sp>
      <p:sp>
        <p:nvSpPr>
          <p:cNvPr id="6" name="Shape 4"/>
          <p:cNvSpPr/>
          <p:nvPr/>
        </p:nvSpPr>
        <p:spPr>
          <a:xfrm>
            <a:off x="594360" y="1874520"/>
            <a:ext cx="73152" cy="3044952"/>
          </a:xfrm>
          <a:prstGeom prst="rect">
            <a:avLst/>
          </a:prstGeom>
          <a:solidFill>
            <a:srgbClr val="4F8EF7"/>
          </a:solidFill>
          <a:ln w="12700">
            <a:solidFill>
              <a:srgbClr val="4F8EF7"/>
            </a:solidFill>
            <a:prstDash val="solid"/>
          </a:ln>
        </p:spPr>
        <p:txBody>
          <a:bodyPr/>
          <a:lstStyle/>
          <a:p>
            <a:endParaRPr lang="en-US"/>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5528" y="2057400"/>
            <a:ext cx="347472" cy="347472"/>
          </a:xfrm>
          <a:prstGeom prst="rect">
            <a:avLst/>
          </a:prstGeom>
        </p:spPr>
      </p:pic>
      <p:sp>
        <p:nvSpPr>
          <p:cNvPr id="8" name="Text 5"/>
          <p:cNvSpPr/>
          <p:nvPr/>
        </p:nvSpPr>
        <p:spPr>
          <a:xfrm>
            <a:off x="1289304" y="2048256"/>
            <a:ext cx="1682496" cy="292608"/>
          </a:xfrm>
          <a:prstGeom prst="rect">
            <a:avLst/>
          </a:prstGeom>
          <a:noFill/>
          <a:ln/>
        </p:spPr>
        <p:txBody>
          <a:bodyPr wrap="square" lIns="0" tIns="0" rIns="0" bIns="0" rtlCol="0" anchor="ctr">
            <a:normAutofit/>
          </a:bodyPr>
          <a:lstStyle/>
          <a:p>
            <a:pPr marL="0" indent="0">
              <a:buNone/>
            </a:pPr>
            <a:r>
              <a:rPr lang="en-US" sz="1500" b="1" dirty="0">
                <a:solidFill>
                  <a:srgbClr val="102A43"/>
                </a:solidFill>
                <a:latin typeface="Aptos Display" pitchFamily="34" charset="0"/>
                <a:ea typeface="Aptos Display" pitchFamily="34" charset="-122"/>
                <a:cs typeface="Aptos Display" pitchFamily="34" charset="-120"/>
              </a:rPr>
              <a:t>Reliable API surface</a:t>
            </a:r>
            <a:endParaRPr lang="en-US" sz="1500" dirty="0"/>
          </a:p>
        </p:txBody>
      </p:sp>
      <p:sp>
        <p:nvSpPr>
          <p:cNvPr id="9" name="Text 6"/>
          <p:cNvSpPr/>
          <p:nvPr/>
        </p:nvSpPr>
        <p:spPr>
          <a:xfrm>
            <a:off x="813816" y="2496312"/>
            <a:ext cx="2139696" cy="2240280"/>
          </a:xfrm>
          <a:prstGeom prst="rect">
            <a:avLst/>
          </a:prstGeom>
          <a:noFill/>
          <a:ln/>
        </p:spPr>
        <p:txBody>
          <a:bodyPr wrap="square" lIns="0" tIns="0" rIns="0" bIns="0" rtlCol="0" anchor="t">
            <a:normAutofit/>
          </a:bodyPr>
          <a:lstStyle/>
          <a:p>
            <a:pPr marL="0" indent="0">
              <a:lnSpc>
                <a:spcPct val="95000"/>
              </a:lnSpc>
              <a:buNone/>
            </a:pPr>
            <a:r>
              <a:rPr lang="en-US" sz="1050" dirty="0">
                <a:solidFill>
                  <a:srgbClr val="4F6474"/>
                </a:solidFill>
                <a:latin typeface="Aptos" pitchFamily="34" charset="0"/>
                <a:ea typeface="Aptos" pitchFamily="34" charset="-122"/>
                <a:cs typeface="Aptos" pitchFamily="34" charset="-120"/>
              </a:rPr>
              <a:t>Import a synthetic OpenAPI contract and use APIM mock responses for a repeatable sandbox.</a:t>
            </a:r>
            <a:endParaRPr lang="en-US" sz="1050" dirty="0"/>
          </a:p>
        </p:txBody>
      </p:sp>
      <p:sp>
        <p:nvSpPr>
          <p:cNvPr id="10" name="Shape 7"/>
          <p:cNvSpPr/>
          <p:nvPr/>
        </p:nvSpPr>
        <p:spPr>
          <a:xfrm>
            <a:off x="3209544" y="3273552"/>
            <a:ext cx="201168" cy="0"/>
          </a:xfrm>
          <a:prstGeom prst="line">
            <a:avLst/>
          </a:prstGeom>
          <a:noFill/>
          <a:ln w="19050">
            <a:solidFill>
              <a:srgbClr val="CBD7E0"/>
            </a:solidFill>
            <a:prstDash val="solid"/>
            <a:tailEnd type="triangle"/>
          </a:ln>
        </p:spPr>
        <p:txBody>
          <a:bodyPr/>
          <a:lstStyle/>
          <a:p>
            <a:endParaRPr lang="en-US"/>
          </a:p>
        </p:txBody>
      </p:sp>
      <p:sp>
        <p:nvSpPr>
          <p:cNvPr id="11" name="Shape 8"/>
          <p:cNvSpPr/>
          <p:nvPr/>
        </p:nvSpPr>
        <p:spPr>
          <a:xfrm>
            <a:off x="3401568" y="1874520"/>
            <a:ext cx="2578608" cy="3044952"/>
          </a:xfrm>
          <a:prstGeom prst="roundRect">
            <a:avLst>
              <a:gd name="adj" fmla="val 2837"/>
            </a:avLst>
          </a:prstGeom>
          <a:solidFill>
            <a:srgbClr val="FFFFFF"/>
          </a:solidFill>
          <a:ln w="12700">
            <a:solidFill>
              <a:srgbClr val="DDE6EC"/>
            </a:solidFill>
            <a:prstDash val="solid"/>
          </a:ln>
          <a:effectLst>
            <a:outerShdw blurRad="25400" dist="50800" dir="2700000" algn="bl" rotWithShape="0">
              <a:srgbClr val="102A43">
                <a:alpha val="14000"/>
              </a:srgbClr>
            </a:outerShdw>
          </a:effectLst>
        </p:spPr>
        <p:txBody>
          <a:bodyPr/>
          <a:lstStyle/>
          <a:p>
            <a:endParaRPr lang="en-US"/>
          </a:p>
        </p:txBody>
      </p:sp>
      <p:sp>
        <p:nvSpPr>
          <p:cNvPr id="12" name="Shape 9"/>
          <p:cNvSpPr/>
          <p:nvPr/>
        </p:nvSpPr>
        <p:spPr>
          <a:xfrm>
            <a:off x="3401568" y="1874520"/>
            <a:ext cx="73152" cy="3044952"/>
          </a:xfrm>
          <a:prstGeom prst="rect">
            <a:avLst/>
          </a:prstGeom>
          <a:solidFill>
            <a:srgbClr val="0F8B8D"/>
          </a:solidFill>
          <a:ln w="12700">
            <a:solidFill>
              <a:srgbClr val="0F8B8D"/>
            </a:solidFill>
            <a:prstDash val="solid"/>
          </a:ln>
        </p:spPr>
        <p:txBody>
          <a:bodyPr/>
          <a:lstStyle/>
          <a:p>
            <a:endParaRPr lang="en-US"/>
          </a:p>
        </p:txBody>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02736" y="2057400"/>
            <a:ext cx="347472" cy="347472"/>
          </a:xfrm>
          <a:prstGeom prst="rect">
            <a:avLst/>
          </a:prstGeom>
        </p:spPr>
      </p:pic>
      <p:sp>
        <p:nvSpPr>
          <p:cNvPr id="14" name="Text 10"/>
          <p:cNvSpPr/>
          <p:nvPr/>
        </p:nvSpPr>
        <p:spPr>
          <a:xfrm>
            <a:off x="4096512" y="2048256"/>
            <a:ext cx="1682496" cy="292608"/>
          </a:xfrm>
          <a:prstGeom prst="rect">
            <a:avLst/>
          </a:prstGeom>
          <a:noFill/>
          <a:ln/>
        </p:spPr>
        <p:txBody>
          <a:bodyPr wrap="square" lIns="0" tIns="0" rIns="0" bIns="0" rtlCol="0" anchor="ctr">
            <a:normAutofit/>
          </a:bodyPr>
          <a:lstStyle/>
          <a:p>
            <a:pPr marL="0" indent="0">
              <a:buNone/>
            </a:pPr>
            <a:r>
              <a:rPr lang="en-US" sz="1500" b="1" dirty="0">
                <a:solidFill>
                  <a:srgbClr val="102A43"/>
                </a:solidFill>
                <a:latin typeface="Aptos Display" pitchFamily="34" charset="0"/>
                <a:ea typeface="Aptos Display" pitchFamily="34" charset="-122"/>
                <a:cs typeface="Aptos Display" pitchFamily="34" charset="-120"/>
              </a:rPr>
              <a:t>MCP tool layer</a:t>
            </a:r>
            <a:endParaRPr lang="en-US" sz="1500" dirty="0"/>
          </a:p>
        </p:txBody>
      </p:sp>
      <p:sp>
        <p:nvSpPr>
          <p:cNvPr id="15" name="Text 11"/>
          <p:cNvSpPr/>
          <p:nvPr/>
        </p:nvSpPr>
        <p:spPr>
          <a:xfrm>
            <a:off x="3621024" y="2496312"/>
            <a:ext cx="2139696" cy="2240280"/>
          </a:xfrm>
          <a:prstGeom prst="rect">
            <a:avLst/>
          </a:prstGeom>
          <a:noFill/>
          <a:ln/>
        </p:spPr>
        <p:txBody>
          <a:bodyPr wrap="square" lIns="0" tIns="0" rIns="0" bIns="0" rtlCol="0" anchor="t">
            <a:normAutofit/>
          </a:bodyPr>
          <a:lstStyle/>
          <a:p>
            <a:pPr marL="0" indent="0">
              <a:lnSpc>
                <a:spcPct val="95000"/>
              </a:lnSpc>
              <a:buNone/>
            </a:pPr>
            <a:r>
              <a:rPr lang="en-US" sz="1050" dirty="0">
                <a:solidFill>
                  <a:srgbClr val="4F6474"/>
                </a:solidFill>
                <a:latin typeface="Aptos" pitchFamily="34" charset="0"/>
                <a:ea typeface="Aptos" pitchFamily="34" charset="-122"/>
                <a:cs typeface="Aptos" pitchFamily="34" charset="-120"/>
              </a:rPr>
              <a:t>Expose selected operations as MCP tools and validate them before an agent enters the flow.</a:t>
            </a:r>
            <a:endParaRPr lang="en-US" sz="1050" dirty="0"/>
          </a:p>
        </p:txBody>
      </p:sp>
      <p:sp>
        <p:nvSpPr>
          <p:cNvPr id="16" name="Shape 12"/>
          <p:cNvSpPr/>
          <p:nvPr/>
        </p:nvSpPr>
        <p:spPr>
          <a:xfrm>
            <a:off x="6016752" y="3273552"/>
            <a:ext cx="201168" cy="0"/>
          </a:xfrm>
          <a:prstGeom prst="line">
            <a:avLst/>
          </a:prstGeom>
          <a:noFill/>
          <a:ln w="19050">
            <a:solidFill>
              <a:srgbClr val="CBD7E0"/>
            </a:solidFill>
            <a:prstDash val="solid"/>
            <a:tailEnd type="triangle"/>
          </a:ln>
        </p:spPr>
        <p:txBody>
          <a:bodyPr/>
          <a:lstStyle/>
          <a:p>
            <a:endParaRPr lang="en-US"/>
          </a:p>
        </p:txBody>
      </p:sp>
      <p:sp>
        <p:nvSpPr>
          <p:cNvPr id="17" name="Shape 13"/>
          <p:cNvSpPr/>
          <p:nvPr/>
        </p:nvSpPr>
        <p:spPr>
          <a:xfrm>
            <a:off x="6208776" y="1874520"/>
            <a:ext cx="2578608" cy="3044952"/>
          </a:xfrm>
          <a:prstGeom prst="roundRect">
            <a:avLst>
              <a:gd name="adj" fmla="val 2837"/>
            </a:avLst>
          </a:prstGeom>
          <a:solidFill>
            <a:srgbClr val="FFFFFF"/>
          </a:solidFill>
          <a:ln w="12700">
            <a:solidFill>
              <a:srgbClr val="DDE6EC"/>
            </a:solidFill>
            <a:prstDash val="solid"/>
          </a:ln>
          <a:effectLst>
            <a:outerShdw blurRad="25400" dist="50800" dir="2700000" algn="bl" rotWithShape="0">
              <a:srgbClr val="102A43">
                <a:alpha val="14000"/>
              </a:srgbClr>
            </a:outerShdw>
          </a:effectLst>
        </p:spPr>
        <p:txBody>
          <a:bodyPr/>
          <a:lstStyle/>
          <a:p>
            <a:endParaRPr lang="en-US"/>
          </a:p>
        </p:txBody>
      </p:sp>
      <p:sp>
        <p:nvSpPr>
          <p:cNvPr id="18" name="Shape 14"/>
          <p:cNvSpPr/>
          <p:nvPr/>
        </p:nvSpPr>
        <p:spPr>
          <a:xfrm>
            <a:off x="6208776" y="1874520"/>
            <a:ext cx="73152" cy="3044952"/>
          </a:xfrm>
          <a:prstGeom prst="rect">
            <a:avLst/>
          </a:prstGeom>
          <a:solidFill>
            <a:srgbClr val="775DA6"/>
          </a:solidFill>
          <a:ln w="12700">
            <a:solidFill>
              <a:srgbClr val="775DA6"/>
            </a:solidFill>
            <a:prstDash val="solid"/>
          </a:ln>
        </p:spPr>
        <p:txBody>
          <a:bodyPr/>
          <a:lstStyle/>
          <a:p>
            <a:endParaRPr lang="en-US"/>
          </a:p>
        </p:txBody>
      </p:sp>
      <p:pic>
        <p:nvPicPr>
          <p:cNvPr id="1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09944" y="2057400"/>
            <a:ext cx="347472" cy="347472"/>
          </a:xfrm>
          <a:prstGeom prst="rect">
            <a:avLst/>
          </a:prstGeom>
        </p:spPr>
      </p:pic>
      <p:sp>
        <p:nvSpPr>
          <p:cNvPr id="20" name="Text 15"/>
          <p:cNvSpPr/>
          <p:nvPr/>
        </p:nvSpPr>
        <p:spPr>
          <a:xfrm>
            <a:off x="6903720" y="2048256"/>
            <a:ext cx="1682496" cy="292608"/>
          </a:xfrm>
          <a:prstGeom prst="rect">
            <a:avLst/>
          </a:prstGeom>
          <a:noFill/>
          <a:ln/>
        </p:spPr>
        <p:txBody>
          <a:bodyPr wrap="square" lIns="0" tIns="0" rIns="0" bIns="0" rtlCol="0" anchor="ctr">
            <a:normAutofit/>
          </a:bodyPr>
          <a:lstStyle/>
          <a:p>
            <a:pPr marL="0" indent="0">
              <a:buNone/>
            </a:pPr>
            <a:r>
              <a:rPr lang="en-US" sz="1500" b="1" dirty="0">
                <a:solidFill>
                  <a:srgbClr val="102A43"/>
                </a:solidFill>
                <a:latin typeface="Aptos Display" pitchFamily="34" charset="0"/>
                <a:ea typeface="Aptos Display" pitchFamily="34" charset="-122"/>
                <a:cs typeface="Aptos Display" pitchFamily="34" charset="-120"/>
              </a:rPr>
              <a:t>Agent experiences</a:t>
            </a:r>
            <a:endParaRPr lang="en-US" sz="1500" dirty="0"/>
          </a:p>
        </p:txBody>
      </p:sp>
      <p:sp>
        <p:nvSpPr>
          <p:cNvPr id="21" name="Text 16"/>
          <p:cNvSpPr/>
          <p:nvPr/>
        </p:nvSpPr>
        <p:spPr>
          <a:xfrm>
            <a:off x="6428232" y="2496312"/>
            <a:ext cx="2139696" cy="2240280"/>
          </a:xfrm>
          <a:prstGeom prst="rect">
            <a:avLst/>
          </a:prstGeom>
          <a:noFill/>
          <a:ln/>
        </p:spPr>
        <p:txBody>
          <a:bodyPr wrap="square" lIns="0" tIns="0" rIns="0" bIns="0" rtlCol="0" anchor="t">
            <a:normAutofit/>
          </a:bodyPr>
          <a:lstStyle/>
          <a:p>
            <a:pPr marL="0" indent="0">
              <a:lnSpc>
                <a:spcPct val="95000"/>
              </a:lnSpc>
              <a:buNone/>
            </a:pPr>
            <a:r>
              <a:rPr lang="en-US" sz="1050" dirty="0">
                <a:solidFill>
                  <a:srgbClr val="4F6474"/>
                </a:solidFill>
                <a:latin typeface="Aptos" pitchFamily="34" charset="0"/>
                <a:ea typeface="Aptos" pitchFamily="34" charset="-122"/>
                <a:cs typeface="Aptos" pitchFamily="34" charset="-120"/>
              </a:rPr>
              <a:t>Connect a .NET Foundry agent and compare the same tools in Copilot Studio.</a:t>
            </a:r>
            <a:endParaRPr lang="en-US" sz="1050" dirty="0"/>
          </a:p>
        </p:txBody>
      </p:sp>
      <p:sp>
        <p:nvSpPr>
          <p:cNvPr id="22" name="Shape 17"/>
          <p:cNvSpPr/>
          <p:nvPr/>
        </p:nvSpPr>
        <p:spPr>
          <a:xfrm>
            <a:off x="8823960" y="3273552"/>
            <a:ext cx="201168" cy="0"/>
          </a:xfrm>
          <a:prstGeom prst="line">
            <a:avLst/>
          </a:prstGeom>
          <a:noFill/>
          <a:ln w="19050">
            <a:solidFill>
              <a:srgbClr val="CBD7E0"/>
            </a:solidFill>
            <a:prstDash val="solid"/>
            <a:tailEnd type="triangle"/>
          </a:ln>
        </p:spPr>
        <p:txBody>
          <a:bodyPr/>
          <a:lstStyle/>
          <a:p>
            <a:endParaRPr lang="en-US"/>
          </a:p>
        </p:txBody>
      </p:sp>
      <p:sp>
        <p:nvSpPr>
          <p:cNvPr id="23" name="Shape 18"/>
          <p:cNvSpPr/>
          <p:nvPr/>
        </p:nvSpPr>
        <p:spPr>
          <a:xfrm>
            <a:off x="9015984" y="1874520"/>
            <a:ext cx="2578608" cy="3044952"/>
          </a:xfrm>
          <a:prstGeom prst="roundRect">
            <a:avLst>
              <a:gd name="adj" fmla="val 2837"/>
            </a:avLst>
          </a:prstGeom>
          <a:solidFill>
            <a:srgbClr val="FFFFFF"/>
          </a:solidFill>
          <a:ln w="12700">
            <a:solidFill>
              <a:srgbClr val="DDE6EC"/>
            </a:solidFill>
            <a:prstDash val="solid"/>
          </a:ln>
          <a:effectLst>
            <a:outerShdw blurRad="25400" dist="50800" dir="2700000" algn="bl" rotWithShape="0">
              <a:srgbClr val="102A43">
                <a:alpha val="14000"/>
              </a:srgbClr>
            </a:outerShdw>
          </a:effectLst>
        </p:spPr>
        <p:txBody>
          <a:bodyPr/>
          <a:lstStyle/>
          <a:p>
            <a:endParaRPr lang="en-US"/>
          </a:p>
        </p:txBody>
      </p:sp>
      <p:sp>
        <p:nvSpPr>
          <p:cNvPr id="24" name="Shape 19"/>
          <p:cNvSpPr/>
          <p:nvPr/>
        </p:nvSpPr>
        <p:spPr>
          <a:xfrm>
            <a:off x="9015984" y="1874520"/>
            <a:ext cx="73152" cy="3044952"/>
          </a:xfrm>
          <a:prstGeom prst="rect">
            <a:avLst/>
          </a:prstGeom>
          <a:solidFill>
            <a:srgbClr val="FF7A59"/>
          </a:solidFill>
          <a:ln w="12700">
            <a:solidFill>
              <a:srgbClr val="FF7A59"/>
            </a:solidFill>
            <a:prstDash val="solid"/>
          </a:ln>
        </p:spPr>
        <p:txBody>
          <a:bodyPr/>
          <a:lstStyle/>
          <a:p>
            <a:endParaRPr lang="en-US"/>
          </a:p>
        </p:txBody>
      </p:sp>
      <p:pic>
        <p:nvPicPr>
          <p:cNvPr id="2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17152" y="2057400"/>
            <a:ext cx="347472" cy="347472"/>
          </a:xfrm>
          <a:prstGeom prst="rect">
            <a:avLst/>
          </a:prstGeom>
        </p:spPr>
      </p:pic>
      <p:sp>
        <p:nvSpPr>
          <p:cNvPr id="26" name="Text 20"/>
          <p:cNvSpPr/>
          <p:nvPr/>
        </p:nvSpPr>
        <p:spPr>
          <a:xfrm>
            <a:off x="9710928" y="2048256"/>
            <a:ext cx="1682496" cy="292608"/>
          </a:xfrm>
          <a:prstGeom prst="rect">
            <a:avLst/>
          </a:prstGeom>
          <a:noFill/>
          <a:ln/>
        </p:spPr>
        <p:txBody>
          <a:bodyPr wrap="square" lIns="0" tIns="0" rIns="0" bIns="0" rtlCol="0" anchor="ctr">
            <a:normAutofit/>
          </a:bodyPr>
          <a:lstStyle/>
          <a:p>
            <a:pPr marL="0" indent="0">
              <a:buNone/>
            </a:pPr>
            <a:r>
              <a:rPr lang="en-US" sz="1500" b="1" dirty="0">
                <a:solidFill>
                  <a:srgbClr val="102A43"/>
                </a:solidFill>
                <a:latin typeface="Aptos Display" pitchFamily="34" charset="0"/>
                <a:ea typeface="Aptos Display" pitchFamily="34" charset="-122"/>
                <a:cs typeface="Aptos Display" pitchFamily="34" charset="-120"/>
              </a:rPr>
              <a:t>Production controls</a:t>
            </a:r>
            <a:endParaRPr lang="en-US" sz="1500" dirty="0"/>
          </a:p>
        </p:txBody>
      </p:sp>
      <p:sp>
        <p:nvSpPr>
          <p:cNvPr id="27" name="Text 21"/>
          <p:cNvSpPr/>
          <p:nvPr/>
        </p:nvSpPr>
        <p:spPr>
          <a:xfrm>
            <a:off x="9235440" y="2496312"/>
            <a:ext cx="2139696" cy="2240280"/>
          </a:xfrm>
          <a:prstGeom prst="rect">
            <a:avLst/>
          </a:prstGeom>
          <a:noFill/>
          <a:ln/>
        </p:spPr>
        <p:txBody>
          <a:bodyPr wrap="square" lIns="0" tIns="0" rIns="0" bIns="0" rtlCol="0" anchor="t">
            <a:normAutofit/>
          </a:bodyPr>
          <a:lstStyle/>
          <a:p>
            <a:pPr marL="0" indent="0">
              <a:lnSpc>
                <a:spcPct val="95000"/>
              </a:lnSpc>
              <a:buNone/>
            </a:pPr>
            <a:r>
              <a:rPr lang="en-US" sz="1050" dirty="0">
                <a:solidFill>
                  <a:srgbClr val="4F6474"/>
                </a:solidFill>
                <a:latin typeface="Aptos" pitchFamily="34" charset="0"/>
                <a:ea typeface="Aptos" pitchFamily="34" charset="-122"/>
                <a:cs typeface="Aptos" pitchFamily="34" charset="-120"/>
              </a:rPr>
              <a:t>Apply identity, approvals, policies, monitoring, and ownership boundaries.</a:t>
            </a:r>
            <a:endParaRPr lang="en-US" sz="1050" dirty="0"/>
          </a:p>
        </p:txBody>
      </p:sp>
      <p:sp>
        <p:nvSpPr>
          <p:cNvPr id="28" name="Shape 22"/>
          <p:cNvSpPr/>
          <p:nvPr/>
        </p:nvSpPr>
        <p:spPr>
          <a:xfrm>
            <a:off x="2011680" y="5230368"/>
            <a:ext cx="8156448" cy="704088"/>
          </a:xfrm>
          <a:prstGeom prst="roundRect">
            <a:avLst/>
          </a:prstGeom>
          <a:solidFill>
            <a:srgbClr val="102A43"/>
          </a:solidFill>
          <a:ln w="12700">
            <a:solidFill>
              <a:srgbClr val="102A43"/>
            </a:solidFill>
            <a:prstDash val="solid"/>
          </a:ln>
        </p:spPr>
        <p:txBody>
          <a:bodyPr/>
          <a:lstStyle/>
          <a:p>
            <a:endParaRPr lang="en-US"/>
          </a:p>
        </p:txBody>
      </p:sp>
      <p:pic>
        <p:nvPicPr>
          <p:cNvPr id="29"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267712" y="5404104"/>
            <a:ext cx="310896" cy="310896"/>
          </a:xfrm>
          <a:prstGeom prst="rect">
            <a:avLst/>
          </a:prstGeom>
        </p:spPr>
      </p:pic>
      <p:sp>
        <p:nvSpPr>
          <p:cNvPr id="30" name="Text 23"/>
          <p:cNvSpPr/>
          <p:nvPr/>
        </p:nvSpPr>
        <p:spPr>
          <a:xfrm>
            <a:off x="2697480" y="5367528"/>
            <a:ext cx="7178040" cy="320040"/>
          </a:xfrm>
          <a:prstGeom prst="rect">
            <a:avLst/>
          </a:prstGeom>
          <a:noFill/>
          <a:ln/>
        </p:spPr>
        <p:txBody>
          <a:bodyPr wrap="square" lIns="0" tIns="0" rIns="0" bIns="0" rtlCol="0" anchor="ctr">
            <a:normAutofit fontScale="92500" lnSpcReduction="10000"/>
          </a:bodyPr>
          <a:lstStyle/>
          <a:p>
            <a:pPr marL="0" indent="0">
              <a:buNone/>
            </a:pPr>
            <a:r>
              <a:rPr lang="en-US" sz="1200" b="1" dirty="0">
                <a:solidFill>
                  <a:srgbClr val="FFFFFF"/>
                </a:solidFill>
                <a:latin typeface="Aptos" pitchFamily="34" charset="0"/>
                <a:ea typeface="Aptos" pitchFamily="34" charset="-122"/>
                <a:cs typeface="Aptos" pitchFamily="34" charset="-120"/>
              </a:rPr>
              <a:t>Success = the final prompt is grounded in the API, protected by clear approval boundaries, and observable end to end.</a:t>
            </a:r>
            <a:endParaRPr lang="en-US" sz="1200" dirty="0"/>
          </a:p>
        </p:txBody>
      </p:sp>
      <p:sp>
        <p:nvSpPr>
          <p:cNvPr id="31" name="Text 24"/>
          <p:cNvSpPr/>
          <p:nvPr/>
        </p:nvSpPr>
        <p:spPr>
          <a:xfrm>
            <a:off x="566928" y="6528816"/>
            <a:ext cx="4389120" cy="146304"/>
          </a:xfrm>
          <a:prstGeom prst="rect">
            <a:avLst/>
          </a:prstGeom>
          <a:noFill/>
          <a:ln/>
        </p:spPr>
        <p:txBody>
          <a:bodyPr wrap="square" lIns="0" tIns="0" rIns="0" bIns="0" rtlCol="0" anchor="ctr"/>
          <a:lstStyle/>
          <a:p>
            <a:pPr marL="0" indent="0">
              <a:buNone/>
            </a:pPr>
            <a:r>
              <a:rPr lang="en-US" sz="750" dirty="0">
                <a:solidFill>
                  <a:srgbClr val="748494"/>
                </a:solidFill>
                <a:latin typeface="Aptos" pitchFamily="34" charset="0"/>
                <a:ea typeface="Aptos" pitchFamily="34" charset="-122"/>
                <a:cs typeface="Aptos" pitchFamily="34" charset="-120"/>
              </a:rPr>
              <a:t>Outcome first: build, validate, govern</a:t>
            </a:r>
            <a:endParaRPr lang="en-US" sz="750" dirty="0"/>
          </a:p>
        </p:txBody>
      </p:sp>
      <p:sp>
        <p:nvSpPr>
          <p:cNvPr id="32" name="Slide Number Placeholder 0"/>
          <p:cNvSpPr>
            <a:spLocks noGrp="1"/>
          </p:cNvSpPr>
          <p:nvPr>
            <p:ph type="sldNum" sz="quarter" idx="4294967295"/>
          </p:nvPr>
        </p:nvSpPr>
        <p:spPr>
          <a:xfrm>
            <a:off x="11109960" y="6510528"/>
            <a:ext cx="548640"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748494"/>
                </a:solidFill>
                <a:latin typeface="Aptos"/>
                <a:ea typeface="Aptos"/>
                <a:cs typeface="Aptos"/>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5" name="REST Telemetry Arrow">
            <a:extLst>
              <a:ext uri="{FF2B5EF4-FFF2-40B4-BE49-F238E27FC236}">
                <a16:creationId xmlns:a16="http://schemas.microsoft.com/office/drawing/2014/main" id="{7E4B0AB1-5054-6D6B-7006-3BEE6C8341C0}"/>
              </a:ext>
            </a:extLst>
          </p:cNvPr>
          <p:cNvSpPr/>
          <p:nvPr/>
        </p:nvSpPr>
        <p:spPr>
          <a:xfrm>
            <a:off x="8206740" y="4445000"/>
            <a:ext cx="0" cy="558800"/>
          </a:xfrm>
          <a:prstGeom prst="line">
            <a:avLst/>
          </a:prstGeom>
          <a:noFill/>
          <a:ln w="22225">
            <a:solidFill>
              <a:srgbClr val="5BD6C5"/>
            </a:solidFill>
            <a:prstDash val="solid"/>
            <a:headEnd type="none"/>
            <a:tailEnd type="arrow"/>
          </a:ln>
        </p:spPr>
        <p:txBody>
          <a:bodyPr/>
          <a:lstStyle/>
          <a:p>
            <a:endParaRPr lang="en-US"/>
          </a:p>
        </p:txBody>
      </p:sp>
      <p:sp>
        <p:nvSpPr>
          <p:cNvPr id="38" name="APIM Telemetry Arrow"/>
          <p:cNvSpPr/>
          <p:nvPr/>
        </p:nvSpPr>
        <p:spPr>
          <a:xfrm>
            <a:off x="5857240" y="4445000"/>
            <a:ext cx="0" cy="558800"/>
          </a:xfrm>
          <a:prstGeom prst="line">
            <a:avLst/>
          </a:prstGeom>
          <a:noFill/>
          <a:ln w="22225">
            <a:solidFill>
              <a:srgbClr val="5BD6C5"/>
            </a:solidFill>
            <a:prstDash val="solid"/>
            <a:headEnd type="none"/>
            <a:tailEnd type="arrow"/>
          </a:ln>
        </p:spPr>
        <p:txBody>
          <a:bodyPr/>
          <a:lstStyle/>
          <a:p>
            <a:endParaRPr lang="en-US"/>
          </a:p>
        </p:txBody>
      </p:sp>
      <p:cxnSp>
        <p:nvCxnSpPr>
          <p:cNvPr id="46" name="Agent Telemetry Arrow">
            <a:extLst>
              <a:ext uri="{FF2B5EF4-FFF2-40B4-BE49-F238E27FC236}">
                <a16:creationId xmlns:a16="http://schemas.microsoft.com/office/drawing/2014/main" id="{FA9AC0A2-7565-7D1E-0A0D-62DBEE29D9D4}"/>
              </a:ext>
            </a:extLst>
          </p:cNvPr>
          <p:cNvCxnSpPr/>
          <p:nvPr/>
        </p:nvCxnSpPr>
        <p:spPr>
          <a:xfrm>
            <a:off x="3483610" y="4445000"/>
            <a:ext cx="0" cy="558800"/>
          </a:xfrm>
          <a:prstGeom prst="line">
            <a:avLst/>
          </a:prstGeom>
          <a:ln w="22225">
            <a:solidFill>
              <a:srgbClr val="775DA6"/>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24" name="APIM REST Connector">
            <a:extLst>
              <a:ext uri="{FF2B5EF4-FFF2-40B4-BE49-F238E27FC236}">
                <a16:creationId xmlns:a16="http://schemas.microsoft.com/office/drawing/2014/main" id="{545BE33A-AB25-9E5F-0E83-963B511BE5DF}"/>
              </a:ext>
            </a:extLst>
          </p:cNvPr>
          <p:cNvCxnSpPr/>
          <p:nvPr/>
        </p:nvCxnSpPr>
        <p:spPr>
          <a:xfrm>
            <a:off x="8206740" y="2641600"/>
            <a:ext cx="0" cy="203200"/>
          </a:xfrm>
          <a:prstGeom prst="line">
            <a:avLst/>
          </a:prstGeom>
          <a:ln w="15240">
            <a:solidFill>
              <a:srgbClr val="775DA6"/>
            </a:solidFill>
            <a:prstDash val="dash"/>
            <a:headEnd type="none"/>
            <a:tailEnd type="arrow"/>
          </a:ln>
        </p:spPr>
        <p:style>
          <a:lnRef idx="1">
            <a:schemeClr val="accent1"/>
          </a:lnRef>
          <a:fillRef idx="0">
            <a:schemeClr val="accent1"/>
          </a:fillRef>
          <a:effectRef idx="0">
            <a:schemeClr val="accent1"/>
          </a:effectRef>
          <a:fontRef idx="minor">
            <a:schemeClr val="tx1"/>
          </a:fontRef>
        </p:style>
      </p:cxnSp>
      <p:cxnSp>
        <p:nvCxnSpPr>
          <p:cNvPr id="61" name="APIM Control Plane Connector">
            <a:extLst>
              <a:ext uri="{FF2B5EF4-FFF2-40B4-BE49-F238E27FC236}">
                <a16:creationId xmlns:a16="http://schemas.microsoft.com/office/drawing/2014/main" id="{BE07AF09-DCC1-5A6D-64B0-E7024656B9E7}"/>
              </a:ext>
            </a:extLst>
          </p:cNvPr>
          <p:cNvCxnSpPr/>
          <p:nvPr/>
        </p:nvCxnSpPr>
        <p:spPr>
          <a:xfrm>
            <a:off x="5857240" y="2641600"/>
            <a:ext cx="0" cy="203200"/>
          </a:xfrm>
          <a:prstGeom prst="line">
            <a:avLst/>
          </a:prstGeom>
          <a:ln w="15240">
            <a:solidFill>
              <a:srgbClr val="775DA6"/>
            </a:solidFill>
            <a:prstDash val="dash"/>
            <a:headEnd type="none"/>
            <a:tailEnd type="arrow"/>
          </a:ln>
        </p:spPr>
        <p:style>
          <a:lnRef idx="1">
            <a:schemeClr val="accent1"/>
          </a:lnRef>
          <a:fillRef idx="0">
            <a:schemeClr val="accent1"/>
          </a:fillRef>
          <a:effectRef idx="0">
            <a:schemeClr val="accent1"/>
          </a:effectRef>
          <a:fontRef idx="minor">
            <a:schemeClr val="tx1"/>
          </a:fontRef>
        </p:style>
      </p:cxnSp>
      <p:cxnSp>
        <p:nvCxnSpPr>
          <p:cNvPr id="58" name="Agent 365 Connector">
            <a:extLst>
              <a:ext uri="{FF2B5EF4-FFF2-40B4-BE49-F238E27FC236}">
                <a16:creationId xmlns:a16="http://schemas.microsoft.com/office/drawing/2014/main" id="{D736F929-2089-7C86-D8F3-2E549E293323}"/>
              </a:ext>
            </a:extLst>
          </p:cNvPr>
          <p:cNvCxnSpPr/>
          <p:nvPr/>
        </p:nvCxnSpPr>
        <p:spPr>
          <a:xfrm>
            <a:off x="3483610" y="1981200"/>
            <a:ext cx="0" cy="863600"/>
          </a:xfrm>
          <a:prstGeom prst="line">
            <a:avLst/>
          </a:prstGeom>
          <a:ln w="15240">
            <a:solidFill>
              <a:srgbClr val="775DA6"/>
            </a:solidFill>
            <a:prstDash val="dash"/>
            <a:headEnd type="none"/>
            <a:tailEnd type="arrow"/>
          </a:ln>
        </p:spPr>
        <p:style>
          <a:lnRef idx="1">
            <a:schemeClr val="accent1"/>
          </a:lnRef>
          <a:fillRef idx="0">
            <a:schemeClr val="accent1"/>
          </a:fillRef>
          <a:effectRef idx="0">
            <a:schemeClr val="accent1"/>
          </a:effectRef>
          <a:fontRef idx="minor">
            <a:schemeClr val="tx1"/>
          </a:fontRef>
        </p:style>
      </p:cxnSp>
      <p:cxnSp>
        <p:nvCxnSpPr>
          <p:cNvPr id="18" name="Agent 365 APIM Connector">
            <a:extLst>
              <a:ext uri="{FF2B5EF4-FFF2-40B4-BE49-F238E27FC236}">
                <a16:creationId xmlns:a16="http://schemas.microsoft.com/office/drawing/2014/main" id="{C98DA599-5661-3FAD-E212-F71F7E71723C}"/>
              </a:ext>
            </a:extLst>
          </p:cNvPr>
          <p:cNvCxnSpPr/>
          <p:nvPr/>
        </p:nvCxnSpPr>
        <p:spPr>
          <a:xfrm>
            <a:off x="5857240" y="1981200"/>
            <a:ext cx="0" cy="203200"/>
          </a:xfrm>
          <a:prstGeom prst="line">
            <a:avLst/>
          </a:prstGeom>
          <a:ln w="15240">
            <a:solidFill>
              <a:srgbClr val="775DA6"/>
            </a:solidFill>
            <a:prstDash val="dash"/>
            <a:headEnd type="none"/>
            <a:tailEnd type="arrow"/>
          </a:ln>
        </p:spPr>
        <p:style>
          <a:lnRef idx="1">
            <a:schemeClr val="accent1"/>
          </a:lnRef>
          <a:fillRef idx="0">
            <a:schemeClr val="accent1"/>
          </a:fillRef>
          <a:effectRef idx="0">
            <a:schemeClr val="accent1"/>
          </a:effectRef>
          <a:fontRef idx="minor">
            <a:schemeClr val="tx1"/>
          </a:fontRef>
        </p:style>
      </p:cxnSp>
      <p:sp>
        <p:nvSpPr>
          <p:cNvPr id="2" name="Text 0"/>
          <p:cNvSpPr/>
          <p:nvPr/>
        </p:nvSpPr>
        <p:spPr>
          <a:xfrm>
            <a:off x="640080" y="292608"/>
            <a:ext cx="2926080" cy="201168"/>
          </a:xfrm>
          <a:prstGeom prst="rect">
            <a:avLst/>
          </a:prstGeom>
          <a:noFill/>
          <a:ln/>
        </p:spPr>
        <p:txBody>
          <a:bodyPr wrap="square" lIns="254" tIns="254" rIns="254" bIns="254" rtlCol="0" anchor="ctr"/>
          <a:lstStyle/>
          <a:p>
            <a:pPr marL="0" indent="0">
              <a:buNone/>
            </a:pPr>
            <a:r>
              <a:rPr lang="en-US" sz="900" b="1" kern="0" spc="140" dirty="0">
                <a:solidFill>
                  <a:srgbClr val="0F8B8D"/>
                </a:solidFill>
                <a:latin typeface="Aptos" pitchFamily="34" charset="0"/>
                <a:ea typeface="Aptos" pitchFamily="34" charset="-122"/>
                <a:cs typeface="Aptos" pitchFamily="34" charset="-120"/>
              </a:rPr>
              <a:t> REFERENCE ARCHITECTURE</a:t>
            </a:r>
            <a:endParaRPr lang="en-US" sz="900" dirty="0"/>
          </a:p>
        </p:txBody>
      </p:sp>
      <p:sp>
        <p:nvSpPr>
          <p:cNvPr id="3" name="Text 1"/>
          <p:cNvSpPr/>
          <p:nvPr/>
        </p:nvSpPr>
        <p:spPr>
          <a:xfrm>
            <a:off x="640080" y="548640"/>
            <a:ext cx="10835640" cy="502920"/>
          </a:xfrm>
          <a:prstGeom prst="rect">
            <a:avLst/>
          </a:prstGeom>
          <a:noFill/>
          <a:ln/>
        </p:spPr>
        <p:txBody>
          <a:bodyPr wrap="square" lIns="0" tIns="0" rIns="0" bIns="0" rtlCol="0" anchor="ctr">
            <a:normAutofit/>
          </a:bodyPr>
          <a:lstStyle/>
          <a:p>
            <a:pPr marL="0" indent="0">
              <a:buNone/>
            </a:pPr>
            <a:r>
              <a:rPr lang="en-US" sz="2700" b="1" dirty="0">
                <a:solidFill>
                  <a:srgbClr val="102A43"/>
                </a:solidFill>
                <a:latin typeface="Aptos Display" pitchFamily="34" charset="0"/>
                <a:ea typeface="Aptos Display" pitchFamily="34" charset="-122"/>
                <a:cs typeface="Aptos Display" pitchFamily="34" charset="-120"/>
              </a:rPr>
              <a:t>One governed tool layer, two agent paths</a:t>
            </a:r>
            <a:endParaRPr lang="en-US" sz="2700" dirty="0"/>
          </a:p>
        </p:txBody>
      </p:sp>
      <p:sp>
        <p:nvSpPr>
          <p:cNvPr id="4" name="Text 2"/>
          <p:cNvSpPr/>
          <p:nvPr/>
        </p:nvSpPr>
        <p:spPr>
          <a:xfrm>
            <a:off x="658368" y="1078992"/>
            <a:ext cx="10698480" cy="310896"/>
          </a:xfrm>
          <a:prstGeom prst="rect">
            <a:avLst/>
          </a:prstGeom>
          <a:noFill/>
          <a:ln/>
        </p:spPr>
        <p:txBody>
          <a:bodyPr wrap="square" lIns="254" tIns="254" rIns="254" bIns="254" rtlCol="0" anchor="ctr">
            <a:normAutofit/>
          </a:bodyPr>
          <a:lstStyle/>
          <a:p>
            <a:pPr marL="0" indent="0">
              <a:buNone/>
            </a:pPr>
            <a:r>
              <a:rPr lang="en-US" sz="1250" dirty="0">
                <a:solidFill>
                  <a:srgbClr val="4F6474"/>
                </a:solidFill>
                <a:latin typeface="Aptos" pitchFamily="34" charset="0"/>
                <a:ea typeface="Aptos" pitchFamily="34" charset="-122"/>
                <a:cs typeface="Aptos" pitchFamily="34" charset="-120"/>
              </a:rPr>
              <a:t> APIM hosts the MCP boundary. Agents focus on intent, tool selection, and response composition.</a:t>
            </a:r>
            <a:endParaRPr lang="en-US" sz="1250" dirty="0"/>
          </a:p>
        </p:txBody>
      </p:sp>
      <p:sp>
        <p:nvSpPr>
          <p:cNvPr id="5" name="Shape 3"/>
          <p:cNvSpPr/>
          <p:nvPr/>
        </p:nvSpPr>
        <p:spPr>
          <a:xfrm>
            <a:off x="566928" y="2844800"/>
            <a:ext cx="1572768" cy="1600200"/>
          </a:xfrm>
          <a:prstGeom prst="roundRect">
            <a:avLst/>
          </a:prstGeom>
          <a:solidFill>
            <a:srgbClr val="FFFFFF"/>
          </a:solidFill>
          <a:ln w="19050">
            <a:solidFill>
              <a:srgbClr val="4F8EF7"/>
            </a:solidFill>
            <a:prstDash val="solid"/>
          </a:ln>
          <a:effectLst>
            <a:outerShdw blurRad="25400" dist="50800" dir="2700000" algn="bl" rotWithShape="0">
              <a:srgbClr val="102A43">
                <a:alpha val="14000"/>
              </a:srgbClr>
            </a:outerShdw>
          </a:effectLst>
        </p:spPr>
        <p:txBody>
          <a:bodyPr/>
          <a:lstStyle/>
          <a:p>
            <a:endParaRPr lang="en-US"/>
          </a:p>
        </p:txBody>
      </p:sp>
      <p:sp>
        <p:nvSpPr>
          <p:cNvPr id="6" name="Shape 4"/>
          <p:cNvSpPr/>
          <p:nvPr/>
        </p:nvSpPr>
        <p:spPr>
          <a:xfrm>
            <a:off x="1088136" y="3073400"/>
            <a:ext cx="530352" cy="530352"/>
          </a:xfrm>
          <a:prstGeom prst="ellipse">
            <a:avLst/>
          </a:prstGeom>
          <a:solidFill>
            <a:srgbClr val="4F8EF7"/>
          </a:solidFill>
          <a:ln w="12700">
            <a:solidFill>
              <a:srgbClr val="4F8EF7"/>
            </a:solidFill>
            <a:prstDash val="solid"/>
          </a:ln>
        </p:spPr>
        <p:txBody>
          <a:bodyPr/>
          <a:lstStyle/>
          <a:p>
            <a:endParaRPr lang="en-US"/>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6152" y="3201670"/>
            <a:ext cx="274320" cy="274320"/>
          </a:xfrm>
          <a:prstGeom prst="rect">
            <a:avLst/>
          </a:prstGeom>
        </p:spPr>
      </p:pic>
      <p:sp>
        <p:nvSpPr>
          <p:cNvPr id="8" name="Text 5"/>
          <p:cNvSpPr/>
          <p:nvPr/>
        </p:nvSpPr>
        <p:spPr>
          <a:xfrm>
            <a:off x="676656" y="3741420"/>
            <a:ext cx="1353312" cy="256032"/>
          </a:xfrm>
          <a:prstGeom prst="rect">
            <a:avLst/>
          </a:prstGeom>
          <a:noFill/>
          <a:ln/>
        </p:spPr>
        <p:txBody>
          <a:bodyPr wrap="square" lIns="0" tIns="0" rIns="0" bIns="0" rtlCol="0" anchor="ctr">
            <a:normAutofit/>
          </a:bodyPr>
          <a:lstStyle/>
          <a:p>
            <a:pPr marL="0" indent="0" algn="ctr">
              <a:buNone/>
            </a:pPr>
            <a:r>
              <a:rPr lang="en-US" sz="1300" b="1" dirty="0">
                <a:solidFill>
                  <a:srgbClr val="102A43"/>
                </a:solidFill>
                <a:latin typeface="Aptos Display" pitchFamily="34" charset="0"/>
                <a:ea typeface="Aptos Display" pitchFamily="34" charset="-122"/>
                <a:cs typeface="Aptos Display" pitchFamily="34" charset="-120"/>
              </a:rPr>
              <a:t>Participant</a:t>
            </a:r>
            <a:endParaRPr lang="en-US" sz="1300" dirty="0"/>
          </a:p>
        </p:txBody>
      </p:sp>
      <p:sp>
        <p:nvSpPr>
          <p:cNvPr id="9" name="Text 6"/>
          <p:cNvSpPr/>
          <p:nvPr/>
        </p:nvSpPr>
        <p:spPr>
          <a:xfrm>
            <a:off x="676656" y="4070350"/>
            <a:ext cx="1353312" cy="182880"/>
          </a:xfrm>
          <a:prstGeom prst="rect">
            <a:avLst/>
          </a:prstGeom>
          <a:noFill/>
          <a:ln/>
        </p:spPr>
        <p:txBody>
          <a:bodyPr wrap="square" lIns="0" tIns="0" rIns="0" bIns="0" rtlCol="0" anchor="ctr">
            <a:normAutofit/>
          </a:bodyPr>
          <a:lstStyle/>
          <a:p>
            <a:pPr marL="0" indent="0" algn="ctr">
              <a:buNone/>
            </a:pPr>
            <a:r>
              <a:rPr lang="en-US" sz="870" dirty="0">
                <a:solidFill>
                  <a:srgbClr val="4F6474"/>
                </a:solidFill>
                <a:latin typeface="Aptos" pitchFamily="34" charset="0"/>
                <a:ea typeface="Aptos" pitchFamily="34" charset="-122"/>
                <a:cs typeface="Aptos" pitchFamily="34" charset="-120"/>
              </a:rPr>
              <a:t>Prompt or client</a:t>
            </a:r>
            <a:endParaRPr lang="en-US" sz="870" dirty="0"/>
          </a:p>
        </p:txBody>
      </p:sp>
      <p:sp>
        <p:nvSpPr>
          <p:cNvPr id="10" name="Shape 7"/>
          <p:cNvSpPr/>
          <p:nvPr/>
        </p:nvSpPr>
        <p:spPr>
          <a:xfrm>
            <a:off x="2138680" y="3649980"/>
            <a:ext cx="375920" cy="0"/>
          </a:xfrm>
          <a:prstGeom prst="line">
            <a:avLst/>
          </a:prstGeom>
          <a:noFill/>
          <a:ln w="22225">
            <a:solidFill>
              <a:srgbClr val="748494"/>
            </a:solidFill>
            <a:prstDash val="solid"/>
            <a:tailEnd type="triangle"/>
          </a:ln>
        </p:spPr>
        <p:txBody>
          <a:bodyPr/>
          <a:lstStyle/>
          <a:p>
            <a:endParaRPr lang="en-US"/>
          </a:p>
        </p:txBody>
      </p:sp>
      <p:sp>
        <p:nvSpPr>
          <p:cNvPr id="11" name="Shape 8"/>
          <p:cNvSpPr/>
          <p:nvPr/>
        </p:nvSpPr>
        <p:spPr>
          <a:xfrm>
            <a:off x="2514600" y="2844800"/>
            <a:ext cx="1938528" cy="1600200"/>
          </a:xfrm>
          <a:prstGeom prst="roundRect">
            <a:avLst/>
          </a:prstGeom>
          <a:solidFill>
            <a:srgbClr val="FFFFFF"/>
          </a:solidFill>
          <a:ln w="19050">
            <a:solidFill>
              <a:srgbClr val="775DA6"/>
            </a:solidFill>
            <a:prstDash val="solid"/>
          </a:ln>
          <a:effectLst>
            <a:outerShdw blurRad="25400" dist="50800" dir="2700000" algn="bl" rotWithShape="0">
              <a:srgbClr val="102A43">
                <a:alpha val="14000"/>
              </a:srgbClr>
            </a:outerShdw>
          </a:effectLst>
        </p:spPr>
        <p:txBody>
          <a:bodyPr/>
          <a:lstStyle/>
          <a:p>
            <a:endParaRPr lang="en-US"/>
          </a:p>
        </p:txBody>
      </p:sp>
      <p:sp>
        <p:nvSpPr>
          <p:cNvPr id="14" name="Text 10"/>
          <p:cNvSpPr/>
          <p:nvPr/>
        </p:nvSpPr>
        <p:spPr>
          <a:xfrm>
            <a:off x="2624328" y="3741420"/>
            <a:ext cx="1719072" cy="256032"/>
          </a:xfrm>
          <a:prstGeom prst="rect">
            <a:avLst/>
          </a:prstGeom>
          <a:noFill/>
          <a:ln/>
        </p:spPr>
        <p:txBody>
          <a:bodyPr wrap="square" lIns="0" tIns="0" rIns="0" bIns="0" rtlCol="0" anchor="ctr">
            <a:normAutofit/>
          </a:bodyPr>
          <a:lstStyle/>
          <a:p>
            <a:pPr marL="0" indent="0" algn="ctr">
              <a:buNone/>
            </a:pPr>
            <a:r>
              <a:rPr lang="en-US" sz="1300" b="1">
                <a:solidFill>
                  <a:srgbClr val="102A43"/>
                </a:solidFill>
                <a:latin typeface="Aptos Display" pitchFamily="34" charset="0"/>
                <a:ea typeface="Aptos Display" pitchFamily="34" charset="-122"/>
                <a:cs typeface="Aptos Display" pitchFamily="34" charset="-120"/>
              </a:rPr>
              <a:t>Agent Harness</a:t>
            </a:r>
            <a:endParaRPr lang="en-US" sz="1300" dirty="0"/>
          </a:p>
        </p:txBody>
      </p:sp>
      <p:sp>
        <p:nvSpPr>
          <p:cNvPr id="15" name="Text 11"/>
          <p:cNvSpPr/>
          <p:nvPr/>
        </p:nvSpPr>
        <p:spPr>
          <a:xfrm>
            <a:off x="2624328" y="4070350"/>
            <a:ext cx="1719072" cy="182880"/>
          </a:xfrm>
          <a:prstGeom prst="rect">
            <a:avLst/>
          </a:prstGeom>
          <a:noFill/>
          <a:ln/>
        </p:spPr>
        <p:txBody>
          <a:bodyPr wrap="square" lIns="0" tIns="0" rIns="0" bIns="0" rtlCol="0" anchor="ctr">
            <a:normAutofit/>
          </a:bodyPr>
          <a:lstStyle/>
          <a:p>
            <a:pPr marL="0" indent="0" algn="ctr">
              <a:buNone/>
            </a:pPr>
            <a:r>
              <a:rPr lang="en-US" sz="870" dirty="0">
                <a:solidFill>
                  <a:srgbClr val="4F6474"/>
                </a:solidFill>
                <a:latin typeface="Aptos" pitchFamily="34" charset="0"/>
                <a:ea typeface="Aptos" pitchFamily="34" charset="-122"/>
                <a:cs typeface="Aptos" pitchFamily="34" charset="-120"/>
              </a:rPr>
              <a:t>Foundry or Copilot Studio</a:t>
            </a:r>
            <a:endParaRPr lang="en-US" sz="870" dirty="0"/>
          </a:p>
        </p:txBody>
      </p:sp>
      <p:sp>
        <p:nvSpPr>
          <p:cNvPr id="16" name="Shape 12"/>
          <p:cNvSpPr/>
          <p:nvPr/>
        </p:nvSpPr>
        <p:spPr>
          <a:xfrm>
            <a:off x="4452620" y="3649980"/>
            <a:ext cx="421640" cy="0"/>
          </a:xfrm>
          <a:prstGeom prst="line">
            <a:avLst/>
          </a:prstGeom>
          <a:noFill/>
          <a:ln w="22225">
            <a:solidFill>
              <a:srgbClr val="748494"/>
            </a:solidFill>
            <a:prstDash val="solid"/>
            <a:tailEnd type="triangle"/>
          </a:ln>
        </p:spPr>
        <p:txBody>
          <a:bodyPr/>
          <a:lstStyle/>
          <a:p>
            <a:endParaRPr lang="en-US"/>
          </a:p>
        </p:txBody>
      </p:sp>
      <p:sp>
        <p:nvSpPr>
          <p:cNvPr id="17" name="Shape 13"/>
          <p:cNvSpPr/>
          <p:nvPr/>
        </p:nvSpPr>
        <p:spPr>
          <a:xfrm>
            <a:off x="4873752" y="2844800"/>
            <a:ext cx="1965960" cy="1600200"/>
          </a:xfrm>
          <a:prstGeom prst="roundRect">
            <a:avLst/>
          </a:prstGeom>
          <a:solidFill>
            <a:srgbClr val="FFFFFF"/>
          </a:solidFill>
          <a:ln w="19050">
            <a:solidFill>
              <a:srgbClr val="0F8B8D"/>
            </a:solidFill>
            <a:prstDash val="solid"/>
          </a:ln>
          <a:effectLst>
            <a:outerShdw blurRad="25400" dist="50800" dir="2700000" algn="bl" rotWithShape="0">
              <a:srgbClr val="102A43">
                <a:alpha val="14000"/>
              </a:srgbClr>
            </a:outerShdw>
          </a:effectLst>
        </p:spPr>
        <p:txBody>
          <a:bodyPr/>
          <a:lstStyle/>
          <a:p>
            <a:endParaRPr lang="en-US"/>
          </a:p>
        </p:txBody>
      </p:sp>
      <p:sp>
        <p:nvSpPr>
          <p:cNvPr id="20" name="Text 15"/>
          <p:cNvSpPr/>
          <p:nvPr/>
        </p:nvSpPr>
        <p:spPr>
          <a:xfrm>
            <a:off x="4983480" y="3741420"/>
            <a:ext cx="1746504" cy="256032"/>
          </a:xfrm>
          <a:prstGeom prst="rect">
            <a:avLst/>
          </a:prstGeom>
          <a:noFill/>
          <a:ln/>
        </p:spPr>
        <p:txBody>
          <a:bodyPr wrap="square" lIns="0" tIns="0" rIns="0" bIns="0" rtlCol="0" anchor="ctr">
            <a:normAutofit/>
          </a:bodyPr>
          <a:lstStyle/>
          <a:p>
            <a:pPr marL="0" indent="0" algn="ctr">
              <a:buNone/>
            </a:pPr>
            <a:r>
              <a:rPr lang="en-US" sz="1300" b="1">
                <a:solidFill>
                  <a:srgbClr val="102A43"/>
                </a:solidFill>
                <a:latin typeface="Aptos Display" pitchFamily="34" charset="0"/>
                <a:ea typeface="Aptos Display" pitchFamily="34" charset="-122"/>
                <a:cs typeface="Aptos Display" pitchFamily="34" charset="-120"/>
              </a:rPr>
              <a:t>MCP Server</a:t>
            </a:r>
            <a:endParaRPr lang="en-US" sz="1300" dirty="0"/>
          </a:p>
        </p:txBody>
      </p:sp>
      <p:sp>
        <p:nvSpPr>
          <p:cNvPr id="21" name="Text 16"/>
          <p:cNvSpPr/>
          <p:nvPr/>
        </p:nvSpPr>
        <p:spPr>
          <a:xfrm>
            <a:off x="4983480" y="4070350"/>
            <a:ext cx="1746504" cy="182880"/>
          </a:xfrm>
          <a:prstGeom prst="rect">
            <a:avLst/>
          </a:prstGeom>
          <a:noFill/>
          <a:ln/>
        </p:spPr>
        <p:txBody>
          <a:bodyPr wrap="square" lIns="0" tIns="0" rIns="0" bIns="0" rtlCol="0" anchor="ctr">
            <a:normAutofit/>
          </a:bodyPr>
          <a:lstStyle/>
          <a:p>
            <a:pPr marL="0" indent="0" algn="ctr">
              <a:buNone/>
            </a:pPr>
            <a:r>
              <a:rPr lang="en-US" sz="870" dirty="0">
                <a:solidFill>
                  <a:srgbClr val="4F6474"/>
                </a:solidFill>
                <a:latin typeface="Aptos" pitchFamily="34" charset="0"/>
                <a:ea typeface="Aptos" pitchFamily="34" charset="-122"/>
                <a:cs typeface="Aptos" pitchFamily="34" charset="-120"/>
              </a:rPr>
              <a:t>Tools and policy boundary</a:t>
            </a:r>
            <a:endParaRPr lang="en-US" sz="870" dirty="0"/>
          </a:p>
        </p:txBody>
      </p:sp>
      <p:sp>
        <p:nvSpPr>
          <p:cNvPr id="22" name="Shape 17"/>
          <p:cNvSpPr/>
          <p:nvPr/>
        </p:nvSpPr>
        <p:spPr>
          <a:xfrm>
            <a:off x="6840220" y="3649980"/>
            <a:ext cx="429260" cy="0"/>
          </a:xfrm>
          <a:prstGeom prst="line">
            <a:avLst/>
          </a:prstGeom>
          <a:noFill/>
          <a:ln w="22225">
            <a:solidFill>
              <a:srgbClr val="748494"/>
            </a:solidFill>
            <a:prstDash val="solid"/>
            <a:tailEnd type="triangle"/>
          </a:ln>
        </p:spPr>
        <p:txBody>
          <a:bodyPr/>
          <a:lstStyle/>
          <a:p>
            <a:endParaRPr lang="en-US"/>
          </a:p>
        </p:txBody>
      </p:sp>
      <p:sp>
        <p:nvSpPr>
          <p:cNvPr id="23" name="Shape 18"/>
          <p:cNvSpPr/>
          <p:nvPr/>
        </p:nvSpPr>
        <p:spPr>
          <a:xfrm>
            <a:off x="7269480" y="2844800"/>
            <a:ext cx="1874520" cy="1600200"/>
          </a:xfrm>
          <a:prstGeom prst="roundRect">
            <a:avLst/>
          </a:prstGeom>
          <a:solidFill>
            <a:srgbClr val="FFFFFF"/>
          </a:solidFill>
          <a:ln w="19050">
            <a:solidFill>
              <a:srgbClr val="4F8EF7"/>
            </a:solidFill>
            <a:prstDash val="solid"/>
          </a:ln>
          <a:effectLst>
            <a:outerShdw blurRad="25400" dist="50800" dir="2700000" algn="bl" rotWithShape="0">
              <a:srgbClr val="102A43">
                <a:alpha val="14000"/>
              </a:srgbClr>
            </a:outerShdw>
          </a:effectLst>
        </p:spPr>
        <p:txBody>
          <a:bodyPr/>
          <a:lstStyle/>
          <a:p>
            <a:endParaRPr lang="en-US"/>
          </a:p>
        </p:txBody>
      </p:sp>
      <p:sp>
        <p:nvSpPr>
          <p:cNvPr id="26" name="Text 20"/>
          <p:cNvSpPr/>
          <p:nvPr/>
        </p:nvSpPr>
        <p:spPr>
          <a:xfrm>
            <a:off x="7379208" y="3741420"/>
            <a:ext cx="1655064" cy="256032"/>
          </a:xfrm>
          <a:prstGeom prst="rect">
            <a:avLst/>
          </a:prstGeom>
          <a:noFill/>
          <a:ln/>
        </p:spPr>
        <p:txBody>
          <a:bodyPr wrap="square" lIns="0" tIns="0" rIns="0" bIns="0" rtlCol="0" anchor="ctr">
            <a:normAutofit/>
          </a:bodyPr>
          <a:lstStyle/>
          <a:p>
            <a:pPr marL="0" indent="0" algn="ctr">
              <a:buNone/>
            </a:pPr>
            <a:r>
              <a:rPr lang="en-US" sz="1300" b="1" dirty="0">
                <a:solidFill>
                  <a:srgbClr val="102A43"/>
                </a:solidFill>
                <a:latin typeface="Aptos Display" pitchFamily="34" charset="0"/>
                <a:ea typeface="Aptos Display" pitchFamily="34" charset="-122"/>
                <a:cs typeface="Aptos Display" pitchFamily="34" charset="-120"/>
              </a:rPr>
              <a:t>REST contract</a:t>
            </a:r>
            <a:endParaRPr lang="en-US" sz="1300" dirty="0"/>
          </a:p>
        </p:txBody>
      </p:sp>
      <p:sp>
        <p:nvSpPr>
          <p:cNvPr id="27" name="Text 21"/>
          <p:cNvSpPr/>
          <p:nvPr/>
        </p:nvSpPr>
        <p:spPr>
          <a:xfrm>
            <a:off x="7379208" y="4070350"/>
            <a:ext cx="1655064" cy="182880"/>
          </a:xfrm>
          <a:prstGeom prst="rect">
            <a:avLst/>
          </a:prstGeom>
          <a:noFill/>
          <a:ln/>
        </p:spPr>
        <p:txBody>
          <a:bodyPr wrap="square" lIns="0" tIns="0" rIns="0" bIns="0" rtlCol="0" anchor="ctr">
            <a:normAutofit/>
          </a:bodyPr>
          <a:lstStyle/>
          <a:p>
            <a:pPr marL="0" indent="0" algn="ctr">
              <a:buNone/>
            </a:pPr>
            <a:r>
              <a:rPr lang="en-US" sz="870" dirty="0">
                <a:solidFill>
                  <a:srgbClr val="4F6474"/>
                </a:solidFill>
                <a:latin typeface="Aptos" pitchFamily="34" charset="0"/>
                <a:ea typeface="Aptos" pitchFamily="34" charset="-122"/>
                <a:cs typeface="Aptos" pitchFamily="34" charset="-120"/>
              </a:rPr>
              <a:t>OpenAPI operations</a:t>
            </a:r>
            <a:endParaRPr lang="en-US" sz="870" dirty="0"/>
          </a:p>
        </p:txBody>
      </p:sp>
      <p:sp>
        <p:nvSpPr>
          <p:cNvPr id="28" name="Shape 22"/>
          <p:cNvSpPr/>
          <p:nvPr/>
        </p:nvSpPr>
        <p:spPr>
          <a:xfrm>
            <a:off x="9144000" y="3649980"/>
            <a:ext cx="429260" cy="0"/>
          </a:xfrm>
          <a:prstGeom prst="line">
            <a:avLst/>
          </a:prstGeom>
          <a:noFill/>
          <a:ln w="22225">
            <a:solidFill>
              <a:srgbClr val="748494"/>
            </a:solidFill>
            <a:prstDash val="solid"/>
            <a:tailEnd type="triangle"/>
          </a:ln>
        </p:spPr>
        <p:txBody>
          <a:bodyPr/>
          <a:lstStyle/>
          <a:p>
            <a:endParaRPr lang="en-US"/>
          </a:p>
        </p:txBody>
      </p:sp>
      <p:sp>
        <p:nvSpPr>
          <p:cNvPr id="29" name="Shape 23"/>
          <p:cNvSpPr/>
          <p:nvPr/>
        </p:nvSpPr>
        <p:spPr>
          <a:xfrm>
            <a:off x="9573768" y="2844800"/>
            <a:ext cx="2029968" cy="1600200"/>
          </a:xfrm>
          <a:prstGeom prst="roundRect">
            <a:avLst/>
          </a:prstGeom>
          <a:solidFill>
            <a:srgbClr val="FFFFFF"/>
          </a:solidFill>
          <a:ln w="19050">
            <a:solidFill>
              <a:srgbClr val="F4B942"/>
            </a:solidFill>
            <a:prstDash val="solid"/>
          </a:ln>
          <a:effectLst>
            <a:outerShdw blurRad="25400" dist="50800" dir="2700000" algn="bl" rotWithShape="0">
              <a:srgbClr val="102A43">
                <a:alpha val="14000"/>
              </a:srgbClr>
            </a:outerShdw>
          </a:effectLst>
        </p:spPr>
        <p:txBody>
          <a:bodyPr/>
          <a:lstStyle/>
          <a:p>
            <a:endParaRPr lang="en-US"/>
          </a:p>
        </p:txBody>
      </p:sp>
      <p:sp>
        <p:nvSpPr>
          <p:cNvPr id="30" name="Shape 24"/>
          <p:cNvSpPr/>
          <p:nvPr/>
        </p:nvSpPr>
        <p:spPr>
          <a:xfrm>
            <a:off x="10323576" y="3073400"/>
            <a:ext cx="530352" cy="530352"/>
          </a:xfrm>
          <a:prstGeom prst="ellipse">
            <a:avLst/>
          </a:prstGeom>
          <a:solidFill>
            <a:srgbClr val="F4B942"/>
          </a:solidFill>
          <a:ln w="12700">
            <a:solidFill>
              <a:srgbClr val="F4B942"/>
            </a:solidFill>
            <a:prstDash val="solid"/>
          </a:ln>
        </p:spPr>
        <p:txBody>
          <a:bodyPr/>
          <a:lstStyle/>
          <a:p>
            <a:endParaRPr lang="en-US"/>
          </a:p>
        </p:txBody>
      </p:sp>
      <p:pic>
        <p:nvPicPr>
          <p:cNvPr id="31"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51592" y="3201670"/>
            <a:ext cx="274320" cy="274320"/>
          </a:xfrm>
          <a:prstGeom prst="rect">
            <a:avLst/>
          </a:prstGeom>
        </p:spPr>
      </p:pic>
      <p:sp>
        <p:nvSpPr>
          <p:cNvPr id="32" name="Text 25"/>
          <p:cNvSpPr/>
          <p:nvPr/>
        </p:nvSpPr>
        <p:spPr>
          <a:xfrm>
            <a:off x="9683496" y="3741420"/>
            <a:ext cx="1810512" cy="256032"/>
          </a:xfrm>
          <a:prstGeom prst="rect">
            <a:avLst/>
          </a:prstGeom>
          <a:noFill/>
          <a:ln/>
        </p:spPr>
        <p:txBody>
          <a:bodyPr wrap="square" lIns="0" tIns="0" rIns="0" bIns="0" rtlCol="0" anchor="ctr">
            <a:normAutofit/>
          </a:bodyPr>
          <a:lstStyle/>
          <a:p>
            <a:pPr marL="0" indent="0" algn="ctr">
              <a:buNone/>
            </a:pPr>
            <a:r>
              <a:rPr lang="en-US" sz="1300" b="1" dirty="0">
                <a:solidFill>
                  <a:srgbClr val="102A43"/>
                </a:solidFill>
                <a:latin typeface="Aptos Display" pitchFamily="34" charset="0"/>
                <a:ea typeface="Aptos Display" pitchFamily="34" charset="-122"/>
                <a:cs typeface="Aptos Display" pitchFamily="34" charset="-120"/>
              </a:rPr>
              <a:t>Backend</a:t>
            </a:r>
            <a:endParaRPr lang="en-US" sz="1300" dirty="0"/>
          </a:p>
        </p:txBody>
      </p:sp>
      <p:sp>
        <p:nvSpPr>
          <p:cNvPr id="33" name="Text 26"/>
          <p:cNvSpPr/>
          <p:nvPr/>
        </p:nvSpPr>
        <p:spPr>
          <a:xfrm>
            <a:off x="9683496" y="4070350"/>
            <a:ext cx="1810512" cy="182880"/>
          </a:xfrm>
          <a:prstGeom prst="rect">
            <a:avLst/>
          </a:prstGeom>
          <a:noFill/>
          <a:ln/>
        </p:spPr>
        <p:txBody>
          <a:bodyPr wrap="square" lIns="0" tIns="0" rIns="0" bIns="0" rtlCol="0" anchor="ctr">
            <a:normAutofit/>
          </a:bodyPr>
          <a:lstStyle/>
          <a:p>
            <a:pPr marL="0" indent="0" algn="ctr">
              <a:buNone/>
            </a:pPr>
            <a:r>
              <a:rPr lang="en-US" sz="870" dirty="0">
                <a:solidFill>
                  <a:srgbClr val="4F6474"/>
                </a:solidFill>
                <a:latin typeface="Aptos" pitchFamily="34" charset="0"/>
                <a:ea typeface="Aptos" pitchFamily="34" charset="-122"/>
                <a:cs typeface="Aptos" pitchFamily="34" charset="-120"/>
              </a:rPr>
              <a:t>Mock response or Petstore</a:t>
            </a:r>
            <a:endParaRPr lang="en-US" sz="870" dirty="0"/>
          </a:p>
        </p:txBody>
      </p:sp>
      <p:pic>
        <p:nvPicPr>
          <p:cNvPr id="49" name="Microsoft Copilot Studio Icon">
            <a:extLst>
              <a:ext uri="{FF2B5EF4-FFF2-40B4-BE49-F238E27FC236}">
                <a16:creationId xmlns:a16="http://schemas.microsoft.com/office/drawing/2014/main" id="{7D163EBB-95FE-D701-C53B-0FDA5E90DB9F}"/>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3528314" y="3173730"/>
            <a:ext cx="330200" cy="330200"/>
          </a:xfrm>
          <a:prstGeom prst="rect">
            <a:avLst/>
          </a:prstGeom>
        </p:spPr>
      </p:pic>
      <p:pic>
        <p:nvPicPr>
          <p:cNvPr id="13" name="Microsoft Foundry Agent Service Icon">
            <a:extLst>
              <a:ext uri="{FF2B5EF4-FFF2-40B4-BE49-F238E27FC236}">
                <a16:creationId xmlns:a16="http://schemas.microsoft.com/office/drawing/2014/main" id="{7CA32E2E-6B9A-7AED-FDF5-EF9F21CDEB73}"/>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3109214" y="3173730"/>
            <a:ext cx="330200" cy="330200"/>
          </a:xfrm>
          <a:prstGeom prst="rect">
            <a:avLst/>
          </a:prstGeom>
        </p:spPr>
      </p:pic>
      <p:sp>
        <p:nvSpPr>
          <p:cNvPr id="44" name="Text 35"/>
          <p:cNvSpPr/>
          <p:nvPr/>
        </p:nvSpPr>
        <p:spPr>
          <a:xfrm>
            <a:off x="566928" y="6528816"/>
            <a:ext cx="7112000" cy="146304"/>
          </a:xfrm>
          <a:prstGeom prst="rect">
            <a:avLst/>
          </a:prstGeom>
          <a:noFill/>
          <a:ln/>
        </p:spPr>
        <p:txBody>
          <a:bodyPr wrap="square" lIns="0" tIns="0" rIns="0" bIns="0" rtlCol="0" anchor="ctr"/>
          <a:lstStyle/>
          <a:p>
            <a:pPr marL="0" indent="0">
              <a:buNone/>
            </a:pPr>
            <a:r>
              <a:rPr lang="en-US" sz="750">
                <a:solidFill>
                  <a:srgbClr val="748494"/>
                </a:solidFill>
                <a:latin typeface="Aptos" pitchFamily="34" charset="0"/>
                <a:ea typeface="Aptos" pitchFamily="34" charset="-122"/>
                <a:cs typeface="Aptos" pitchFamily="34" charset="-120"/>
              </a:rPr>
              <a:t>Architecture: intent stays with the agent harness, controls stay in APIM, and telemetry converges in Application Insights</a:t>
            </a:r>
            <a:endParaRPr lang="en-US" sz="750" dirty="0"/>
          </a:p>
        </p:txBody>
      </p:sp>
      <p:sp>
        <p:nvSpPr>
          <p:cNvPr id="45" name="Slide Number Placeholder 0"/>
          <p:cNvSpPr>
            <a:spLocks noGrp="1"/>
          </p:cNvSpPr>
          <p:nvPr>
            <p:ph type="sldNum" sz="quarter" idx="4294967295"/>
          </p:nvPr>
        </p:nvSpPr>
        <p:spPr>
          <a:xfrm>
            <a:off x="11109960" y="6510528"/>
            <a:ext cx="548640"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748494"/>
                </a:solidFill>
                <a:latin typeface="Aptos"/>
                <a:ea typeface="Aptos"/>
                <a:cs typeface="Aptos"/>
              </a:defRPr>
            </a:lvl1pPr>
          </a:lstStyle>
          <a:p>
            <a:pPr algn="r"/>
            <a:fld id="{F7021451-1387-4CA6-816F-3879F97B5CBC}" type="slidenum">
              <a:rPr lang="en-US" b="0"/>
              <a:t>3</a:t>
            </a:fld>
            <a:endParaRPr lang="en-US"/>
          </a:p>
        </p:txBody>
      </p:sp>
      <p:pic>
        <p:nvPicPr>
          <p:cNvPr id="19" name="MCP Logo">
            <a:extLst>
              <a:ext uri="{FF2B5EF4-FFF2-40B4-BE49-F238E27FC236}">
                <a16:creationId xmlns:a16="http://schemas.microsoft.com/office/drawing/2014/main" id="{C3017197-2A60-8421-3387-1932A693B652}"/>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5654040" y="3135630"/>
            <a:ext cx="406400" cy="406400"/>
          </a:xfrm>
          <a:prstGeom prst="rect">
            <a:avLst/>
          </a:prstGeom>
        </p:spPr>
      </p:pic>
      <p:pic>
        <p:nvPicPr>
          <p:cNvPr id="34" name="OpenAPI Logo">
            <a:extLst>
              <a:ext uri="{FF2B5EF4-FFF2-40B4-BE49-F238E27FC236}">
                <a16:creationId xmlns:a16="http://schemas.microsoft.com/office/drawing/2014/main" id="{22A7C1B4-D38F-A410-EF85-2FEFA5CA8DB6}"/>
              </a:ext>
            </a:extLst>
          </p:cNvPr>
          <p:cNvPicPr>
            <a:picLocks/>
          </p:cNvPicPr>
          <p:nvPr/>
        </p:nvPicPr>
        <p:blipFill>
          <a:blip>
            <a:extLst>
              <a:ext uri="{96DAC541-7B7A-43D3-8B79-37D633B846F1}">
                <asvg:svgBlip xmlns:asvg="http://schemas.microsoft.com/office/drawing/2016/SVG/main" r:embed="rId8"/>
              </a:ext>
            </a:extLst>
          </a:blip>
          <a:stretch>
            <a:fillRect/>
          </a:stretch>
        </p:blipFill>
        <p:spPr>
          <a:xfrm>
            <a:off x="7762240" y="2997200"/>
            <a:ext cx="889000" cy="635000"/>
          </a:xfrm>
          <a:prstGeom prst="rect">
            <a:avLst/>
          </a:prstGeom>
        </p:spPr>
      </p:pic>
      <p:sp>
        <p:nvSpPr>
          <p:cNvPr id="53" name="Agent 365 Badge">
            <a:extLst>
              <a:ext uri="{FF2B5EF4-FFF2-40B4-BE49-F238E27FC236}">
                <a16:creationId xmlns:a16="http://schemas.microsoft.com/office/drawing/2014/main" id="{020CD871-57B2-8109-AB9B-98269BA65176}"/>
              </a:ext>
            </a:extLst>
          </p:cNvPr>
          <p:cNvSpPr/>
          <p:nvPr/>
        </p:nvSpPr>
        <p:spPr>
          <a:xfrm>
            <a:off x="2514600" y="1524000"/>
            <a:ext cx="4328160" cy="457200"/>
          </a:xfrm>
          <a:prstGeom prst="roundRect">
            <a:avLst/>
          </a:prstGeom>
          <a:solidFill>
            <a:srgbClr val="FFFFFF"/>
          </a:solidFill>
          <a:ln w="15240">
            <a:solidFill>
              <a:srgbClr val="775D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5" name="Agent 365 Icon" descr="Microsoft Agent 365 logo">
            <a:extLst>
              <a:ext uri="{FF2B5EF4-FFF2-40B4-BE49-F238E27FC236}">
                <a16:creationId xmlns:a16="http://schemas.microsoft.com/office/drawing/2014/main" id="{0E01942D-C819-6E73-4C24-976FDCFB9D6F}"/>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3810000" y="1638300"/>
            <a:ext cx="228600" cy="228600"/>
          </a:xfrm>
          <a:prstGeom prst="rect">
            <a:avLst/>
          </a:prstGeom>
        </p:spPr>
      </p:pic>
      <p:sp>
        <p:nvSpPr>
          <p:cNvPr id="56" name="Agent 365 Title">
            <a:extLst>
              <a:ext uri="{FF2B5EF4-FFF2-40B4-BE49-F238E27FC236}">
                <a16:creationId xmlns:a16="http://schemas.microsoft.com/office/drawing/2014/main" id="{D56BD24A-C115-90CB-34D8-507DA2801959}"/>
              </a:ext>
            </a:extLst>
          </p:cNvPr>
          <p:cNvSpPr txBox="1"/>
          <p:nvPr/>
        </p:nvSpPr>
        <p:spPr>
          <a:xfrm>
            <a:off x="4114800" y="1600200"/>
            <a:ext cx="1625600" cy="146050"/>
          </a:xfrm>
          <a:prstGeom prst="rect">
            <a:avLst/>
          </a:prstGeom>
          <a:noFill/>
        </p:spPr>
        <p:txBody>
          <a:bodyPr vert="horz" lIns="0" tIns="0" rIns="0" bIns="0" rtlCol="0">
            <a:spAutoFit/>
          </a:bodyPr>
          <a:lstStyle/>
          <a:p>
            <a:r>
              <a:rPr lang="en-US" sz="950" b="1">
                <a:solidFill>
                  <a:srgbClr val="102A43"/>
                </a:solidFill>
                <a:latin typeface="Aptos" panose="020B0004020202020204" pitchFamily="34" charset="0"/>
              </a:rPr>
              <a:t>Microsoft Agent 365</a:t>
            </a:r>
          </a:p>
        </p:txBody>
      </p:sp>
      <p:sp>
        <p:nvSpPr>
          <p:cNvPr id="57" name="Agent 365 Subtitle">
            <a:extLst>
              <a:ext uri="{FF2B5EF4-FFF2-40B4-BE49-F238E27FC236}">
                <a16:creationId xmlns:a16="http://schemas.microsoft.com/office/drawing/2014/main" id="{A60B4BAF-6633-7728-5907-FDA6E77638D7}"/>
              </a:ext>
            </a:extLst>
          </p:cNvPr>
          <p:cNvSpPr txBox="1"/>
          <p:nvPr/>
        </p:nvSpPr>
        <p:spPr>
          <a:xfrm>
            <a:off x="4114800" y="1771650"/>
            <a:ext cx="1625600" cy="115570"/>
          </a:xfrm>
          <a:prstGeom prst="rect">
            <a:avLst/>
          </a:prstGeom>
          <a:noFill/>
        </p:spPr>
        <p:txBody>
          <a:bodyPr vert="horz" lIns="0" tIns="0" rIns="0" bIns="0" rtlCol="0">
            <a:spAutoFit/>
          </a:bodyPr>
          <a:lstStyle/>
          <a:p>
            <a:r>
              <a:rPr lang="en-US" sz="750">
                <a:solidFill>
                  <a:srgbClr val="526980"/>
                </a:solidFill>
                <a:latin typeface="Aptos" panose="020B0004020202020204" pitchFamily="34" charset="0"/>
              </a:rPr>
              <a:t>Governance plane</a:t>
            </a:r>
          </a:p>
        </p:txBody>
      </p:sp>
      <p:sp>
        <p:nvSpPr>
          <p:cNvPr id="43" name="APIM Control Plane Badge">
            <a:extLst>
              <a:ext uri="{FF2B5EF4-FFF2-40B4-BE49-F238E27FC236}">
                <a16:creationId xmlns:a16="http://schemas.microsoft.com/office/drawing/2014/main" id="{98D26CB3-9376-F472-7DD8-F24ED57C4915}"/>
              </a:ext>
            </a:extLst>
          </p:cNvPr>
          <p:cNvSpPr/>
          <p:nvPr/>
        </p:nvSpPr>
        <p:spPr>
          <a:xfrm>
            <a:off x="4874260" y="2184400"/>
            <a:ext cx="4269740" cy="457200"/>
          </a:xfrm>
          <a:prstGeom prst="roundRect">
            <a:avLst/>
          </a:prstGeom>
          <a:solidFill>
            <a:srgbClr val="FFFFFF"/>
          </a:solidFill>
          <a:ln w="15240">
            <a:solidFill>
              <a:srgbClr val="775D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APIM Control Plane Icon">
            <a:extLst>
              <a:ext uri="{FF2B5EF4-FFF2-40B4-BE49-F238E27FC236}">
                <a16:creationId xmlns:a16="http://schemas.microsoft.com/office/drawing/2014/main" id="{C0B8048B-43C1-A91F-B283-A31417C0F3D0}"/>
              </a:ext>
            </a:extLst>
          </p:cNvPr>
          <p:cNvPicPr>
            <a:picLocks/>
          </p:cNvPicPr>
          <p:nvPr/>
        </p:nvPicPr>
        <p:blipFill>
          <a:blip>
            <a:extLst>
              <a:ext uri="{96DAC541-7B7A-43D3-8B79-37D633B846F1}">
                <asvg:svgBlip xmlns:asvg="http://schemas.microsoft.com/office/drawing/2016/SVG/main" r:embed="rId10"/>
              </a:ext>
            </a:extLst>
          </a:blip>
          <a:stretch>
            <a:fillRect/>
          </a:stretch>
        </p:blipFill>
        <p:spPr>
          <a:xfrm>
            <a:off x="6261100" y="2298700"/>
            <a:ext cx="228600" cy="228600"/>
          </a:xfrm>
          <a:prstGeom prst="rect">
            <a:avLst/>
          </a:prstGeom>
        </p:spPr>
      </p:pic>
      <p:sp>
        <p:nvSpPr>
          <p:cNvPr id="54" name="APIM Control Plane Title">
            <a:extLst>
              <a:ext uri="{FF2B5EF4-FFF2-40B4-BE49-F238E27FC236}">
                <a16:creationId xmlns:a16="http://schemas.microsoft.com/office/drawing/2014/main" id="{801203E0-1ECC-B010-5318-48DBDD9F61E4}"/>
              </a:ext>
            </a:extLst>
          </p:cNvPr>
          <p:cNvSpPr txBox="1"/>
          <p:nvPr/>
        </p:nvSpPr>
        <p:spPr>
          <a:xfrm>
            <a:off x="6565900" y="2260600"/>
            <a:ext cx="1270000" cy="146050"/>
          </a:xfrm>
          <a:prstGeom prst="rect">
            <a:avLst/>
          </a:prstGeom>
          <a:noFill/>
        </p:spPr>
        <p:txBody>
          <a:bodyPr vert="horz" lIns="0" tIns="0" rIns="0" bIns="0" rtlCol="0">
            <a:spAutoFit/>
          </a:bodyPr>
          <a:lstStyle/>
          <a:p>
            <a:pPr algn="ctr"/>
            <a:r>
              <a:rPr lang="en-US" sz="950" b="1">
                <a:solidFill>
                  <a:srgbClr val="102A43"/>
                </a:solidFill>
                <a:latin typeface="Aptos" panose="020B0004020202020204" pitchFamily="34" charset="0"/>
              </a:rPr>
              <a:t>APIM Control Plane</a:t>
            </a:r>
          </a:p>
        </p:txBody>
      </p:sp>
      <p:sp>
        <p:nvSpPr>
          <p:cNvPr id="60" name="APIM Control Plane Subtitle">
            <a:extLst>
              <a:ext uri="{FF2B5EF4-FFF2-40B4-BE49-F238E27FC236}">
                <a16:creationId xmlns:a16="http://schemas.microsoft.com/office/drawing/2014/main" id="{71299352-C14F-9B05-9938-70E48A87CCB8}"/>
              </a:ext>
            </a:extLst>
          </p:cNvPr>
          <p:cNvSpPr txBox="1"/>
          <p:nvPr/>
        </p:nvSpPr>
        <p:spPr>
          <a:xfrm>
            <a:off x="6565900" y="2432050"/>
            <a:ext cx="1270000" cy="115570"/>
          </a:xfrm>
          <a:prstGeom prst="rect">
            <a:avLst/>
          </a:prstGeom>
          <a:noFill/>
        </p:spPr>
        <p:txBody>
          <a:bodyPr vert="horz" lIns="0" tIns="0" rIns="0" bIns="0" rtlCol="0">
            <a:spAutoFit/>
          </a:bodyPr>
          <a:lstStyle/>
          <a:p>
            <a:pPr algn="ctr"/>
            <a:r>
              <a:rPr lang="en-US" sz="750">
                <a:solidFill>
                  <a:srgbClr val="526980"/>
                </a:solidFill>
                <a:latin typeface="Aptos" panose="020B0004020202020204" pitchFamily="34" charset="0"/>
              </a:rPr>
              <a:t>Policies and controls</a:t>
            </a:r>
          </a:p>
        </p:txBody>
      </p:sp>
      <p:sp>
        <p:nvSpPr>
          <p:cNvPr id="39" name="Application Insights Layer"/>
          <p:cNvSpPr/>
          <p:nvPr/>
        </p:nvSpPr>
        <p:spPr>
          <a:xfrm>
            <a:off x="2514600" y="5003800"/>
            <a:ext cx="6629400" cy="457200"/>
          </a:xfrm>
          <a:prstGeom prst="roundRect">
            <a:avLst/>
          </a:prstGeom>
          <a:solidFill>
            <a:srgbClr val="FFFFFF"/>
          </a:solidFill>
          <a:ln w="12700">
            <a:solidFill>
              <a:srgbClr val="DDE6EC"/>
            </a:solidFill>
            <a:prstDash val="solid"/>
          </a:ln>
        </p:spPr>
        <p:txBody>
          <a:bodyPr/>
          <a:lstStyle/>
          <a:p>
            <a:endParaRPr lang="en-US"/>
          </a:p>
        </p:txBody>
      </p:sp>
      <p:pic>
        <p:nvPicPr>
          <p:cNvPr id="36" name="Application Insights Icon">
            <a:extLst>
              <a:ext uri="{FF2B5EF4-FFF2-40B4-BE49-F238E27FC236}">
                <a16:creationId xmlns:a16="http://schemas.microsoft.com/office/drawing/2014/main" id="{04534135-1108-534F-0976-55C24FE7C67C}"/>
              </a:ext>
            </a:extLst>
          </p:cNvPr>
          <p:cNvPicPr>
            <a:picLocks/>
          </p:cNvPicPr>
          <p:nvPr/>
        </p:nvPicPr>
        <p:blipFill>
          <a:blip>
            <a:extLst>
              <a:ext uri="{96DAC541-7B7A-43D3-8B79-37D633B846F1}">
                <asvg:svgBlip xmlns:asvg="http://schemas.microsoft.com/office/drawing/2016/SVG/main" r:embed="rId11"/>
              </a:ext>
            </a:extLst>
          </a:blip>
          <a:stretch>
            <a:fillRect/>
          </a:stretch>
        </p:blipFill>
        <p:spPr>
          <a:xfrm>
            <a:off x="4914900" y="5118100"/>
            <a:ext cx="228600" cy="228600"/>
          </a:xfrm>
          <a:prstGeom prst="rect">
            <a:avLst/>
          </a:prstGeom>
        </p:spPr>
      </p:pic>
      <p:sp>
        <p:nvSpPr>
          <p:cNvPr id="41" name="Application Insights Title"/>
          <p:cNvSpPr/>
          <p:nvPr/>
        </p:nvSpPr>
        <p:spPr>
          <a:xfrm>
            <a:off x="5219700" y="5080000"/>
            <a:ext cx="1524000" cy="146050"/>
          </a:xfrm>
          <a:prstGeom prst="rect">
            <a:avLst/>
          </a:prstGeom>
          <a:noFill/>
          <a:ln/>
        </p:spPr>
        <p:txBody>
          <a:bodyPr wrap="square" lIns="0" tIns="0" rIns="0" bIns="0" rtlCol="0" anchor="ctr">
            <a:normAutofit fontScale="85000" lnSpcReduction="20000"/>
          </a:bodyPr>
          <a:lstStyle/>
          <a:p>
            <a:pPr marL="0" indent="0" algn="ctr">
              <a:buNone/>
            </a:pPr>
            <a:r>
              <a:rPr lang="en-US" sz="1300" b="1">
                <a:solidFill>
                  <a:srgbClr val="102A43"/>
                </a:solidFill>
                <a:latin typeface="Aptos Display" pitchFamily="34" charset="0"/>
                <a:ea typeface="Aptos Display" pitchFamily="34" charset="-122"/>
                <a:cs typeface="Aptos Display" pitchFamily="34" charset="-120"/>
              </a:rPr>
              <a:t>Application Insights</a:t>
            </a:r>
            <a:endParaRPr lang="en-US" sz="1300" dirty="0"/>
          </a:p>
        </p:txBody>
      </p:sp>
      <p:sp>
        <p:nvSpPr>
          <p:cNvPr id="42" name="Application Insights Body"/>
          <p:cNvSpPr/>
          <p:nvPr/>
        </p:nvSpPr>
        <p:spPr>
          <a:xfrm>
            <a:off x="5219700" y="5251450"/>
            <a:ext cx="1524000" cy="115570"/>
          </a:xfrm>
          <a:prstGeom prst="rect">
            <a:avLst/>
          </a:prstGeom>
          <a:noFill/>
          <a:ln/>
        </p:spPr>
        <p:txBody>
          <a:bodyPr wrap="square" lIns="0" tIns="0" rIns="0" bIns="0" rtlCol="0" anchor="ctr">
            <a:normAutofit fontScale="92500" lnSpcReduction="10000"/>
          </a:bodyPr>
          <a:lstStyle/>
          <a:p>
            <a:pPr marL="0" indent="0" algn="ctr">
              <a:buNone/>
            </a:pPr>
            <a:r>
              <a:rPr lang="en-US" sz="870"/>
              <a:t>Agent and APIM telemetry</a:t>
            </a:r>
            <a:endParaRPr lang="en-US" sz="87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292608"/>
            <a:ext cx="2926080" cy="201168"/>
          </a:xfrm>
          <a:prstGeom prst="rect">
            <a:avLst/>
          </a:prstGeom>
          <a:noFill/>
          <a:ln/>
        </p:spPr>
        <p:txBody>
          <a:bodyPr wrap="square" lIns="254" tIns="254" rIns="254" bIns="254" rtlCol="0" anchor="ctr"/>
          <a:lstStyle/>
          <a:p>
            <a:pPr marL="0" indent="0">
              <a:buNone/>
            </a:pPr>
            <a:r>
              <a:rPr lang="en-US" sz="900" b="1" kern="0" spc="140" dirty="0">
                <a:solidFill>
                  <a:srgbClr val="0F8B8D"/>
                </a:solidFill>
                <a:latin typeface="Aptos" pitchFamily="34" charset="0"/>
                <a:ea typeface="Aptos" pitchFamily="34" charset="-122"/>
                <a:cs typeface="Aptos" pitchFamily="34" charset="-120"/>
              </a:rPr>
              <a:t> WORKSHOP JOURNEY</a:t>
            </a:r>
            <a:endParaRPr lang="en-US" sz="900" dirty="0"/>
          </a:p>
        </p:txBody>
      </p:sp>
      <p:sp>
        <p:nvSpPr>
          <p:cNvPr id="3" name="Text 1"/>
          <p:cNvSpPr/>
          <p:nvPr/>
        </p:nvSpPr>
        <p:spPr>
          <a:xfrm>
            <a:off x="640080" y="548640"/>
            <a:ext cx="10835640" cy="502920"/>
          </a:xfrm>
          <a:prstGeom prst="rect">
            <a:avLst/>
          </a:prstGeom>
          <a:noFill/>
          <a:ln/>
        </p:spPr>
        <p:txBody>
          <a:bodyPr wrap="square" lIns="0" tIns="0" rIns="0" bIns="0" rtlCol="0" anchor="ctr">
            <a:normAutofit/>
          </a:bodyPr>
          <a:lstStyle/>
          <a:p>
            <a:pPr marL="0" indent="0">
              <a:buNone/>
            </a:pPr>
            <a:r>
              <a:rPr lang="en-US" sz="2700" b="1" dirty="0">
                <a:solidFill>
                  <a:srgbClr val="102A43"/>
                </a:solidFill>
                <a:latin typeface="Aptos Display" pitchFamily="34" charset="0"/>
                <a:ea typeface="Aptos Display" pitchFamily="34" charset="-122"/>
                <a:cs typeface="Aptos Display" pitchFamily="34" charset="-120"/>
              </a:rPr>
              <a:t>Six hours from sandbox to production decisions</a:t>
            </a:r>
            <a:endParaRPr lang="en-US" sz="2700" dirty="0"/>
          </a:p>
        </p:txBody>
      </p:sp>
      <p:sp>
        <p:nvSpPr>
          <p:cNvPr id="4" name="Text 2"/>
          <p:cNvSpPr/>
          <p:nvPr/>
        </p:nvSpPr>
        <p:spPr>
          <a:xfrm>
            <a:off x="658368" y="1078992"/>
            <a:ext cx="10698480" cy="310896"/>
          </a:xfrm>
          <a:prstGeom prst="rect">
            <a:avLst/>
          </a:prstGeom>
          <a:noFill/>
          <a:ln/>
        </p:spPr>
        <p:txBody>
          <a:bodyPr wrap="square" lIns="254" tIns="254" rIns="254" bIns="254" rtlCol="0" anchor="ctr">
            <a:normAutofit/>
          </a:bodyPr>
          <a:lstStyle/>
          <a:p>
            <a:pPr marL="0" indent="0">
              <a:buNone/>
            </a:pPr>
            <a:r>
              <a:rPr lang="en-US" sz="1250" dirty="0">
                <a:solidFill>
                  <a:srgbClr val="4F6474"/>
                </a:solidFill>
                <a:latin typeface="Aptos" pitchFamily="34" charset="0"/>
                <a:ea typeface="Aptos" pitchFamily="34" charset="-122"/>
                <a:cs typeface="Aptos" pitchFamily="34" charset="-120"/>
              </a:rPr>
              <a:t> Breaks and lunch sit outside the six hours.</a:t>
            </a:r>
            <a:endParaRPr lang="en-US" sz="1250" dirty="0"/>
          </a:p>
        </p:txBody>
      </p:sp>
      <p:sp>
        <p:nvSpPr>
          <p:cNvPr id="5" name="Shape 3"/>
          <p:cNvSpPr/>
          <p:nvPr/>
        </p:nvSpPr>
        <p:spPr>
          <a:xfrm>
            <a:off x="594360" y="2057400"/>
            <a:ext cx="1913084" cy="713232"/>
          </a:xfrm>
          <a:prstGeom prst="rect">
            <a:avLst/>
          </a:prstGeom>
          <a:solidFill>
            <a:srgbClr val="4F8EF7"/>
          </a:solidFill>
          <a:ln w="19050">
            <a:solidFill>
              <a:srgbClr val="FFFFFF"/>
            </a:solidFill>
            <a:prstDash val="solid"/>
          </a:ln>
        </p:spPr>
        <p:txBody>
          <a:bodyPr/>
          <a:lstStyle/>
          <a:p>
            <a:endParaRPr lang="en-US"/>
          </a:p>
        </p:txBody>
      </p:sp>
      <p:sp>
        <p:nvSpPr>
          <p:cNvPr id="6" name="Text 4"/>
          <p:cNvSpPr/>
          <p:nvPr/>
        </p:nvSpPr>
        <p:spPr>
          <a:xfrm>
            <a:off x="649224" y="2203704"/>
            <a:ext cx="1803356" cy="365760"/>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Lab 0</a:t>
            </a:r>
            <a:endParaRPr lang="en-US" sz="950" dirty="0"/>
          </a:p>
          <a:p>
            <a:pPr marL="0" indent="0" algn="ctr">
              <a:buNone/>
            </a:pPr>
            <a:r>
              <a:rPr lang="en-US" sz="950" b="1" dirty="0">
                <a:solidFill>
                  <a:srgbClr val="FFFFFF"/>
                </a:solidFill>
                <a:latin typeface="Aptos" pitchFamily="34" charset="0"/>
                <a:ea typeface="Aptos" pitchFamily="34" charset="-122"/>
                <a:cs typeface="Aptos" pitchFamily="34" charset="-120"/>
              </a:rPr>
              <a:t>60 min</a:t>
            </a:r>
            <a:endParaRPr lang="en-US" sz="950" dirty="0"/>
          </a:p>
        </p:txBody>
      </p:sp>
      <p:sp>
        <p:nvSpPr>
          <p:cNvPr id="7" name="Shape 5"/>
          <p:cNvSpPr/>
          <p:nvPr/>
        </p:nvSpPr>
        <p:spPr>
          <a:xfrm>
            <a:off x="2507444" y="1965960"/>
            <a:ext cx="0" cy="896112"/>
          </a:xfrm>
          <a:prstGeom prst="line">
            <a:avLst/>
          </a:prstGeom>
          <a:noFill/>
          <a:ln w="19050">
            <a:solidFill>
              <a:srgbClr val="FFFFFF"/>
            </a:solidFill>
            <a:prstDash val="solid"/>
          </a:ln>
        </p:spPr>
        <p:txBody>
          <a:bodyPr/>
          <a:lstStyle/>
          <a:p>
            <a:endParaRPr lang="en-US"/>
          </a:p>
        </p:txBody>
      </p:sp>
      <p:sp>
        <p:nvSpPr>
          <p:cNvPr id="8" name="Shape 6"/>
          <p:cNvSpPr/>
          <p:nvPr/>
        </p:nvSpPr>
        <p:spPr>
          <a:xfrm>
            <a:off x="2507444" y="2057400"/>
            <a:ext cx="2869626" cy="713232"/>
          </a:xfrm>
          <a:prstGeom prst="rect">
            <a:avLst/>
          </a:prstGeom>
          <a:solidFill>
            <a:srgbClr val="0F8B8D"/>
          </a:solidFill>
          <a:ln w="19050">
            <a:solidFill>
              <a:srgbClr val="FFFFFF"/>
            </a:solidFill>
            <a:prstDash val="solid"/>
          </a:ln>
        </p:spPr>
        <p:txBody>
          <a:bodyPr/>
          <a:lstStyle/>
          <a:p>
            <a:endParaRPr lang="en-US"/>
          </a:p>
        </p:txBody>
      </p:sp>
      <p:sp>
        <p:nvSpPr>
          <p:cNvPr id="9" name="Text 7"/>
          <p:cNvSpPr/>
          <p:nvPr/>
        </p:nvSpPr>
        <p:spPr>
          <a:xfrm>
            <a:off x="2562308" y="2203704"/>
            <a:ext cx="2759898" cy="365760"/>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Labs 1 + 2</a:t>
            </a:r>
            <a:endParaRPr lang="en-US" sz="950" dirty="0"/>
          </a:p>
          <a:p>
            <a:pPr marL="0" indent="0" algn="ctr">
              <a:buNone/>
            </a:pPr>
            <a:r>
              <a:rPr lang="en-US" sz="950" b="1" dirty="0">
                <a:solidFill>
                  <a:srgbClr val="FFFFFF"/>
                </a:solidFill>
                <a:latin typeface="Aptos" pitchFamily="34" charset="0"/>
                <a:ea typeface="Aptos" pitchFamily="34" charset="-122"/>
                <a:cs typeface="Aptos" pitchFamily="34" charset="-120"/>
              </a:rPr>
              <a:t>90 min</a:t>
            </a:r>
            <a:endParaRPr lang="en-US" sz="950" dirty="0"/>
          </a:p>
        </p:txBody>
      </p:sp>
      <p:sp>
        <p:nvSpPr>
          <p:cNvPr id="10" name="Shape 8"/>
          <p:cNvSpPr/>
          <p:nvPr/>
        </p:nvSpPr>
        <p:spPr>
          <a:xfrm>
            <a:off x="5377070" y="1965960"/>
            <a:ext cx="0" cy="896112"/>
          </a:xfrm>
          <a:prstGeom prst="line">
            <a:avLst/>
          </a:prstGeom>
          <a:noFill/>
          <a:ln w="19050">
            <a:solidFill>
              <a:srgbClr val="FFFFFF"/>
            </a:solidFill>
            <a:prstDash val="solid"/>
          </a:ln>
        </p:spPr>
        <p:txBody>
          <a:bodyPr/>
          <a:lstStyle/>
          <a:p>
            <a:endParaRPr lang="en-US"/>
          </a:p>
        </p:txBody>
      </p:sp>
      <p:sp>
        <p:nvSpPr>
          <p:cNvPr id="11" name="Shape 9"/>
          <p:cNvSpPr/>
          <p:nvPr/>
        </p:nvSpPr>
        <p:spPr>
          <a:xfrm>
            <a:off x="5377070" y="2057400"/>
            <a:ext cx="2391355" cy="713232"/>
          </a:xfrm>
          <a:prstGeom prst="rect">
            <a:avLst/>
          </a:prstGeom>
          <a:solidFill>
            <a:srgbClr val="775DA6"/>
          </a:solidFill>
          <a:ln w="19050">
            <a:solidFill>
              <a:srgbClr val="FFFFFF"/>
            </a:solidFill>
            <a:prstDash val="solid"/>
          </a:ln>
        </p:spPr>
        <p:txBody>
          <a:bodyPr/>
          <a:lstStyle/>
          <a:p>
            <a:endParaRPr lang="en-US"/>
          </a:p>
        </p:txBody>
      </p:sp>
      <p:sp>
        <p:nvSpPr>
          <p:cNvPr id="12" name="Text 10"/>
          <p:cNvSpPr/>
          <p:nvPr/>
        </p:nvSpPr>
        <p:spPr>
          <a:xfrm>
            <a:off x="5431934" y="2203704"/>
            <a:ext cx="2281627" cy="365760"/>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Lab 3</a:t>
            </a:r>
            <a:endParaRPr lang="en-US" sz="950" dirty="0"/>
          </a:p>
          <a:p>
            <a:pPr marL="0" indent="0" algn="ctr">
              <a:buNone/>
            </a:pPr>
            <a:r>
              <a:rPr lang="en-US" sz="950" b="1" dirty="0">
                <a:solidFill>
                  <a:srgbClr val="FFFFFF"/>
                </a:solidFill>
                <a:latin typeface="Aptos" pitchFamily="34" charset="0"/>
                <a:ea typeface="Aptos" pitchFamily="34" charset="-122"/>
                <a:cs typeface="Aptos" pitchFamily="34" charset="-120"/>
              </a:rPr>
              <a:t>75 min</a:t>
            </a:r>
            <a:endParaRPr lang="en-US" sz="950" dirty="0"/>
          </a:p>
        </p:txBody>
      </p:sp>
      <p:sp>
        <p:nvSpPr>
          <p:cNvPr id="13" name="Shape 11"/>
          <p:cNvSpPr/>
          <p:nvPr/>
        </p:nvSpPr>
        <p:spPr>
          <a:xfrm>
            <a:off x="7768424" y="1965960"/>
            <a:ext cx="0" cy="896112"/>
          </a:xfrm>
          <a:prstGeom prst="line">
            <a:avLst/>
          </a:prstGeom>
          <a:noFill/>
          <a:ln w="19050">
            <a:solidFill>
              <a:srgbClr val="FFFFFF"/>
            </a:solidFill>
            <a:prstDash val="solid"/>
          </a:ln>
        </p:spPr>
        <p:txBody>
          <a:bodyPr/>
          <a:lstStyle/>
          <a:p>
            <a:endParaRPr lang="en-US"/>
          </a:p>
        </p:txBody>
      </p:sp>
      <p:sp>
        <p:nvSpPr>
          <p:cNvPr id="14" name="Shape 12"/>
          <p:cNvSpPr/>
          <p:nvPr/>
        </p:nvSpPr>
        <p:spPr>
          <a:xfrm>
            <a:off x="7768424" y="2057400"/>
            <a:ext cx="956542" cy="713232"/>
          </a:xfrm>
          <a:prstGeom prst="rect">
            <a:avLst/>
          </a:prstGeom>
          <a:solidFill>
            <a:srgbClr val="F4B942"/>
          </a:solidFill>
          <a:ln w="19050">
            <a:solidFill>
              <a:srgbClr val="FFFFFF"/>
            </a:solidFill>
            <a:prstDash val="solid"/>
          </a:ln>
        </p:spPr>
        <p:txBody>
          <a:bodyPr/>
          <a:lstStyle/>
          <a:p>
            <a:endParaRPr lang="en-US"/>
          </a:p>
        </p:txBody>
      </p:sp>
      <p:sp>
        <p:nvSpPr>
          <p:cNvPr id="15" name="Text 13"/>
          <p:cNvSpPr/>
          <p:nvPr/>
        </p:nvSpPr>
        <p:spPr>
          <a:xfrm>
            <a:off x="7823288" y="2203704"/>
            <a:ext cx="846814" cy="365760"/>
          </a:xfrm>
          <a:prstGeom prst="rect">
            <a:avLst/>
          </a:prstGeom>
          <a:noFill/>
          <a:ln/>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Lab 4</a:t>
            </a:r>
            <a:endParaRPr lang="en-US" sz="800" dirty="0"/>
          </a:p>
          <a:p>
            <a:pPr marL="0" indent="0" algn="ctr">
              <a:buNone/>
            </a:pPr>
            <a:r>
              <a:rPr lang="en-US" sz="800" b="1" dirty="0">
                <a:solidFill>
                  <a:srgbClr val="FFFFFF"/>
                </a:solidFill>
                <a:latin typeface="Aptos" pitchFamily="34" charset="0"/>
                <a:ea typeface="Aptos" pitchFamily="34" charset="-122"/>
                <a:cs typeface="Aptos" pitchFamily="34" charset="-120"/>
              </a:rPr>
              <a:t>30 min</a:t>
            </a:r>
            <a:endParaRPr lang="en-US" sz="800" dirty="0"/>
          </a:p>
        </p:txBody>
      </p:sp>
      <p:sp>
        <p:nvSpPr>
          <p:cNvPr id="16" name="Shape 14"/>
          <p:cNvSpPr/>
          <p:nvPr/>
        </p:nvSpPr>
        <p:spPr>
          <a:xfrm>
            <a:off x="8724966" y="1965960"/>
            <a:ext cx="0" cy="896112"/>
          </a:xfrm>
          <a:prstGeom prst="line">
            <a:avLst/>
          </a:prstGeom>
          <a:noFill/>
          <a:ln w="19050">
            <a:solidFill>
              <a:srgbClr val="FFFFFF"/>
            </a:solidFill>
            <a:prstDash val="solid"/>
          </a:ln>
        </p:spPr>
        <p:txBody>
          <a:bodyPr/>
          <a:lstStyle/>
          <a:p>
            <a:endParaRPr lang="en-US"/>
          </a:p>
        </p:txBody>
      </p:sp>
      <p:sp>
        <p:nvSpPr>
          <p:cNvPr id="17" name="Shape 15"/>
          <p:cNvSpPr/>
          <p:nvPr/>
        </p:nvSpPr>
        <p:spPr>
          <a:xfrm>
            <a:off x="8724966" y="2057400"/>
            <a:ext cx="1434813" cy="713232"/>
          </a:xfrm>
          <a:prstGeom prst="rect">
            <a:avLst/>
          </a:prstGeom>
          <a:solidFill>
            <a:srgbClr val="FF7A59"/>
          </a:solidFill>
          <a:ln w="19050">
            <a:solidFill>
              <a:srgbClr val="FFFFFF"/>
            </a:solidFill>
            <a:prstDash val="solid"/>
          </a:ln>
        </p:spPr>
        <p:txBody>
          <a:bodyPr/>
          <a:lstStyle/>
          <a:p>
            <a:endParaRPr lang="en-US"/>
          </a:p>
        </p:txBody>
      </p:sp>
      <p:sp>
        <p:nvSpPr>
          <p:cNvPr id="18" name="Text 16"/>
          <p:cNvSpPr/>
          <p:nvPr/>
        </p:nvSpPr>
        <p:spPr>
          <a:xfrm>
            <a:off x="8779830" y="2203704"/>
            <a:ext cx="1325085" cy="365760"/>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Lab 5</a:t>
            </a:r>
            <a:endParaRPr lang="en-US" sz="950" dirty="0"/>
          </a:p>
          <a:p>
            <a:pPr marL="0" indent="0" algn="ctr">
              <a:buNone/>
            </a:pPr>
            <a:r>
              <a:rPr lang="en-US" sz="950" b="1" dirty="0">
                <a:solidFill>
                  <a:srgbClr val="FFFFFF"/>
                </a:solidFill>
                <a:latin typeface="Aptos" pitchFamily="34" charset="0"/>
                <a:ea typeface="Aptos" pitchFamily="34" charset="-122"/>
                <a:cs typeface="Aptos" pitchFamily="34" charset="-120"/>
              </a:rPr>
              <a:t>45 min</a:t>
            </a:r>
            <a:endParaRPr lang="en-US" sz="950" dirty="0"/>
          </a:p>
        </p:txBody>
      </p:sp>
      <p:sp>
        <p:nvSpPr>
          <p:cNvPr id="19" name="Shape 17"/>
          <p:cNvSpPr/>
          <p:nvPr/>
        </p:nvSpPr>
        <p:spPr>
          <a:xfrm>
            <a:off x="10159779" y="1965960"/>
            <a:ext cx="0" cy="896112"/>
          </a:xfrm>
          <a:prstGeom prst="line">
            <a:avLst/>
          </a:prstGeom>
          <a:noFill/>
          <a:ln w="19050">
            <a:solidFill>
              <a:srgbClr val="FFFFFF"/>
            </a:solidFill>
            <a:prstDash val="solid"/>
          </a:ln>
        </p:spPr>
        <p:txBody>
          <a:bodyPr/>
          <a:lstStyle/>
          <a:p>
            <a:endParaRPr lang="en-US"/>
          </a:p>
        </p:txBody>
      </p:sp>
      <p:sp>
        <p:nvSpPr>
          <p:cNvPr id="20" name="Shape 18"/>
          <p:cNvSpPr/>
          <p:nvPr/>
        </p:nvSpPr>
        <p:spPr>
          <a:xfrm>
            <a:off x="10159779" y="2057400"/>
            <a:ext cx="1434813" cy="713232"/>
          </a:xfrm>
          <a:prstGeom prst="rect">
            <a:avLst/>
          </a:prstGeom>
          <a:solidFill>
            <a:srgbClr val="2FA36B"/>
          </a:solidFill>
          <a:ln w="19050">
            <a:solidFill>
              <a:srgbClr val="FFFFFF"/>
            </a:solidFill>
            <a:prstDash val="solid"/>
          </a:ln>
        </p:spPr>
        <p:txBody>
          <a:bodyPr/>
          <a:lstStyle/>
          <a:p>
            <a:endParaRPr lang="en-US"/>
          </a:p>
        </p:txBody>
      </p:sp>
      <p:sp>
        <p:nvSpPr>
          <p:cNvPr id="21" name="Text 19"/>
          <p:cNvSpPr/>
          <p:nvPr/>
        </p:nvSpPr>
        <p:spPr>
          <a:xfrm>
            <a:off x="10214643" y="2203704"/>
            <a:ext cx="1325085" cy="365760"/>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Lab 6</a:t>
            </a:r>
            <a:endParaRPr lang="en-US" sz="950" dirty="0"/>
          </a:p>
          <a:p>
            <a:pPr marL="0" indent="0" algn="ctr">
              <a:buNone/>
            </a:pPr>
            <a:r>
              <a:rPr lang="en-US" sz="950" b="1" dirty="0">
                <a:solidFill>
                  <a:srgbClr val="FFFFFF"/>
                </a:solidFill>
                <a:latin typeface="Aptos" pitchFamily="34" charset="0"/>
                <a:ea typeface="Aptos" pitchFamily="34" charset="-122"/>
                <a:cs typeface="Aptos" pitchFamily="34" charset="-120"/>
              </a:rPr>
              <a:t>45 min</a:t>
            </a:r>
            <a:endParaRPr lang="en-US" sz="950" dirty="0"/>
          </a:p>
        </p:txBody>
      </p:sp>
      <p:sp>
        <p:nvSpPr>
          <p:cNvPr id="22" name="Shape 20"/>
          <p:cNvSpPr/>
          <p:nvPr/>
        </p:nvSpPr>
        <p:spPr>
          <a:xfrm>
            <a:off x="594360" y="3246120"/>
            <a:ext cx="1664208" cy="1901952"/>
          </a:xfrm>
          <a:prstGeom prst="roundRect">
            <a:avLst/>
          </a:prstGeom>
          <a:solidFill>
            <a:srgbClr val="FFFFFF"/>
          </a:solidFill>
          <a:ln w="12700">
            <a:solidFill>
              <a:srgbClr val="DDE6EC"/>
            </a:solidFill>
            <a:prstDash val="solid"/>
          </a:ln>
          <a:effectLst>
            <a:outerShdw blurRad="25400" dist="50800" dir="2700000" algn="bl" rotWithShape="0">
              <a:srgbClr val="102A43">
                <a:alpha val="14000"/>
              </a:srgbClr>
            </a:outerShdw>
          </a:effectLst>
        </p:spPr>
        <p:txBody>
          <a:bodyPr/>
          <a:lstStyle/>
          <a:p>
            <a:endParaRPr lang="en-US"/>
          </a:p>
        </p:txBody>
      </p:sp>
      <p:sp>
        <p:nvSpPr>
          <p:cNvPr id="23" name="Shape 21"/>
          <p:cNvSpPr/>
          <p:nvPr/>
        </p:nvSpPr>
        <p:spPr>
          <a:xfrm>
            <a:off x="740664" y="3401568"/>
            <a:ext cx="365760" cy="365760"/>
          </a:xfrm>
          <a:prstGeom prst="ellipse">
            <a:avLst/>
          </a:prstGeom>
          <a:solidFill>
            <a:srgbClr val="4F8EF7"/>
          </a:solidFill>
          <a:ln w="12700">
            <a:solidFill>
              <a:srgbClr val="4F8EF7"/>
            </a:solidFill>
            <a:prstDash val="solid"/>
          </a:ln>
        </p:spPr>
        <p:txBody>
          <a:bodyPr/>
          <a:lstStyle/>
          <a:p>
            <a:endParaRPr lang="en-US"/>
          </a:p>
        </p:txBody>
      </p:sp>
      <p:sp>
        <p:nvSpPr>
          <p:cNvPr id="24" name="Text 22"/>
          <p:cNvSpPr/>
          <p:nvPr/>
        </p:nvSpPr>
        <p:spPr>
          <a:xfrm>
            <a:off x="740664" y="3493008"/>
            <a:ext cx="365760" cy="109728"/>
          </a:xfrm>
          <a:prstGeom prst="rect">
            <a:avLst/>
          </a:prstGeom>
          <a:noFill/>
          <a:ln/>
        </p:spPr>
        <p:txBody>
          <a:bodyPr wrap="square" lIns="0" tIns="0" rIns="0" bIns="0" rtlCol="0" anchor="ctr"/>
          <a:lstStyle/>
          <a:p>
            <a:pPr marL="0" indent="0" algn="ctr">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25" name="Text 23"/>
          <p:cNvSpPr/>
          <p:nvPr/>
        </p:nvSpPr>
        <p:spPr>
          <a:xfrm>
            <a:off x="1170432" y="3410712"/>
            <a:ext cx="969264" cy="228600"/>
          </a:xfrm>
          <a:prstGeom prst="rect">
            <a:avLst/>
          </a:prstGeom>
          <a:noFill/>
          <a:ln/>
        </p:spPr>
        <p:txBody>
          <a:bodyPr wrap="square" lIns="0" tIns="0" rIns="0" bIns="0" rtlCol="0" anchor="ctr">
            <a:normAutofit/>
          </a:bodyPr>
          <a:lstStyle/>
          <a:p>
            <a:pPr marL="0" indent="0">
              <a:buNone/>
            </a:pPr>
            <a:r>
              <a:rPr lang="en-US" sz="1100" b="1" dirty="0">
                <a:solidFill>
                  <a:srgbClr val="102A43"/>
                </a:solidFill>
                <a:latin typeface="Aptos Display" pitchFamily="34" charset="0"/>
                <a:ea typeface="Aptos Display" pitchFamily="34" charset="-122"/>
                <a:cs typeface="Aptos Display" pitchFamily="34" charset="-120"/>
              </a:rPr>
              <a:t>Confirm</a:t>
            </a:r>
            <a:endParaRPr lang="en-US" sz="1100" dirty="0"/>
          </a:p>
        </p:txBody>
      </p:sp>
      <p:sp>
        <p:nvSpPr>
          <p:cNvPr id="26" name="Text 24"/>
          <p:cNvSpPr/>
          <p:nvPr/>
        </p:nvSpPr>
        <p:spPr>
          <a:xfrm>
            <a:off x="740664" y="3959352"/>
            <a:ext cx="1371600" cy="566928"/>
          </a:xfrm>
          <a:prstGeom prst="rect">
            <a:avLst/>
          </a:prstGeom>
          <a:noFill/>
          <a:ln/>
        </p:spPr>
        <p:txBody>
          <a:bodyPr wrap="square" lIns="0" tIns="0" rIns="0" bIns="0" rtlCol="0" anchor="ctr">
            <a:normAutofit/>
          </a:bodyPr>
          <a:lstStyle/>
          <a:p>
            <a:pPr marL="0" indent="0" algn="ctr">
              <a:buNone/>
            </a:pPr>
            <a:r>
              <a:rPr lang="en-US" sz="1020" dirty="0">
                <a:solidFill>
                  <a:srgbClr val="4F6474"/>
                </a:solidFill>
                <a:latin typeface="Aptos" pitchFamily="34" charset="0"/>
                <a:ea typeface="Aptos" pitchFamily="34" charset="-122"/>
                <a:cs typeface="Aptos" pitchFamily="34" charset="-120"/>
              </a:rPr>
              <a:t>Verified sandbox</a:t>
            </a:r>
            <a:endParaRPr lang="en-US" sz="1020" dirty="0"/>
          </a:p>
        </p:txBody>
      </p:sp>
      <p:sp>
        <p:nvSpPr>
          <p:cNvPr id="27" name="Shape 25"/>
          <p:cNvSpPr/>
          <p:nvPr/>
        </p:nvSpPr>
        <p:spPr>
          <a:xfrm>
            <a:off x="832104" y="4690872"/>
            <a:ext cx="1188720" cy="310896"/>
          </a:xfrm>
          <a:prstGeom prst="roundRect">
            <a:avLst>
              <a:gd name="adj" fmla="val 23529"/>
            </a:avLst>
          </a:prstGeom>
          <a:solidFill>
            <a:srgbClr val="4F8EF7"/>
          </a:solidFill>
          <a:ln w="12700">
            <a:solidFill>
              <a:srgbClr val="4F8EF7"/>
            </a:solidFill>
            <a:prstDash val="solid"/>
          </a:ln>
        </p:spPr>
        <p:txBody>
          <a:bodyPr/>
          <a:lstStyle/>
          <a:p>
            <a:endParaRPr lang="en-US"/>
          </a:p>
        </p:txBody>
      </p:sp>
      <p:sp>
        <p:nvSpPr>
          <p:cNvPr id="28" name="Text 26"/>
          <p:cNvSpPr/>
          <p:nvPr/>
        </p:nvSpPr>
        <p:spPr>
          <a:xfrm>
            <a:off x="905256" y="4754880"/>
            <a:ext cx="1042416" cy="146304"/>
          </a:xfrm>
          <a:prstGeom prst="rect">
            <a:avLst/>
          </a:prstGeom>
          <a:noFill/>
          <a:ln/>
        </p:spPr>
        <p:txBody>
          <a:bodyPr wrap="square" lIns="0" tIns="0" rIns="0" bIns="0" rtlCol="0" anchor="ctr">
            <a:normAutofit/>
          </a:bodyPr>
          <a:lstStyle/>
          <a:p>
            <a:pPr marL="0" indent="0" algn="ctr">
              <a:buNone/>
            </a:pPr>
            <a:r>
              <a:rPr lang="en-US" sz="850" b="1" dirty="0">
                <a:solidFill>
                  <a:srgbClr val="4F8EF7"/>
                </a:solidFill>
                <a:latin typeface="Aptos" pitchFamily="34" charset="0"/>
                <a:ea typeface="Aptos" pitchFamily="34" charset="-122"/>
                <a:cs typeface="Aptos" pitchFamily="34" charset="-120"/>
              </a:rPr>
              <a:t>LAB 0</a:t>
            </a:r>
            <a:endParaRPr lang="en-US" sz="850" dirty="0"/>
          </a:p>
        </p:txBody>
      </p:sp>
      <p:sp>
        <p:nvSpPr>
          <p:cNvPr id="29" name="Shape 27"/>
          <p:cNvSpPr/>
          <p:nvPr/>
        </p:nvSpPr>
        <p:spPr>
          <a:xfrm>
            <a:off x="2441448" y="3246120"/>
            <a:ext cx="1664208" cy="1901952"/>
          </a:xfrm>
          <a:prstGeom prst="roundRect">
            <a:avLst/>
          </a:prstGeom>
          <a:solidFill>
            <a:srgbClr val="FFFFFF"/>
          </a:solidFill>
          <a:ln w="12700">
            <a:solidFill>
              <a:srgbClr val="DDE6EC"/>
            </a:solidFill>
            <a:prstDash val="solid"/>
          </a:ln>
          <a:effectLst>
            <a:outerShdw blurRad="25400" dist="50800" dir="2700000" algn="bl" rotWithShape="0">
              <a:srgbClr val="102A43">
                <a:alpha val="14000"/>
              </a:srgbClr>
            </a:outerShdw>
          </a:effectLst>
        </p:spPr>
        <p:txBody>
          <a:bodyPr/>
          <a:lstStyle/>
          <a:p>
            <a:endParaRPr lang="en-US"/>
          </a:p>
        </p:txBody>
      </p:sp>
      <p:sp>
        <p:nvSpPr>
          <p:cNvPr id="30" name="Shape 28"/>
          <p:cNvSpPr/>
          <p:nvPr/>
        </p:nvSpPr>
        <p:spPr>
          <a:xfrm>
            <a:off x="2587752" y="3401568"/>
            <a:ext cx="365760" cy="365760"/>
          </a:xfrm>
          <a:prstGeom prst="ellipse">
            <a:avLst/>
          </a:prstGeom>
          <a:solidFill>
            <a:srgbClr val="0F8B8D"/>
          </a:solidFill>
          <a:ln w="12700">
            <a:solidFill>
              <a:srgbClr val="0F8B8D"/>
            </a:solidFill>
            <a:prstDash val="solid"/>
          </a:ln>
        </p:spPr>
        <p:txBody>
          <a:bodyPr/>
          <a:lstStyle/>
          <a:p>
            <a:endParaRPr lang="en-US"/>
          </a:p>
        </p:txBody>
      </p:sp>
      <p:sp>
        <p:nvSpPr>
          <p:cNvPr id="31" name="Text 29"/>
          <p:cNvSpPr/>
          <p:nvPr/>
        </p:nvSpPr>
        <p:spPr>
          <a:xfrm>
            <a:off x="2587752" y="3493008"/>
            <a:ext cx="365760" cy="109728"/>
          </a:xfrm>
          <a:prstGeom prst="rect">
            <a:avLst/>
          </a:prstGeom>
          <a:noFill/>
          <a:ln/>
        </p:spPr>
        <p:txBody>
          <a:bodyPr wrap="square" lIns="0" tIns="0" rIns="0" bIns="0" rtlCol="0" anchor="ctr"/>
          <a:lstStyle/>
          <a:p>
            <a:pPr marL="0" indent="0" algn="ctr">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32" name="Text 30"/>
          <p:cNvSpPr/>
          <p:nvPr/>
        </p:nvSpPr>
        <p:spPr>
          <a:xfrm>
            <a:off x="3017520" y="3410712"/>
            <a:ext cx="969264" cy="228600"/>
          </a:xfrm>
          <a:prstGeom prst="rect">
            <a:avLst/>
          </a:prstGeom>
          <a:noFill/>
          <a:ln/>
        </p:spPr>
        <p:txBody>
          <a:bodyPr wrap="square" lIns="0" tIns="0" rIns="0" bIns="0" rtlCol="0" anchor="ctr">
            <a:normAutofit/>
          </a:bodyPr>
          <a:lstStyle/>
          <a:p>
            <a:pPr marL="0" indent="0">
              <a:buNone/>
            </a:pPr>
            <a:r>
              <a:rPr lang="en-US" sz="1100" b="1" dirty="0">
                <a:solidFill>
                  <a:srgbClr val="102A43"/>
                </a:solidFill>
                <a:latin typeface="Aptos Display" pitchFamily="34" charset="0"/>
                <a:ea typeface="Aptos Display" pitchFamily="34" charset="-122"/>
                <a:cs typeface="Aptos Display" pitchFamily="34" charset="-120"/>
              </a:rPr>
              <a:t>Expose</a:t>
            </a:r>
            <a:endParaRPr lang="en-US" sz="1100" dirty="0"/>
          </a:p>
        </p:txBody>
      </p:sp>
      <p:sp>
        <p:nvSpPr>
          <p:cNvPr id="33" name="Text 31"/>
          <p:cNvSpPr/>
          <p:nvPr/>
        </p:nvSpPr>
        <p:spPr>
          <a:xfrm>
            <a:off x="2587752" y="3959352"/>
            <a:ext cx="1371600" cy="566928"/>
          </a:xfrm>
          <a:prstGeom prst="rect">
            <a:avLst/>
          </a:prstGeom>
          <a:noFill/>
          <a:ln/>
        </p:spPr>
        <p:txBody>
          <a:bodyPr wrap="square" lIns="0" tIns="0" rIns="0" bIns="0" rtlCol="0" anchor="ctr">
            <a:normAutofit/>
          </a:bodyPr>
          <a:lstStyle/>
          <a:p>
            <a:pPr marL="0" indent="0" algn="ctr">
              <a:buNone/>
            </a:pPr>
            <a:r>
              <a:rPr lang="en-US" sz="1020" dirty="0">
                <a:solidFill>
                  <a:srgbClr val="4F6474"/>
                </a:solidFill>
                <a:latin typeface="Aptos" pitchFamily="34" charset="0"/>
                <a:ea typeface="Aptos" pitchFamily="34" charset="-122"/>
                <a:cs typeface="Aptos" pitchFamily="34" charset="-120"/>
              </a:rPr>
              <a:t>REST API as MCP tools</a:t>
            </a:r>
            <a:endParaRPr lang="en-US" sz="1020" dirty="0"/>
          </a:p>
        </p:txBody>
      </p:sp>
      <p:sp>
        <p:nvSpPr>
          <p:cNvPr id="34" name="Shape 32"/>
          <p:cNvSpPr/>
          <p:nvPr/>
        </p:nvSpPr>
        <p:spPr>
          <a:xfrm>
            <a:off x="2679192" y="4690872"/>
            <a:ext cx="1188720" cy="310896"/>
          </a:xfrm>
          <a:prstGeom prst="roundRect">
            <a:avLst>
              <a:gd name="adj" fmla="val 23529"/>
            </a:avLst>
          </a:prstGeom>
          <a:solidFill>
            <a:srgbClr val="0F8B8D"/>
          </a:solidFill>
          <a:ln w="12700">
            <a:solidFill>
              <a:srgbClr val="0F8B8D"/>
            </a:solidFill>
            <a:prstDash val="solid"/>
          </a:ln>
        </p:spPr>
        <p:txBody>
          <a:bodyPr/>
          <a:lstStyle/>
          <a:p>
            <a:endParaRPr lang="en-US"/>
          </a:p>
        </p:txBody>
      </p:sp>
      <p:sp>
        <p:nvSpPr>
          <p:cNvPr id="35" name="Text 33"/>
          <p:cNvSpPr/>
          <p:nvPr/>
        </p:nvSpPr>
        <p:spPr>
          <a:xfrm>
            <a:off x="2752344" y="4754880"/>
            <a:ext cx="1042416" cy="146304"/>
          </a:xfrm>
          <a:prstGeom prst="rect">
            <a:avLst/>
          </a:prstGeom>
          <a:noFill/>
          <a:ln/>
        </p:spPr>
        <p:txBody>
          <a:bodyPr wrap="square" lIns="0" tIns="0" rIns="0" bIns="0" rtlCol="0" anchor="ctr">
            <a:normAutofit/>
          </a:bodyPr>
          <a:lstStyle/>
          <a:p>
            <a:pPr marL="0" indent="0" algn="ctr">
              <a:buNone/>
            </a:pPr>
            <a:r>
              <a:rPr lang="en-US" sz="850" b="1" dirty="0">
                <a:solidFill>
                  <a:srgbClr val="0F8B8D"/>
                </a:solidFill>
                <a:latin typeface="Aptos" pitchFamily="34" charset="0"/>
                <a:ea typeface="Aptos" pitchFamily="34" charset="-122"/>
                <a:cs typeface="Aptos" pitchFamily="34" charset="-120"/>
              </a:rPr>
              <a:t>LABS 1 + 2</a:t>
            </a:r>
            <a:endParaRPr lang="en-US" sz="850" dirty="0"/>
          </a:p>
        </p:txBody>
      </p:sp>
      <p:sp>
        <p:nvSpPr>
          <p:cNvPr id="36" name="Shape 34"/>
          <p:cNvSpPr/>
          <p:nvPr/>
        </p:nvSpPr>
        <p:spPr>
          <a:xfrm>
            <a:off x="4288536" y="3246120"/>
            <a:ext cx="1664208" cy="1901952"/>
          </a:xfrm>
          <a:prstGeom prst="roundRect">
            <a:avLst/>
          </a:prstGeom>
          <a:solidFill>
            <a:srgbClr val="FFFFFF"/>
          </a:solidFill>
          <a:ln w="12700">
            <a:solidFill>
              <a:srgbClr val="DDE6EC"/>
            </a:solidFill>
            <a:prstDash val="solid"/>
          </a:ln>
          <a:effectLst>
            <a:outerShdw blurRad="25400" dist="50800" dir="2700000" algn="bl" rotWithShape="0">
              <a:srgbClr val="102A43">
                <a:alpha val="14000"/>
              </a:srgbClr>
            </a:outerShdw>
          </a:effectLst>
        </p:spPr>
        <p:txBody>
          <a:bodyPr/>
          <a:lstStyle/>
          <a:p>
            <a:endParaRPr lang="en-US"/>
          </a:p>
        </p:txBody>
      </p:sp>
      <p:sp>
        <p:nvSpPr>
          <p:cNvPr id="37" name="Shape 35"/>
          <p:cNvSpPr/>
          <p:nvPr/>
        </p:nvSpPr>
        <p:spPr>
          <a:xfrm>
            <a:off x="4434840" y="3401568"/>
            <a:ext cx="365760" cy="365760"/>
          </a:xfrm>
          <a:prstGeom prst="ellipse">
            <a:avLst/>
          </a:prstGeom>
          <a:solidFill>
            <a:srgbClr val="775DA6"/>
          </a:solidFill>
          <a:ln w="12700">
            <a:solidFill>
              <a:srgbClr val="775DA6"/>
            </a:solidFill>
            <a:prstDash val="solid"/>
          </a:ln>
        </p:spPr>
        <p:txBody>
          <a:bodyPr/>
          <a:lstStyle/>
          <a:p>
            <a:endParaRPr lang="en-US"/>
          </a:p>
        </p:txBody>
      </p:sp>
      <p:sp>
        <p:nvSpPr>
          <p:cNvPr id="38" name="Text 36"/>
          <p:cNvSpPr/>
          <p:nvPr/>
        </p:nvSpPr>
        <p:spPr>
          <a:xfrm>
            <a:off x="4434840" y="3493008"/>
            <a:ext cx="365760" cy="109728"/>
          </a:xfrm>
          <a:prstGeom prst="rect">
            <a:avLst/>
          </a:prstGeom>
          <a:noFill/>
          <a:ln/>
        </p:spPr>
        <p:txBody>
          <a:bodyPr wrap="square" lIns="0" tIns="0" rIns="0" bIns="0" rtlCol="0" anchor="ctr"/>
          <a:lstStyle/>
          <a:p>
            <a:pPr marL="0" indent="0" algn="ctr">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39" name="Text 37"/>
          <p:cNvSpPr/>
          <p:nvPr/>
        </p:nvSpPr>
        <p:spPr>
          <a:xfrm>
            <a:off x="4864608" y="3410712"/>
            <a:ext cx="969264" cy="228600"/>
          </a:xfrm>
          <a:prstGeom prst="rect">
            <a:avLst/>
          </a:prstGeom>
          <a:noFill/>
          <a:ln/>
        </p:spPr>
        <p:txBody>
          <a:bodyPr wrap="square" lIns="0" tIns="0" rIns="0" bIns="0" rtlCol="0" anchor="ctr">
            <a:normAutofit/>
          </a:bodyPr>
          <a:lstStyle/>
          <a:p>
            <a:pPr marL="0" indent="0">
              <a:buNone/>
            </a:pPr>
            <a:r>
              <a:rPr lang="en-US" sz="1100" b="1" dirty="0">
                <a:solidFill>
                  <a:srgbClr val="102A43"/>
                </a:solidFill>
                <a:latin typeface="Aptos Display" pitchFamily="34" charset="0"/>
                <a:ea typeface="Aptos Display" pitchFamily="34" charset="-122"/>
                <a:cs typeface="Aptos Display" pitchFamily="34" charset="-120"/>
              </a:rPr>
              <a:t>Build</a:t>
            </a:r>
            <a:endParaRPr lang="en-US" sz="1100" dirty="0"/>
          </a:p>
        </p:txBody>
      </p:sp>
      <p:sp>
        <p:nvSpPr>
          <p:cNvPr id="40" name="Text 38"/>
          <p:cNvSpPr/>
          <p:nvPr/>
        </p:nvSpPr>
        <p:spPr>
          <a:xfrm>
            <a:off x="4434840" y="3959352"/>
            <a:ext cx="1371600" cy="566928"/>
          </a:xfrm>
          <a:prstGeom prst="rect">
            <a:avLst/>
          </a:prstGeom>
          <a:noFill/>
          <a:ln/>
        </p:spPr>
        <p:txBody>
          <a:bodyPr wrap="square" lIns="0" tIns="0" rIns="0" bIns="0" rtlCol="0" anchor="ctr">
            <a:normAutofit/>
          </a:bodyPr>
          <a:lstStyle/>
          <a:p>
            <a:pPr marL="0" indent="0" algn="ctr">
              <a:buNone/>
            </a:pPr>
            <a:r>
              <a:rPr lang="en-US" sz="1020" dirty="0">
                <a:solidFill>
                  <a:srgbClr val="4F6474"/>
                </a:solidFill>
                <a:latin typeface="Aptos" pitchFamily="34" charset="0"/>
                <a:ea typeface="Aptos" pitchFamily="34" charset="-122"/>
                <a:cs typeface="Aptos" pitchFamily="34" charset="-120"/>
              </a:rPr>
              <a:t>Code-first agent</a:t>
            </a:r>
            <a:endParaRPr lang="en-US" sz="1020" dirty="0"/>
          </a:p>
        </p:txBody>
      </p:sp>
      <p:sp>
        <p:nvSpPr>
          <p:cNvPr id="41" name="Shape 39"/>
          <p:cNvSpPr/>
          <p:nvPr/>
        </p:nvSpPr>
        <p:spPr>
          <a:xfrm>
            <a:off x="4526280" y="4690872"/>
            <a:ext cx="1188720" cy="310896"/>
          </a:xfrm>
          <a:prstGeom prst="roundRect">
            <a:avLst>
              <a:gd name="adj" fmla="val 23529"/>
            </a:avLst>
          </a:prstGeom>
          <a:solidFill>
            <a:srgbClr val="775DA6"/>
          </a:solidFill>
          <a:ln w="12700">
            <a:solidFill>
              <a:srgbClr val="775DA6"/>
            </a:solidFill>
            <a:prstDash val="solid"/>
          </a:ln>
        </p:spPr>
        <p:txBody>
          <a:bodyPr/>
          <a:lstStyle/>
          <a:p>
            <a:endParaRPr lang="en-US"/>
          </a:p>
        </p:txBody>
      </p:sp>
      <p:sp>
        <p:nvSpPr>
          <p:cNvPr id="42" name="Text 40"/>
          <p:cNvSpPr/>
          <p:nvPr/>
        </p:nvSpPr>
        <p:spPr>
          <a:xfrm>
            <a:off x="4599432" y="4754880"/>
            <a:ext cx="1042416" cy="146304"/>
          </a:xfrm>
          <a:prstGeom prst="rect">
            <a:avLst/>
          </a:prstGeom>
          <a:noFill/>
          <a:ln/>
        </p:spPr>
        <p:txBody>
          <a:bodyPr wrap="square" lIns="0" tIns="0" rIns="0" bIns="0" rtlCol="0" anchor="ctr">
            <a:normAutofit/>
          </a:bodyPr>
          <a:lstStyle/>
          <a:p>
            <a:pPr marL="0" indent="0" algn="ctr">
              <a:buNone/>
            </a:pPr>
            <a:r>
              <a:rPr lang="en-US" sz="850" b="1" dirty="0">
                <a:solidFill>
                  <a:srgbClr val="775DA6"/>
                </a:solidFill>
                <a:latin typeface="Aptos" pitchFamily="34" charset="0"/>
                <a:ea typeface="Aptos" pitchFamily="34" charset="-122"/>
                <a:cs typeface="Aptos" pitchFamily="34" charset="-120"/>
              </a:rPr>
              <a:t>LAB 3</a:t>
            </a:r>
            <a:endParaRPr lang="en-US" sz="850" dirty="0"/>
          </a:p>
        </p:txBody>
      </p:sp>
      <p:sp>
        <p:nvSpPr>
          <p:cNvPr id="43" name="Shape 41"/>
          <p:cNvSpPr/>
          <p:nvPr/>
        </p:nvSpPr>
        <p:spPr>
          <a:xfrm>
            <a:off x="6135624" y="3246120"/>
            <a:ext cx="1664208" cy="1901952"/>
          </a:xfrm>
          <a:prstGeom prst="roundRect">
            <a:avLst/>
          </a:prstGeom>
          <a:solidFill>
            <a:srgbClr val="FFFFFF"/>
          </a:solidFill>
          <a:ln w="12700">
            <a:solidFill>
              <a:srgbClr val="DDE6EC"/>
            </a:solidFill>
            <a:prstDash val="solid"/>
          </a:ln>
          <a:effectLst>
            <a:outerShdw blurRad="25400" dist="50800" dir="2700000" algn="bl" rotWithShape="0">
              <a:srgbClr val="102A43">
                <a:alpha val="14000"/>
              </a:srgbClr>
            </a:outerShdw>
          </a:effectLst>
        </p:spPr>
        <p:txBody>
          <a:bodyPr/>
          <a:lstStyle/>
          <a:p>
            <a:endParaRPr lang="en-US"/>
          </a:p>
        </p:txBody>
      </p:sp>
      <p:sp>
        <p:nvSpPr>
          <p:cNvPr id="44" name="Shape 42"/>
          <p:cNvSpPr/>
          <p:nvPr/>
        </p:nvSpPr>
        <p:spPr>
          <a:xfrm>
            <a:off x="6281928" y="3401568"/>
            <a:ext cx="365760" cy="365760"/>
          </a:xfrm>
          <a:prstGeom prst="ellipse">
            <a:avLst/>
          </a:prstGeom>
          <a:solidFill>
            <a:srgbClr val="F4B942"/>
          </a:solidFill>
          <a:ln w="12700">
            <a:solidFill>
              <a:srgbClr val="F4B942"/>
            </a:solidFill>
            <a:prstDash val="solid"/>
          </a:ln>
        </p:spPr>
        <p:txBody>
          <a:bodyPr/>
          <a:lstStyle/>
          <a:p>
            <a:endParaRPr lang="en-US"/>
          </a:p>
        </p:txBody>
      </p:sp>
      <p:sp>
        <p:nvSpPr>
          <p:cNvPr id="45" name="Text 43"/>
          <p:cNvSpPr/>
          <p:nvPr/>
        </p:nvSpPr>
        <p:spPr>
          <a:xfrm>
            <a:off x="6281928" y="3493008"/>
            <a:ext cx="365760" cy="109728"/>
          </a:xfrm>
          <a:prstGeom prst="rect">
            <a:avLst/>
          </a:prstGeom>
          <a:noFill/>
          <a:ln/>
        </p:spPr>
        <p:txBody>
          <a:bodyPr wrap="square" lIns="0" tIns="0" rIns="0" bIns="0" rtlCol="0" anchor="ctr"/>
          <a:lstStyle/>
          <a:p>
            <a:pPr marL="0" indent="0" algn="ctr">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46" name="Text 44"/>
          <p:cNvSpPr/>
          <p:nvPr/>
        </p:nvSpPr>
        <p:spPr>
          <a:xfrm>
            <a:off x="6711696" y="3410712"/>
            <a:ext cx="969264" cy="228600"/>
          </a:xfrm>
          <a:prstGeom prst="rect">
            <a:avLst/>
          </a:prstGeom>
          <a:noFill/>
          <a:ln/>
        </p:spPr>
        <p:txBody>
          <a:bodyPr wrap="square" lIns="0" tIns="0" rIns="0" bIns="0" rtlCol="0" anchor="ctr">
            <a:normAutofit/>
          </a:bodyPr>
          <a:lstStyle/>
          <a:p>
            <a:pPr marL="0" indent="0">
              <a:buNone/>
            </a:pPr>
            <a:r>
              <a:rPr lang="en-US" sz="1100" b="1" dirty="0">
                <a:solidFill>
                  <a:srgbClr val="102A43"/>
                </a:solidFill>
                <a:latin typeface="Aptos Display" pitchFamily="34" charset="0"/>
                <a:ea typeface="Aptos Display" pitchFamily="34" charset="-122"/>
                <a:cs typeface="Aptos Display" pitchFamily="34" charset="-120"/>
              </a:rPr>
              <a:t>Compare</a:t>
            </a:r>
            <a:endParaRPr lang="en-US" sz="1100" dirty="0"/>
          </a:p>
        </p:txBody>
      </p:sp>
      <p:sp>
        <p:nvSpPr>
          <p:cNvPr id="47" name="Text 45"/>
          <p:cNvSpPr/>
          <p:nvPr/>
        </p:nvSpPr>
        <p:spPr>
          <a:xfrm>
            <a:off x="6281928" y="3959352"/>
            <a:ext cx="1371600" cy="566928"/>
          </a:xfrm>
          <a:prstGeom prst="rect">
            <a:avLst/>
          </a:prstGeom>
          <a:noFill/>
          <a:ln/>
        </p:spPr>
        <p:txBody>
          <a:bodyPr wrap="square" lIns="0" tIns="0" rIns="0" bIns="0" rtlCol="0" anchor="ctr">
            <a:normAutofit/>
          </a:bodyPr>
          <a:lstStyle/>
          <a:p>
            <a:pPr marL="0" indent="0" algn="ctr">
              <a:buNone/>
            </a:pPr>
            <a:r>
              <a:rPr lang="en-US" sz="1020" dirty="0">
                <a:solidFill>
                  <a:srgbClr val="4F6474"/>
                </a:solidFill>
                <a:latin typeface="Aptos" pitchFamily="34" charset="0"/>
                <a:ea typeface="Aptos" pitchFamily="34" charset="-122"/>
                <a:cs typeface="Aptos" pitchFamily="34" charset="-120"/>
              </a:rPr>
              <a:t>Low-code path</a:t>
            </a:r>
            <a:endParaRPr lang="en-US" sz="1020" dirty="0"/>
          </a:p>
        </p:txBody>
      </p:sp>
      <p:sp>
        <p:nvSpPr>
          <p:cNvPr id="48" name="Shape 46"/>
          <p:cNvSpPr/>
          <p:nvPr/>
        </p:nvSpPr>
        <p:spPr>
          <a:xfrm>
            <a:off x="6373368" y="4690872"/>
            <a:ext cx="1188720" cy="310896"/>
          </a:xfrm>
          <a:prstGeom prst="roundRect">
            <a:avLst>
              <a:gd name="adj" fmla="val 23529"/>
            </a:avLst>
          </a:prstGeom>
          <a:solidFill>
            <a:srgbClr val="F4B942"/>
          </a:solidFill>
          <a:ln w="12700">
            <a:solidFill>
              <a:srgbClr val="F4B942"/>
            </a:solidFill>
            <a:prstDash val="solid"/>
          </a:ln>
        </p:spPr>
        <p:txBody>
          <a:bodyPr/>
          <a:lstStyle/>
          <a:p>
            <a:endParaRPr lang="en-US"/>
          </a:p>
        </p:txBody>
      </p:sp>
      <p:sp>
        <p:nvSpPr>
          <p:cNvPr id="49" name="Text 47"/>
          <p:cNvSpPr/>
          <p:nvPr/>
        </p:nvSpPr>
        <p:spPr>
          <a:xfrm>
            <a:off x="6446520" y="4754880"/>
            <a:ext cx="1042416" cy="146304"/>
          </a:xfrm>
          <a:prstGeom prst="rect">
            <a:avLst/>
          </a:prstGeom>
          <a:noFill/>
          <a:ln/>
        </p:spPr>
        <p:txBody>
          <a:bodyPr wrap="square" lIns="0" tIns="0" rIns="0" bIns="0" rtlCol="0" anchor="ctr">
            <a:normAutofit/>
          </a:bodyPr>
          <a:lstStyle/>
          <a:p>
            <a:pPr marL="0" indent="0" algn="ctr">
              <a:buNone/>
            </a:pPr>
            <a:r>
              <a:rPr lang="en-US" sz="850" b="1" dirty="0">
                <a:solidFill>
                  <a:srgbClr val="F4B942"/>
                </a:solidFill>
                <a:latin typeface="Aptos" pitchFamily="34" charset="0"/>
                <a:ea typeface="Aptos" pitchFamily="34" charset="-122"/>
                <a:cs typeface="Aptos" pitchFamily="34" charset="-120"/>
              </a:rPr>
              <a:t>LAB 4</a:t>
            </a:r>
            <a:endParaRPr lang="en-US" sz="850" dirty="0"/>
          </a:p>
        </p:txBody>
      </p:sp>
      <p:sp>
        <p:nvSpPr>
          <p:cNvPr id="50" name="Shape 48"/>
          <p:cNvSpPr/>
          <p:nvPr/>
        </p:nvSpPr>
        <p:spPr>
          <a:xfrm>
            <a:off x="7982712" y="3246120"/>
            <a:ext cx="1664208" cy="1901952"/>
          </a:xfrm>
          <a:prstGeom prst="roundRect">
            <a:avLst/>
          </a:prstGeom>
          <a:solidFill>
            <a:srgbClr val="FFFFFF"/>
          </a:solidFill>
          <a:ln w="12700">
            <a:solidFill>
              <a:srgbClr val="DDE6EC"/>
            </a:solidFill>
            <a:prstDash val="solid"/>
          </a:ln>
          <a:effectLst>
            <a:outerShdw blurRad="25400" dist="50800" dir="2700000" algn="bl" rotWithShape="0">
              <a:srgbClr val="102A43">
                <a:alpha val="14000"/>
              </a:srgbClr>
            </a:outerShdw>
          </a:effectLst>
        </p:spPr>
        <p:txBody>
          <a:bodyPr/>
          <a:lstStyle/>
          <a:p>
            <a:endParaRPr lang="en-US"/>
          </a:p>
        </p:txBody>
      </p:sp>
      <p:sp>
        <p:nvSpPr>
          <p:cNvPr id="51" name="Shape 49"/>
          <p:cNvSpPr/>
          <p:nvPr/>
        </p:nvSpPr>
        <p:spPr>
          <a:xfrm>
            <a:off x="8129016" y="3401568"/>
            <a:ext cx="365760" cy="365760"/>
          </a:xfrm>
          <a:prstGeom prst="ellipse">
            <a:avLst/>
          </a:prstGeom>
          <a:solidFill>
            <a:srgbClr val="FF7A59"/>
          </a:solidFill>
          <a:ln w="12700">
            <a:solidFill>
              <a:srgbClr val="FF7A59"/>
            </a:solidFill>
            <a:prstDash val="solid"/>
          </a:ln>
        </p:spPr>
        <p:txBody>
          <a:bodyPr/>
          <a:lstStyle/>
          <a:p>
            <a:endParaRPr lang="en-US"/>
          </a:p>
        </p:txBody>
      </p:sp>
      <p:sp>
        <p:nvSpPr>
          <p:cNvPr id="52" name="Text 50"/>
          <p:cNvSpPr/>
          <p:nvPr/>
        </p:nvSpPr>
        <p:spPr>
          <a:xfrm>
            <a:off x="8129016" y="3493008"/>
            <a:ext cx="365760" cy="109728"/>
          </a:xfrm>
          <a:prstGeom prst="rect">
            <a:avLst/>
          </a:prstGeom>
          <a:noFill/>
          <a:ln/>
        </p:spPr>
        <p:txBody>
          <a:bodyPr wrap="square" lIns="0" tIns="0" rIns="0" bIns="0" rtlCol="0" anchor="ctr"/>
          <a:lstStyle/>
          <a:p>
            <a:pPr marL="0" indent="0" algn="ctr">
              <a:buNone/>
            </a:pPr>
            <a:r>
              <a:rPr lang="en-US" sz="850" b="1" dirty="0">
                <a:solidFill>
                  <a:srgbClr val="FFFFFF"/>
                </a:solidFill>
                <a:latin typeface="Aptos" pitchFamily="34" charset="0"/>
                <a:ea typeface="Aptos" pitchFamily="34" charset="-122"/>
                <a:cs typeface="Aptos" pitchFamily="34" charset="-120"/>
              </a:rPr>
              <a:t>5</a:t>
            </a:r>
            <a:endParaRPr lang="en-US" sz="850" dirty="0"/>
          </a:p>
        </p:txBody>
      </p:sp>
      <p:sp>
        <p:nvSpPr>
          <p:cNvPr id="53" name="Text 51"/>
          <p:cNvSpPr/>
          <p:nvPr/>
        </p:nvSpPr>
        <p:spPr>
          <a:xfrm>
            <a:off x="8558784" y="3410712"/>
            <a:ext cx="969264" cy="228600"/>
          </a:xfrm>
          <a:prstGeom prst="rect">
            <a:avLst/>
          </a:prstGeom>
          <a:noFill/>
          <a:ln/>
        </p:spPr>
        <p:txBody>
          <a:bodyPr wrap="square" lIns="0" tIns="0" rIns="0" bIns="0" rtlCol="0" anchor="ctr">
            <a:normAutofit/>
          </a:bodyPr>
          <a:lstStyle/>
          <a:p>
            <a:pPr marL="0" indent="0">
              <a:buNone/>
            </a:pPr>
            <a:r>
              <a:rPr lang="en-US" sz="1100" b="1" dirty="0">
                <a:solidFill>
                  <a:srgbClr val="102A43"/>
                </a:solidFill>
                <a:latin typeface="Aptos Display" pitchFamily="34" charset="0"/>
                <a:ea typeface="Aptos Display" pitchFamily="34" charset="-122"/>
                <a:cs typeface="Aptos Display" pitchFamily="34" charset="-120"/>
              </a:rPr>
              <a:t>Govern</a:t>
            </a:r>
            <a:endParaRPr lang="en-US" sz="1100" dirty="0"/>
          </a:p>
        </p:txBody>
      </p:sp>
      <p:sp>
        <p:nvSpPr>
          <p:cNvPr id="54" name="Text 52"/>
          <p:cNvSpPr/>
          <p:nvPr/>
        </p:nvSpPr>
        <p:spPr>
          <a:xfrm>
            <a:off x="8129016" y="3959352"/>
            <a:ext cx="1371600" cy="566928"/>
          </a:xfrm>
          <a:prstGeom prst="rect">
            <a:avLst/>
          </a:prstGeom>
          <a:noFill/>
          <a:ln/>
        </p:spPr>
        <p:txBody>
          <a:bodyPr wrap="square" lIns="0" tIns="0" rIns="0" bIns="0" rtlCol="0" anchor="ctr">
            <a:normAutofit/>
          </a:bodyPr>
          <a:lstStyle/>
          <a:p>
            <a:pPr marL="0" indent="0" algn="ctr">
              <a:buNone/>
            </a:pPr>
            <a:r>
              <a:rPr lang="en-US" sz="1020" dirty="0">
                <a:solidFill>
                  <a:srgbClr val="4F6474"/>
                </a:solidFill>
                <a:latin typeface="Aptos" pitchFamily="34" charset="0"/>
                <a:ea typeface="Aptos" pitchFamily="34" charset="-122"/>
                <a:cs typeface="Aptos" pitchFamily="34" charset="-120"/>
              </a:rPr>
              <a:t>Security and monitoring</a:t>
            </a:r>
            <a:endParaRPr lang="en-US" sz="1020" dirty="0"/>
          </a:p>
        </p:txBody>
      </p:sp>
      <p:sp>
        <p:nvSpPr>
          <p:cNvPr id="55" name="Shape 53"/>
          <p:cNvSpPr/>
          <p:nvPr/>
        </p:nvSpPr>
        <p:spPr>
          <a:xfrm>
            <a:off x="8220456" y="4690872"/>
            <a:ext cx="1188720" cy="310896"/>
          </a:xfrm>
          <a:prstGeom prst="roundRect">
            <a:avLst>
              <a:gd name="adj" fmla="val 23529"/>
            </a:avLst>
          </a:prstGeom>
          <a:solidFill>
            <a:srgbClr val="FF7A59"/>
          </a:solidFill>
          <a:ln w="12700">
            <a:solidFill>
              <a:srgbClr val="FF7A59"/>
            </a:solidFill>
            <a:prstDash val="solid"/>
          </a:ln>
        </p:spPr>
        <p:txBody>
          <a:bodyPr/>
          <a:lstStyle/>
          <a:p>
            <a:endParaRPr lang="en-US"/>
          </a:p>
        </p:txBody>
      </p:sp>
      <p:sp>
        <p:nvSpPr>
          <p:cNvPr id="56" name="Text 54"/>
          <p:cNvSpPr/>
          <p:nvPr/>
        </p:nvSpPr>
        <p:spPr>
          <a:xfrm>
            <a:off x="8293608" y="4754880"/>
            <a:ext cx="1042416" cy="146304"/>
          </a:xfrm>
          <a:prstGeom prst="rect">
            <a:avLst/>
          </a:prstGeom>
          <a:noFill/>
          <a:ln/>
        </p:spPr>
        <p:txBody>
          <a:bodyPr wrap="square" lIns="0" tIns="0" rIns="0" bIns="0" rtlCol="0" anchor="ctr">
            <a:normAutofit/>
          </a:bodyPr>
          <a:lstStyle/>
          <a:p>
            <a:pPr marL="0" indent="0" algn="ctr">
              <a:buNone/>
            </a:pPr>
            <a:r>
              <a:rPr lang="en-US" sz="850" b="1" dirty="0">
                <a:solidFill>
                  <a:srgbClr val="FF7A59"/>
                </a:solidFill>
                <a:latin typeface="Aptos" pitchFamily="34" charset="0"/>
                <a:ea typeface="Aptos" pitchFamily="34" charset="-122"/>
                <a:cs typeface="Aptos" pitchFamily="34" charset="-120"/>
              </a:rPr>
              <a:t>LAB 5</a:t>
            </a:r>
            <a:endParaRPr lang="en-US" sz="850" dirty="0"/>
          </a:p>
        </p:txBody>
      </p:sp>
      <p:sp>
        <p:nvSpPr>
          <p:cNvPr id="57" name="Shape 55"/>
          <p:cNvSpPr/>
          <p:nvPr/>
        </p:nvSpPr>
        <p:spPr>
          <a:xfrm>
            <a:off x="9829800" y="3246120"/>
            <a:ext cx="1664208" cy="1901952"/>
          </a:xfrm>
          <a:prstGeom prst="roundRect">
            <a:avLst/>
          </a:prstGeom>
          <a:solidFill>
            <a:srgbClr val="FFFFFF"/>
          </a:solidFill>
          <a:ln w="12700">
            <a:solidFill>
              <a:srgbClr val="DDE6EC"/>
            </a:solidFill>
            <a:prstDash val="solid"/>
          </a:ln>
          <a:effectLst>
            <a:outerShdw blurRad="25400" dist="50800" dir="2700000" algn="bl" rotWithShape="0">
              <a:srgbClr val="102A43">
                <a:alpha val="14000"/>
              </a:srgbClr>
            </a:outerShdw>
          </a:effectLst>
        </p:spPr>
        <p:txBody>
          <a:bodyPr/>
          <a:lstStyle/>
          <a:p>
            <a:endParaRPr lang="en-US"/>
          </a:p>
        </p:txBody>
      </p:sp>
      <p:sp>
        <p:nvSpPr>
          <p:cNvPr id="58" name="Shape 56"/>
          <p:cNvSpPr/>
          <p:nvPr/>
        </p:nvSpPr>
        <p:spPr>
          <a:xfrm>
            <a:off x="9976104" y="3401568"/>
            <a:ext cx="365760" cy="365760"/>
          </a:xfrm>
          <a:prstGeom prst="ellipse">
            <a:avLst/>
          </a:prstGeom>
          <a:solidFill>
            <a:srgbClr val="2FA36B"/>
          </a:solidFill>
          <a:ln w="12700">
            <a:solidFill>
              <a:srgbClr val="2FA36B"/>
            </a:solidFill>
            <a:prstDash val="solid"/>
          </a:ln>
        </p:spPr>
        <p:txBody>
          <a:bodyPr/>
          <a:lstStyle/>
          <a:p>
            <a:endParaRPr lang="en-US"/>
          </a:p>
        </p:txBody>
      </p:sp>
      <p:sp>
        <p:nvSpPr>
          <p:cNvPr id="59" name="Text 57"/>
          <p:cNvSpPr/>
          <p:nvPr/>
        </p:nvSpPr>
        <p:spPr>
          <a:xfrm>
            <a:off x="9976104" y="3493008"/>
            <a:ext cx="365760" cy="109728"/>
          </a:xfrm>
          <a:prstGeom prst="rect">
            <a:avLst/>
          </a:prstGeom>
          <a:noFill/>
          <a:ln/>
        </p:spPr>
        <p:txBody>
          <a:bodyPr wrap="square" lIns="0" tIns="0" rIns="0" bIns="0" rtlCol="0" anchor="ctr"/>
          <a:lstStyle/>
          <a:p>
            <a:pPr marL="0" indent="0" algn="ctr">
              <a:buNone/>
            </a:pPr>
            <a:r>
              <a:rPr lang="en-US" sz="850" b="1" dirty="0">
                <a:solidFill>
                  <a:srgbClr val="FFFFFF"/>
                </a:solidFill>
                <a:latin typeface="Aptos" pitchFamily="34" charset="0"/>
                <a:ea typeface="Aptos" pitchFamily="34" charset="-122"/>
                <a:cs typeface="Aptos" pitchFamily="34" charset="-120"/>
              </a:rPr>
              <a:t>6</a:t>
            </a:r>
            <a:endParaRPr lang="en-US" sz="850" dirty="0"/>
          </a:p>
        </p:txBody>
      </p:sp>
      <p:sp>
        <p:nvSpPr>
          <p:cNvPr id="60" name="Text 58"/>
          <p:cNvSpPr/>
          <p:nvPr/>
        </p:nvSpPr>
        <p:spPr>
          <a:xfrm>
            <a:off x="10405872" y="3410712"/>
            <a:ext cx="969264" cy="228600"/>
          </a:xfrm>
          <a:prstGeom prst="rect">
            <a:avLst/>
          </a:prstGeom>
          <a:noFill/>
          <a:ln/>
        </p:spPr>
        <p:txBody>
          <a:bodyPr wrap="square" lIns="0" tIns="0" rIns="0" bIns="0" rtlCol="0" anchor="ctr">
            <a:normAutofit/>
          </a:bodyPr>
          <a:lstStyle/>
          <a:p>
            <a:pPr marL="0" indent="0">
              <a:buNone/>
            </a:pPr>
            <a:r>
              <a:rPr lang="en-US" sz="1100" b="1" dirty="0">
                <a:solidFill>
                  <a:srgbClr val="102A43"/>
                </a:solidFill>
                <a:latin typeface="Aptos Display" pitchFamily="34" charset="0"/>
                <a:ea typeface="Aptos Display" pitchFamily="34" charset="-122"/>
                <a:cs typeface="Aptos Display" pitchFamily="34" charset="-120"/>
              </a:rPr>
              <a:t>Demonstrate</a:t>
            </a:r>
            <a:endParaRPr lang="en-US" sz="1100" dirty="0"/>
          </a:p>
        </p:txBody>
      </p:sp>
      <p:sp>
        <p:nvSpPr>
          <p:cNvPr id="61" name="Text 59"/>
          <p:cNvSpPr/>
          <p:nvPr/>
        </p:nvSpPr>
        <p:spPr>
          <a:xfrm>
            <a:off x="9976104" y="3959352"/>
            <a:ext cx="1371600" cy="566928"/>
          </a:xfrm>
          <a:prstGeom prst="rect">
            <a:avLst/>
          </a:prstGeom>
          <a:noFill/>
          <a:ln/>
        </p:spPr>
        <p:txBody>
          <a:bodyPr wrap="square" lIns="0" tIns="0" rIns="0" bIns="0" rtlCol="0" anchor="ctr">
            <a:normAutofit/>
          </a:bodyPr>
          <a:lstStyle/>
          <a:p>
            <a:pPr marL="0" indent="0" algn="ctr">
              <a:buNone/>
            </a:pPr>
            <a:r>
              <a:rPr lang="en-US" sz="1020" dirty="0">
                <a:solidFill>
                  <a:srgbClr val="4F6474"/>
                </a:solidFill>
                <a:latin typeface="Aptos" pitchFamily="34" charset="0"/>
                <a:ea typeface="Aptos" pitchFamily="34" charset="-122"/>
                <a:cs typeface="Aptos" pitchFamily="34" charset="-120"/>
              </a:rPr>
              <a:t>Validated pattern</a:t>
            </a:r>
            <a:endParaRPr lang="en-US" sz="1020" dirty="0"/>
          </a:p>
        </p:txBody>
      </p:sp>
      <p:sp>
        <p:nvSpPr>
          <p:cNvPr id="62" name="Shape 60"/>
          <p:cNvSpPr/>
          <p:nvPr/>
        </p:nvSpPr>
        <p:spPr>
          <a:xfrm>
            <a:off x="10067544" y="4690872"/>
            <a:ext cx="1188720" cy="310896"/>
          </a:xfrm>
          <a:prstGeom prst="roundRect">
            <a:avLst>
              <a:gd name="adj" fmla="val 23529"/>
            </a:avLst>
          </a:prstGeom>
          <a:solidFill>
            <a:srgbClr val="2FA36B"/>
          </a:solidFill>
          <a:ln w="12700">
            <a:solidFill>
              <a:srgbClr val="2FA36B"/>
            </a:solidFill>
            <a:prstDash val="solid"/>
          </a:ln>
        </p:spPr>
        <p:txBody>
          <a:bodyPr/>
          <a:lstStyle/>
          <a:p>
            <a:endParaRPr lang="en-US"/>
          </a:p>
        </p:txBody>
      </p:sp>
      <p:sp>
        <p:nvSpPr>
          <p:cNvPr id="63" name="Text 61"/>
          <p:cNvSpPr/>
          <p:nvPr/>
        </p:nvSpPr>
        <p:spPr>
          <a:xfrm>
            <a:off x="10140696" y="4754880"/>
            <a:ext cx="1042416" cy="146304"/>
          </a:xfrm>
          <a:prstGeom prst="rect">
            <a:avLst/>
          </a:prstGeom>
          <a:noFill/>
          <a:ln/>
        </p:spPr>
        <p:txBody>
          <a:bodyPr wrap="square" lIns="0" tIns="0" rIns="0" bIns="0" rtlCol="0" anchor="ctr">
            <a:normAutofit/>
          </a:bodyPr>
          <a:lstStyle/>
          <a:p>
            <a:pPr marL="0" indent="0" algn="ctr">
              <a:buNone/>
            </a:pPr>
            <a:r>
              <a:rPr lang="en-US" sz="850" b="1" dirty="0">
                <a:solidFill>
                  <a:srgbClr val="2FA36B"/>
                </a:solidFill>
                <a:latin typeface="Aptos" pitchFamily="34" charset="0"/>
                <a:ea typeface="Aptos" pitchFamily="34" charset="-122"/>
                <a:cs typeface="Aptos" pitchFamily="34" charset="-120"/>
              </a:rPr>
              <a:t>LAB 6</a:t>
            </a:r>
            <a:endParaRPr lang="en-US" sz="850" dirty="0"/>
          </a:p>
        </p:txBody>
      </p:sp>
      <p:sp>
        <p:nvSpPr>
          <p:cNvPr id="64" name="Text 62"/>
          <p:cNvSpPr/>
          <p:nvPr/>
        </p:nvSpPr>
        <p:spPr>
          <a:xfrm>
            <a:off x="566928" y="6528816"/>
            <a:ext cx="4389120" cy="146304"/>
          </a:xfrm>
          <a:prstGeom prst="rect">
            <a:avLst/>
          </a:prstGeom>
          <a:noFill/>
          <a:ln/>
        </p:spPr>
        <p:txBody>
          <a:bodyPr wrap="square" lIns="0" tIns="0" rIns="0" bIns="0" rtlCol="0" anchor="ctr"/>
          <a:lstStyle/>
          <a:p>
            <a:pPr marL="0" indent="0">
              <a:buNone/>
            </a:pPr>
            <a:r>
              <a:rPr lang="en-US" sz="750" dirty="0">
                <a:solidFill>
                  <a:srgbClr val="748494"/>
                </a:solidFill>
                <a:latin typeface="Aptos" pitchFamily="34" charset="0"/>
                <a:ea typeface="Aptos" pitchFamily="34" charset="-122"/>
                <a:cs typeface="Aptos" pitchFamily="34" charset="-120"/>
              </a:rPr>
              <a:t>Six hours of guided build time</a:t>
            </a:r>
            <a:endParaRPr lang="en-US" sz="750" dirty="0"/>
          </a:p>
        </p:txBody>
      </p:sp>
      <p:sp>
        <p:nvSpPr>
          <p:cNvPr id="65" name="Slide Number Placeholder 0"/>
          <p:cNvSpPr>
            <a:spLocks noGrp="1"/>
          </p:cNvSpPr>
          <p:nvPr>
            <p:ph type="sldNum" sz="quarter" idx="4294967295"/>
          </p:nvPr>
        </p:nvSpPr>
        <p:spPr>
          <a:xfrm>
            <a:off x="11109960" y="6510528"/>
            <a:ext cx="548640"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748494"/>
                </a:solidFill>
                <a:latin typeface="Aptos"/>
                <a:ea typeface="Aptos"/>
                <a:cs typeface="Aptos"/>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292608"/>
            <a:ext cx="2926080" cy="201168"/>
          </a:xfrm>
          <a:prstGeom prst="rect">
            <a:avLst/>
          </a:prstGeom>
          <a:noFill/>
          <a:ln/>
        </p:spPr>
        <p:txBody>
          <a:bodyPr wrap="square" lIns="254" tIns="254" rIns="254" bIns="254" rtlCol="0" anchor="ctr"/>
          <a:lstStyle/>
          <a:p>
            <a:pPr marL="0" indent="0">
              <a:buNone/>
            </a:pPr>
            <a:r>
              <a:rPr lang="en-US" sz="900" b="1" kern="0" spc="140" dirty="0">
                <a:solidFill>
                  <a:srgbClr val="0F8B8D"/>
                </a:solidFill>
                <a:latin typeface="Aptos" pitchFamily="34" charset="0"/>
                <a:ea typeface="Aptos" pitchFamily="34" charset="-122"/>
                <a:cs typeface="Aptos" pitchFamily="34" charset="-120"/>
              </a:rPr>
              <a:t> LAB 0 | CONFIRM</a:t>
            </a:r>
            <a:endParaRPr lang="en-US" sz="900" dirty="0"/>
          </a:p>
        </p:txBody>
      </p:sp>
      <p:sp>
        <p:nvSpPr>
          <p:cNvPr id="3" name="Text 1"/>
          <p:cNvSpPr/>
          <p:nvPr/>
        </p:nvSpPr>
        <p:spPr>
          <a:xfrm>
            <a:off x="640080" y="548640"/>
            <a:ext cx="10835640" cy="502920"/>
          </a:xfrm>
          <a:prstGeom prst="rect">
            <a:avLst/>
          </a:prstGeom>
          <a:noFill/>
          <a:ln/>
        </p:spPr>
        <p:txBody>
          <a:bodyPr wrap="square" lIns="0" tIns="0" rIns="0" bIns="0" rtlCol="0" anchor="ctr">
            <a:normAutofit/>
          </a:bodyPr>
          <a:lstStyle/>
          <a:p>
            <a:pPr marL="0" indent="0">
              <a:buNone/>
            </a:pPr>
            <a:r>
              <a:rPr lang="en-US" sz="2700" b="1" dirty="0">
                <a:solidFill>
                  <a:srgbClr val="102A43"/>
                </a:solidFill>
                <a:latin typeface="Aptos Display" pitchFamily="34" charset="0"/>
                <a:ea typeface="Aptos Display" pitchFamily="34" charset="-122"/>
                <a:cs typeface="Aptos Display" pitchFamily="34" charset="-120"/>
              </a:rPr>
              <a:t>Start with a sandbox that can succeed</a:t>
            </a:r>
            <a:endParaRPr lang="en-US" sz="2700" dirty="0"/>
          </a:p>
        </p:txBody>
      </p:sp>
      <p:sp>
        <p:nvSpPr>
          <p:cNvPr id="4" name="Text 2"/>
          <p:cNvSpPr/>
          <p:nvPr/>
        </p:nvSpPr>
        <p:spPr>
          <a:xfrm>
            <a:off x="658368" y="1078992"/>
            <a:ext cx="10698480" cy="310896"/>
          </a:xfrm>
          <a:prstGeom prst="rect">
            <a:avLst/>
          </a:prstGeom>
          <a:noFill/>
          <a:ln/>
        </p:spPr>
        <p:txBody>
          <a:bodyPr wrap="square" lIns="254" tIns="254" rIns="254" bIns="254" rtlCol="0" anchor="ctr">
            <a:normAutofit/>
          </a:bodyPr>
          <a:lstStyle/>
          <a:p>
            <a:pPr marL="0" indent="0">
              <a:buNone/>
            </a:pPr>
            <a:r>
              <a:rPr lang="en-US" sz="1250" dirty="0">
                <a:solidFill>
                  <a:srgbClr val="4F6474"/>
                </a:solidFill>
                <a:latin typeface="Aptos" pitchFamily="34" charset="0"/>
                <a:ea typeface="Aptos" pitchFamily="34" charset="-122"/>
                <a:cs typeface="Aptos" pitchFamily="34" charset="-120"/>
              </a:rPr>
              <a:t> Validate identity, network, tools, quota, and synthetic data before the build begins.</a:t>
            </a:r>
            <a:endParaRPr lang="en-US" sz="1250" dirty="0"/>
          </a:p>
        </p:txBody>
      </p:sp>
      <p:sp>
        <p:nvSpPr>
          <p:cNvPr id="5" name="Shape 3"/>
          <p:cNvSpPr/>
          <p:nvPr/>
        </p:nvSpPr>
        <p:spPr>
          <a:xfrm>
            <a:off x="621792" y="1783080"/>
            <a:ext cx="5193792" cy="1243584"/>
          </a:xfrm>
          <a:prstGeom prst="roundRect">
            <a:avLst>
              <a:gd name="adj" fmla="val 5882"/>
            </a:avLst>
          </a:prstGeom>
          <a:solidFill>
            <a:srgbClr val="FFFFFF"/>
          </a:solidFill>
          <a:ln w="12700">
            <a:solidFill>
              <a:srgbClr val="DDE6EC"/>
            </a:solidFill>
            <a:prstDash val="solid"/>
          </a:ln>
          <a:effectLst>
            <a:outerShdw blurRad="25400" dist="50800" dir="2700000" algn="bl" rotWithShape="0">
              <a:srgbClr val="102A43">
                <a:alpha val="14000"/>
              </a:srgbClr>
            </a:outerShdw>
          </a:effectLst>
        </p:spPr>
        <p:txBody>
          <a:bodyPr/>
          <a:lstStyle/>
          <a:p>
            <a:endParaRPr lang="en-US"/>
          </a:p>
        </p:txBody>
      </p:sp>
      <p:sp>
        <p:nvSpPr>
          <p:cNvPr id="6" name="Shape 4"/>
          <p:cNvSpPr/>
          <p:nvPr/>
        </p:nvSpPr>
        <p:spPr>
          <a:xfrm>
            <a:off x="621792" y="1783080"/>
            <a:ext cx="73152" cy="1243584"/>
          </a:xfrm>
          <a:prstGeom prst="rect">
            <a:avLst/>
          </a:prstGeom>
          <a:solidFill>
            <a:srgbClr val="4F8EF7"/>
          </a:solidFill>
          <a:ln w="12700">
            <a:solidFill>
              <a:srgbClr val="4F8EF7"/>
            </a:solidFill>
            <a:prstDash val="solid"/>
          </a:ln>
        </p:spPr>
        <p:txBody>
          <a:bodyPr/>
          <a:lstStyle/>
          <a:p>
            <a:endParaRPr lang="en-US"/>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2960" y="1965960"/>
            <a:ext cx="347472" cy="347472"/>
          </a:xfrm>
          <a:prstGeom prst="rect">
            <a:avLst/>
          </a:prstGeom>
        </p:spPr>
      </p:pic>
      <p:sp>
        <p:nvSpPr>
          <p:cNvPr id="8" name="Text 5"/>
          <p:cNvSpPr/>
          <p:nvPr/>
        </p:nvSpPr>
        <p:spPr>
          <a:xfrm>
            <a:off x="1316736" y="1956816"/>
            <a:ext cx="4297680" cy="292608"/>
          </a:xfrm>
          <a:prstGeom prst="rect">
            <a:avLst/>
          </a:prstGeom>
          <a:noFill/>
          <a:ln/>
        </p:spPr>
        <p:txBody>
          <a:bodyPr wrap="square" lIns="0" tIns="0" rIns="0" bIns="0" rtlCol="0" anchor="ctr">
            <a:normAutofit/>
          </a:bodyPr>
          <a:lstStyle/>
          <a:p>
            <a:pPr marL="0" indent="0">
              <a:buNone/>
            </a:pPr>
            <a:r>
              <a:rPr lang="en-US" sz="1500" b="1" dirty="0">
                <a:solidFill>
                  <a:srgbClr val="102A43"/>
                </a:solidFill>
                <a:latin typeface="Aptos Display" pitchFamily="34" charset="0"/>
                <a:ea typeface="Aptos Display" pitchFamily="34" charset="-122"/>
                <a:cs typeface="Aptos Display" pitchFamily="34" charset="-120"/>
              </a:rPr>
              <a:t>Local tools</a:t>
            </a:r>
            <a:endParaRPr lang="en-US" sz="1500" dirty="0"/>
          </a:p>
        </p:txBody>
      </p:sp>
      <p:sp>
        <p:nvSpPr>
          <p:cNvPr id="9" name="Text 6"/>
          <p:cNvSpPr/>
          <p:nvPr/>
        </p:nvSpPr>
        <p:spPr>
          <a:xfrm>
            <a:off x="841248" y="2404872"/>
            <a:ext cx="4754880" cy="438912"/>
          </a:xfrm>
          <a:prstGeom prst="rect">
            <a:avLst/>
          </a:prstGeom>
          <a:noFill/>
          <a:ln/>
        </p:spPr>
        <p:txBody>
          <a:bodyPr wrap="square" lIns="0" tIns="0" rIns="0" bIns="0" rtlCol="0" anchor="t">
            <a:normAutofit/>
          </a:bodyPr>
          <a:lstStyle/>
          <a:p>
            <a:pPr marL="0" indent="0">
              <a:lnSpc>
                <a:spcPct val="95000"/>
              </a:lnSpc>
              <a:buNone/>
            </a:pPr>
            <a:r>
              <a:rPr lang="en-US" sz="1050" dirty="0">
                <a:solidFill>
                  <a:srgbClr val="4F6474"/>
                </a:solidFill>
                <a:latin typeface="Aptos" pitchFamily="34" charset="0"/>
                <a:ea typeface="Aptos" pitchFamily="34" charset="-122"/>
                <a:cs typeface="Aptos" pitchFamily="34" charset="-120"/>
              </a:rPr>
              <a:t>.NET 10, Azure CLI, azd, Node.js, VS Code, Foundry Toolkit</a:t>
            </a:r>
            <a:endParaRPr lang="en-US" sz="1050" dirty="0"/>
          </a:p>
        </p:txBody>
      </p:sp>
      <p:sp>
        <p:nvSpPr>
          <p:cNvPr id="10" name="Shape 7"/>
          <p:cNvSpPr/>
          <p:nvPr/>
        </p:nvSpPr>
        <p:spPr>
          <a:xfrm>
            <a:off x="6153912" y="1783080"/>
            <a:ext cx="5193792" cy="1243584"/>
          </a:xfrm>
          <a:prstGeom prst="roundRect">
            <a:avLst>
              <a:gd name="adj" fmla="val 5882"/>
            </a:avLst>
          </a:prstGeom>
          <a:solidFill>
            <a:srgbClr val="FFFFFF"/>
          </a:solidFill>
          <a:ln w="12700">
            <a:solidFill>
              <a:srgbClr val="DDE6EC"/>
            </a:solidFill>
            <a:prstDash val="solid"/>
          </a:ln>
          <a:effectLst>
            <a:outerShdw blurRad="25400" dist="50800" dir="2700000" algn="bl" rotWithShape="0">
              <a:srgbClr val="102A43">
                <a:alpha val="14000"/>
              </a:srgbClr>
            </a:outerShdw>
          </a:effectLst>
        </p:spPr>
        <p:txBody>
          <a:bodyPr/>
          <a:lstStyle/>
          <a:p>
            <a:endParaRPr lang="en-US"/>
          </a:p>
        </p:txBody>
      </p:sp>
      <p:sp>
        <p:nvSpPr>
          <p:cNvPr id="11" name="Shape 8"/>
          <p:cNvSpPr/>
          <p:nvPr/>
        </p:nvSpPr>
        <p:spPr>
          <a:xfrm>
            <a:off x="6153912" y="1783080"/>
            <a:ext cx="73152" cy="1243584"/>
          </a:xfrm>
          <a:prstGeom prst="rect">
            <a:avLst/>
          </a:prstGeom>
          <a:solidFill>
            <a:srgbClr val="775DA6"/>
          </a:solidFill>
          <a:ln w="12700">
            <a:solidFill>
              <a:srgbClr val="775DA6"/>
            </a:solidFill>
            <a:prstDash val="solid"/>
          </a:ln>
        </p:spPr>
        <p:txBody>
          <a:bodyPr/>
          <a:lstStyle/>
          <a:p>
            <a:endParaRPr lang="en-US"/>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55080" y="1965960"/>
            <a:ext cx="347472" cy="347472"/>
          </a:xfrm>
          <a:prstGeom prst="rect">
            <a:avLst/>
          </a:prstGeom>
        </p:spPr>
      </p:pic>
      <p:sp>
        <p:nvSpPr>
          <p:cNvPr id="13" name="Text 9"/>
          <p:cNvSpPr/>
          <p:nvPr/>
        </p:nvSpPr>
        <p:spPr>
          <a:xfrm>
            <a:off x="6848856" y="1956816"/>
            <a:ext cx="4297680" cy="292608"/>
          </a:xfrm>
          <a:prstGeom prst="rect">
            <a:avLst/>
          </a:prstGeom>
          <a:noFill/>
          <a:ln/>
        </p:spPr>
        <p:txBody>
          <a:bodyPr wrap="square" lIns="0" tIns="0" rIns="0" bIns="0" rtlCol="0" anchor="ctr">
            <a:normAutofit/>
          </a:bodyPr>
          <a:lstStyle/>
          <a:p>
            <a:pPr marL="0" indent="0">
              <a:buNone/>
            </a:pPr>
            <a:r>
              <a:rPr lang="en-US" sz="1500" b="1" dirty="0">
                <a:solidFill>
                  <a:srgbClr val="102A43"/>
                </a:solidFill>
                <a:latin typeface="Aptos Display" pitchFamily="34" charset="0"/>
                <a:ea typeface="Aptos Display" pitchFamily="34" charset="-122"/>
                <a:cs typeface="Aptos Display" pitchFamily="34" charset="-120"/>
              </a:rPr>
              <a:t>Identity</a:t>
            </a:r>
            <a:endParaRPr lang="en-US" sz="1500" dirty="0"/>
          </a:p>
        </p:txBody>
      </p:sp>
      <p:sp>
        <p:nvSpPr>
          <p:cNvPr id="14" name="Text 10"/>
          <p:cNvSpPr/>
          <p:nvPr/>
        </p:nvSpPr>
        <p:spPr>
          <a:xfrm>
            <a:off x="6373368" y="2404872"/>
            <a:ext cx="4754880" cy="438912"/>
          </a:xfrm>
          <a:prstGeom prst="rect">
            <a:avLst/>
          </a:prstGeom>
          <a:noFill/>
          <a:ln/>
        </p:spPr>
        <p:txBody>
          <a:bodyPr wrap="square" lIns="0" tIns="0" rIns="0" bIns="0" rtlCol="0" anchor="t">
            <a:normAutofit/>
          </a:bodyPr>
          <a:lstStyle/>
          <a:p>
            <a:pPr marL="0" indent="0">
              <a:lnSpc>
                <a:spcPct val="95000"/>
              </a:lnSpc>
              <a:buNone/>
            </a:pPr>
            <a:r>
              <a:rPr lang="en-US" sz="1050" dirty="0">
                <a:solidFill>
                  <a:srgbClr val="4F6474"/>
                </a:solidFill>
                <a:latin typeface="Aptos" pitchFamily="34" charset="0"/>
                <a:ea typeface="Aptos" pitchFamily="34" charset="-122"/>
                <a:cs typeface="Aptos" pitchFamily="34" charset="-120"/>
              </a:rPr>
              <a:t>Azure CLI sign-in, project access, APIM access, and model deployment permissions</a:t>
            </a:r>
            <a:endParaRPr lang="en-US" sz="1050" dirty="0"/>
          </a:p>
        </p:txBody>
      </p:sp>
      <p:sp>
        <p:nvSpPr>
          <p:cNvPr id="15" name="Shape 11"/>
          <p:cNvSpPr/>
          <p:nvPr/>
        </p:nvSpPr>
        <p:spPr>
          <a:xfrm>
            <a:off x="621792" y="3319272"/>
            <a:ext cx="5193792" cy="1243584"/>
          </a:xfrm>
          <a:prstGeom prst="roundRect">
            <a:avLst>
              <a:gd name="adj" fmla="val 5882"/>
            </a:avLst>
          </a:prstGeom>
          <a:solidFill>
            <a:srgbClr val="FFFFFF"/>
          </a:solidFill>
          <a:ln w="12700">
            <a:solidFill>
              <a:srgbClr val="DDE6EC"/>
            </a:solidFill>
            <a:prstDash val="solid"/>
          </a:ln>
          <a:effectLst>
            <a:outerShdw blurRad="25400" dist="50800" dir="2700000" algn="bl" rotWithShape="0">
              <a:srgbClr val="102A43">
                <a:alpha val="14000"/>
              </a:srgbClr>
            </a:outerShdw>
          </a:effectLst>
        </p:spPr>
        <p:txBody>
          <a:bodyPr/>
          <a:lstStyle/>
          <a:p>
            <a:endParaRPr lang="en-US"/>
          </a:p>
        </p:txBody>
      </p:sp>
      <p:sp>
        <p:nvSpPr>
          <p:cNvPr id="16" name="Shape 12"/>
          <p:cNvSpPr/>
          <p:nvPr/>
        </p:nvSpPr>
        <p:spPr>
          <a:xfrm>
            <a:off x="621792" y="3319272"/>
            <a:ext cx="73152" cy="1243584"/>
          </a:xfrm>
          <a:prstGeom prst="rect">
            <a:avLst/>
          </a:prstGeom>
          <a:solidFill>
            <a:srgbClr val="0F8B8D"/>
          </a:solidFill>
          <a:ln w="12700">
            <a:solidFill>
              <a:srgbClr val="0F8B8D"/>
            </a:solidFill>
            <a:prstDash val="solid"/>
          </a:ln>
        </p:spPr>
        <p:txBody>
          <a:bodyPr/>
          <a:lstStyle/>
          <a:p>
            <a:endParaRPr lang="en-US"/>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2960" y="3502152"/>
            <a:ext cx="347472" cy="347472"/>
          </a:xfrm>
          <a:prstGeom prst="rect">
            <a:avLst/>
          </a:prstGeom>
        </p:spPr>
      </p:pic>
      <p:sp>
        <p:nvSpPr>
          <p:cNvPr id="18" name="Text 13"/>
          <p:cNvSpPr/>
          <p:nvPr/>
        </p:nvSpPr>
        <p:spPr>
          <a:xfrm>
            <a:off x="1316736" y="3493008"/>
            <a:ext cx="4297680" cy="292608"/>
          </a:xfrm>
          <a:prstGeom prst="rect">
            <a:avLst/>
          </a:prstGeom>
          <a:noFill/>
          <a:ln/>
        </p:spPr>
        <p:txBody>
          <a:bodyPr wrap="square" lIns="0" tIns="0" rIns="0" bIns="0" rtlCol="0" anchor="ctr">
            <a:normAutofit/>
          </a:bodyPr>
          <a:lstStyle/>
          <a:p>
            <a:pPr marL="0" indent="0">
              <a:buNone/>
            </a:pPr>
            <a:r>
              <a:rPr lang="en-US" sz="1500" b="1" dirty="0">
                <a:solidFill>
                  <a:srgbClr val="102A43"/>
                </a:solidFill>
                <a:latin typeface="Aptos Display" pitchFamily="34" charset="0"/>
                <a:ea typeface="Aptos Display" pitchFamily="34" charset="-122"/>
                <a:cs typeface="Aptos Display" pitchFamily="34" charset="-120"/>
              </a:rPr>
              <a:t>Network</a:t>
            </a:r>
            <a:endParaRPr lang="en-US" sz="1500" dirty="0"/>
          </a:p>
        </p:txBody>
      </p:sp>
      <p:sp>
        <p:nvSpPr>
          <p:cNvPr id="19" name="Text 14"/>
          <p:cNvSpPr/>
          <p:nvPr/>
        </p:nvSpPr>
        <p:spPr>
          <a:xfrm>
            <a:off x="841248" y="3941064"/>
            <a:ext cx="4754880" cy="438912"/>
          </a:xfrm>
          <a:prstGeom prst="rect">
            <a:avLst/>
          </a:prstGeom>
          <a:noFill/>
          <a:ln/>
        </p:spPr>
        <p:txBody>
          <a:bodyPr wrap="square" lIns="0" tIns="0" rIns="0" bIns="0" rtlCol="0" anchor="t">
            <a:normAutofit/>
          </a:bodyPr>
          <a:lstStyle/>
          <a:p>
            <a:pPr marL="0" indent="0">
              <a:lnSpc>
                <a:spcPct val="95000"/>
              </a:lnSpc>
              <a:buNone/>
            </a:pPr>
            <a:r>
              <a:rPr lang="en-US" sz="1050" dirty="0">
                <a:solidFill>
                  <a:srgbClr val="4F6474"/>
                </a:solidFill>
                <a:latin typeface="Aptos" pitchFamily="34" charset="0"/>
                <a:ea typeface="Aptos" pitchFamily="34" charset="-122"/>
                <a:cs typeface="Aptos" pitchFamily="34" charset="-120"/>
              </a:rPr>
              <a:t>Reach Foundry, APIM, model endpoints, and package feeds from the participant laptop</a:t>
            </a:r>
            <a:endParaRPr lang="en-US" sz="1050" dirty="0"/>
          </a:p>
        </p:txBody>
      </p:sp>
      <p:sp>
        <p:nvSpPr>
          <p:cNvPr id="20" name="Shape 15"/>
          <p:cNvSpPr/>
          <p:nvPr/>
        </p:nvSpPr>
        <p:spPr>
          <a:xfrm>
            <a:off x="6153912" y="3319272"/>
            <a:ext cx="5193792" cy="1243584"/>
          </a:xfrm>
          <a:prstGeom prst="roundRect">
            <a:avLst>
              <a:gd name="adj" fmla="val 5882"/>
            </a:avLst>
          </a:prstGeom>
          <a:solidFill>
            <a:srgbClr val="FFFFFF"/>
          </a:solidFill>
          <a:ln w="12700">
            <a:solidFill>
              <a:srgbClr val="DDE6EC"/>
            </a:solidFill>
            <a:prstDash val="solid"/>
          </a:ln>
          <a:effectLst>
            <a:outerShdw blurRad="25400" dist="50800" dir="2700000" algn="bl" rotWithShape="0">
              <a:srgbClr val="102A43">
                <a:alpha val="14000"/>
              </a:srgbClr>
            </a:outerShdw>
          </a:effectLst>
        </p:spPr>
        <p:txBody>
          <a:bodyPr/>
          <a:lstStyle/>
          <a:p>
            <a:endParaRPr lang="en-US"/>
          </a:p>
        </p:txBody>
      </p:sp>
      <p:sp>
        <p:nvSpPr>
          <p:cNvPr id="21" name="Shape 16"/>
          <p:cNvSpPr/>
          <p:nvPr/>
        </p:nvSpPr>
        <p:spPr>
          <a:xfrm>
            <a:off x="6153912" y="3319272"/>
            <a:ext cx="73152" cy="1243584"/>
          </a:xfrm>
          <a:prstGeom prst="rect">
            <a:avLst/>
          </a:prstGeom>
          <a:solidFill>
            <a:srgbClr val="F4B942"/>
          </a:solidFill>
          <a:ln w="12700">
            <a:solidFill>
              <a:srgbClr val="F4B942"/>
            </a:solidFill>
            <a:prstDash val="solid"/>
          </a:ln>
        </p:spPr>
        <p:txBody>
          <a:bodyPr/>
          <a:lstStyle/>
          <a:p>
            <a:endParaRPr lang="en-US"/>
          </a:p>
        </p:txBody>
      </p:sp>
      <p:pic>
        <p:nvPicPr>
          <p:cNvPr id="2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55080" y="3502152"/>
            <a:ext cx="347472" cy="347472"/>
          </a:xfrm>
          <a:prstGeom prst="rect">
            <a:avLst/>
          </a:prstGeom>
        </p:spPr>
      </p:pic>
      <p:sp>
        <p:nvSpPr>
          <p:cNvPr id="23" name="Text 17"/>
          <p:cNvSpPr/>
          <p:nvPr/>
        </p:nvSpPr>
        <p:spPr>
          <a:xfrm>
            <a:off x="6848856" y="3493008"/>
            <a:ext cx="4297680" cy="292608"/>
          </a:xfrm>
          <a:prstGeom prst="rect">
            <a:avLst/>
          </a:prstGeom>
          <a:noFill/>
          <a:ln/>
        </p:spPr>
        <p:txBody>
          <a:bodyPr wrap="square" lIns="0" tIns="0" rIns="0" bIns="0" rtlCol="0" anchor="ctr">
            <a:normAutofit/>
          </a:bodyPr>
          <a:lstStyle/>
          <a:p>
            <a:pPr marL="0" indent="0">
              <a:buNone/>
            </a:pPr>
            <a:r>
              <a:rPr lang="en-US" sz="1500" b="1" dirty="0">
                <a:solidFill>
                  <a:srgbClr val="102A43"/>
                </a:solidFill>
                <a:latin typeface="Aptos Display" pitchFamily="34" charset="0"/>
                <a:ea typeface="Aptos Display" pitchFamily="34" charset="-122"/>
                <a:cs typeface="Aptos Display" pitchFamily="34" charset="-120"/>
              </a:rPr>
              <a:t>Sandbox values</a:t>
            </a:r>
            <a:endParaRPr lang="en-US" sz="1500" dirty="0"/>
          </a:p>
        </p:txBody>
      </p:sp>
      <p:sp>
        <p:nvSpPr>
          <p:cNvPr id="24" name="Text 18"/>
          <p:cNvSpPr/>
          <p:nvPr/>
        </p:nvSpPr>
        <p:spPr>
          <a:xfrm>
            <a:off x="6373368" y="3941064"/>
            <a:ext cx="4754880" cy="438912"/>
          </a:xfrm>
          <a:prstGeom prst="rect">
            <a:avLst/>
          </a:prstGeom>
          <a:noFill/>
          <a:ln/>
        </p:spPr>
        <p:txBody>
          <a:bodyPr wrap="square" lIns="0" tIns="0" rIns="0" bIns="0" rtlCol="0" anchor="t">
            <a:normAutofit/>
          </a:bodyPr>
          <a:lstStyle/>
          <a:p>
            <a:pPr marL="0" indent="0">
              <a:lnSpc>
                <a:spcPct val="95000"/>
              </a:lnSpc>
              <a:buNone/>
            </a:pPr>
            <a:r>
              <a:rPr lang="en-US" sz="1050" dirty="0">
                <a:solidFill>
                  <a:srgbClr val="4F6474"/>
                </a:solidFill>
                <a:latin typeface="Aptos" pitchFamily="34" charset="0"/>
                <a:ea typeface="Aptos" pitchFamily="34" charset="-122"/>
                <a:cs typeface="Aptos" pitchFamily="34" charset="-120"/>
              </a:rPr>
              <a:t>Project endpoint, APIM gateway URL, MCP path, deployment name, and test data</a:t>
            </a:r>
            <a:endParaRPr lang="en-US" sz="1050" dirty="0"/>
          </a:p>
        </p:txBody>
      </p:sp>
      <p:sp>
        <p:nvSpPr>
          <p:cNvPr id="25" name="Shape 19"/>
          <p:cNvSpPr/>
          <p:nvPr/>
        </p:nvSpPr>
        <p:spPr>
          <a:xfrm>
            <a:off x="1828800" y="5074920"/>
            <a:ext cx="8522208" cy="749808"/>
          </a:xfrm>
          <a:prstGeom prst="roundRect">
            <a:avLst/>
          </a:prstGeom>
          <a:solidFill>
            <a:srgbClr val="102A43"/>
          </a:solidFill>
          <a:ln w="12700">
            <a:solidFill>
              <a:srgbClr val="102A43"/>
            </a:solidFill>
            <a:prstDash val="solid"/>
          </a:ln>
        </p:spPr>
        <p:txBody>
          <a:bodyPr/>
          <a:lstStyle/>
          <a:p>
            <a:endParaRPr lang="en-US"/>
          </a:p>
        </p:txBody>
      </p:sp>
      <p:pic>
        <p:nvPicPr>
          <p:cNvPr id="2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121408" y="5285232"/>
            <a:ext cx="301752" cy="301752"/>
          </a:xfrm>
          <a:prstGeom prst="rect">
            <a:avLst/>
          </a:prstGeom>
        </p:spPr>
      </p:pic>
      <p:sp>
        <p:nvSpPr>
          <p:cNvPr id="27" name="Text 20"/>
          <p:cNvSpPr/>
          <p:nvPr/>
        </p:nvSpPr>
        <p:spPr>
          <a:xfrm>
            <a:off x="2578608" y="5257800"/>
            <a:ext cx="7360920" cy="274320"/>
          </a:xfrm>
          <a:prstGeom prst="rect">
            <a:avLst/>
          </a:prstGeom>
          <a:noFill/>
          <a:ln/>
        </p:spPr>
        <p:txBody>
          <a:bodyPr wrap="square" lIns="0" tIns="0" rIns="0" bIns="0" rtlCol="0" anchor="ctr">
            <a:normAutofit/>
          </a:bodyPr>
          <a:lstStyle/>
          <a:p>
            <a:pPr marL="0" indent="0">
              <a:buNone/>
            </a:pPr>
            <a:r>
              <a:rPr lang="en-US" sz="1220" b="1" dirty="0">
                <a:solidFill>
                  <a:srgbClr val="FFFFFF"/>
                </a:solidFill>
                <a:latin typeface="Aptos" pitchFamily="34" charset="0"/>
                <a:ea typeface="Aptos" pitchFamily="34" charset="-122"/>
                <a:cs typeface="Aptos" pitchFamily="34" charset="-120"/>
              </a:rPr>
              <a:t>Gate: every participant can call the model endpoint and reach the APIM gateway before Lab 1.</a:t>
            </a:r>
            <a:endParaRPr lang="en-US" sz="1220" dirty="0"/>
          </a:p>
        </p:txBody>
      </p:sp>
      <p:sp>
        <p:nvSpPr>
          <p:cNvPr id="28" name="Text 21"/>
          <p:cNvSpPr/>
          <p:nvPr/>
        </p:nvSpPr>
        <p:spPr>
          <a:xfrm>
            <a:off x="566928" y="6528816"/>
            <a:ext cx="4389120" cy="146304"/>
          </a:xfrm>
          <a:prstGeom prst="rect">
            <a:avLst/>
          </a:prstGeom>
          <a:noFill/>
          <a:ln/>
        </p:spPr>
        <p:txBody>
          <a:bodyPr wrap="square" lIns="0" tIns="0" rIns="0" bIns="0" rtlCol="0" anchor="ctr"/>
          <a:lstStyle/>
          <a:p>
            <a:pPr marL="0" indent="0">
              <a:buNone/>
            </a:pPr>
            <a:r>
              <a:rPr lang="en-US" sz="750" dirty="0">
                <a:solidFill>
                  <a:srgbClr val="748494"/>
                </a:solidFill>
                <a:latin typeface="Aptos" pitchFamily="34" charset="0"/>
                <a:ea typeface="Aptos" pitchFamily="34" charset="-122"/>
                <a:cs typeface="Aptos" pitchFamily="34" charset="-120"/>
              </a:rPr>
              <a:t>Lab 0 output: verified prerequisites</a:t>
            </a:r>
            <a:endParaRPr lang="en-US" sz="750" dirty="0"/>
          </a:p>
        </p:txBody>
      </p:sp>
      <p:sp>
        <p:nvSpPr>
          <p:cNvPr id="29" name="Slide Number Placeholder 0"/>
          <p:cNvSpPr>
            <a:spLocks noGrp="1"/>
          </p:cNvSpPr>
          <p:nvPr>
            <p:ph type="sldNum" sz="quarter" idx="4294967295"/>
          </p:nvPr>
        </p:nvSpPr>
        <p:spPr>
          <a:xfrm>
            <a:off x="11109960" y="6510528"/>
            <a:ext cx="548640"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748494"/>
                </a:solidFill>
                <a:latin typeface="Aptos"/>
                <a:ea typeface="Aptos"/>
                <a:cs typeface="Aptos"/>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292608"/>
            <a:ext cx="2926080" cy="201168"/>
          </a:xfrm>
          <a:prstGeom prst="rect">
            <a:avLst/>
          </a:prstGeom>
          <a:noFill/>
          <a:ln/>
        </p:spPr>
        <p:txBody>
          <a:bodyPr wrap="square" lIns="254" tIns="254" rIns="254" bIns="254" rtlCol="0" anchor="ctr"/>
          <a:lstStyle/>
          <a:p>
            <a:pPr marL="0" indent="0">
              <a:buNone/>
            </a:pPr>
            <a:r>
              <a:rPr lang="en-US" sz="900" b="1" kern="0" spc="140" dirty="0">
                <a:solidFill>
                  <a:srgbClr val="0F8B8D"/>
                </a:solidFill>
                <a:latin typeface="Aptos" pitchFamily="34" charset="0"/>
                <a:ea typeface="Aptos" pitchFamily="34" charset="-122"/>
                <a:cs typeface="Aptos" pitchFamily="34" charset="-120"/>
              </a:rPr>
              <a:t> LAB 1 | IMPORT</a:t>
            </a:r>
            <a:endParaRPr lang="en-US" sz="900" dirty="0"/>
          </a:p>
        </p:txBody>
      </p:sp>
      <p:sp>
        <p:nvSpPr>
          <p:cNvPr id="3" name="Text 1"/>
          <p:cNvSpPr/>
          <p:nvPr/>
        </p:nvSpPr>
        <p:spPr>
          <a:xfrm>
            <a:off x="640080" y="548640"/>
            <a:ext cx="10835640" cy="502920"/>
          </a:xfrm>
          <a:prstGeom prst="rect">
            <a:avLst/>
          </a:prstGeom>
          <a:noFill/>
          <a:ln/>
        </p:spPr>
        <p:txBody>
          <a:bodyPr wrap="square" lIns="0" tIns="0" rIns="0" bIns="0" rtlCol="0" anchor="ctr">
            <a:normAutofit/>
          </a:bodyPr>
          <a:lstStyle/>
          <a:p>
            <a:pPr marL="0" indent="0">
              <a:buNone/>
            </a:pPr>
            <a:r>
              <a:rPr lang="en-US" sz="2700" b="1" dirty="0">
                <a:solidFill>
                  <a:srgbClr val="102A43"/>
                </a:solidFill>
                <a:latin typeface="Aptos Display" pitchFamily="34" charset="0"/>
                <a:ea typeface="Aptos Display" pitchFamily="34" charset="-122"/>
                <a:cs typeface="Aptos Display" pitchFamily="34" charset="-120"/>
              </a:rPr>
              <a:t>Turn an OpenAPI contract into a reliable sandbox API</a:t>
            </a:r>
            <a:endParaRPr lang="en-US" sz="2700" dirty="0"/>
          </a:p>
        </p:txBody>
      </p:sp>
      <p:sp>
        <p:nvSpPr>
          <p:cNvPr id="4" name="Text 2"/>
          <p:cNvSpPr/>
          <p:nvPr/>
        </p:nvSpPr>
        <p:spPr>
          <a:xfrm>
            <a:off x="658368" y="1078992"/>
            <a:ext cx="10698480" cy="310896"/>
          </a:xfrm>
          <a:prstGeom prst="rect">
            <a:avLst/>
          </a:prstGeom>
          <a:noFill/>
          <a:ln/>
        </p:spPr>
        <p:txBody>
          <a:bodyPr wrap="square" lIns="254" tIns="254" rIns="254" bIns="254" rtlCol="0" anchor="ctr">
            <a:normAutofit/>
          </a:bodyPr>
          <a:lstStyle/>
          <a:p>
            <a:pPr marL="0" indent="0">
              <a:buNone/>
            </a:pPr>
            <a:r>
              <a:rPr lang="en-US" sz="1250" dirty="0">
                <a:solidFill>
                  <a:srgbClr val="4F6474"/>
                </a:solidFill>
                <a:latin typeface="Aptos" pitchFamily="34" charset="0"/>
                <a:ea typeface="Aptos" pitchFamily="34" charset="-122"/>
                <a:cs typeface="Aptos" pitchFamily="34" charset="-120"/>
              </a:rPr>
              <a:t> APIM mock responses remove backend dependencies while preserving realistic operations and schemas.</a:t>
            </a:r>
            <a:endParaRPr lang="en-US" sz="1250" dirty="0"/>
          </a:p>
        </p:txBody>
      </p:sp>
      <p:sp>
        <p:nvSpPr>
          <p:cNvPr id="5" name="Shape 3"/>
          <p:cNvSpPr/>
          <p:nvPr/>
        </p:nvSpPr>
        <p:spPr>
          <a:xfrm>
            <a:off x="658368" y="1828800"/>
            <a:ext cx="3063240" cy="2286000"/>
          </a:xfrm>
          <a:prstGeom prst="roundRect">
            <a:avLst/>
          </a:prstGeom>
          <a:solidFill>
            <a:srgbClr val="FFFFFF"/>
          </a:solidFill>
          <a:ln w="12700">
            <a:solidFill>
              <a:srgbClr val="DDE6EC"/>
            </a:solidFill>
            <a:prstDash val="solid"/>
          </a:ln>
          <a:effectLst>
            <a:outerShdw blurRad="25400" dist="50800" dir="2700000" algn="bl" rotWithShape="0">
              <a:srgbClr val="102A43">
                <a:alpha val="14000"/>
              </a:srgbClr>
            </a:outerShdw>
          </a:effectLst>
        </p:spPr>
        <p:txBody>
          <a:bodyPr/>
          <a:lstStyle/>
          <a:p>
            <a:endParaRPr lang="en-US"/>
          </a:p>
        </p:txBody>
      </p:sp>
      <p:sp>
        <p:nvSpPr>
          <p:cNvPr id="6" name="Shape 4"/>
          <p:cNvSpPr/>
          <p:nvPr/>
        </p:nvSpPr>
        <p:spPr>
          <a:xfrm>
            <a:off x="822960" y="1993392"/>
            <a:ext cx="393192" cy="393192"/>
          </a:xfrm>
          <a:prstGeom prst="ellipse">
            <a:avLst/>
          </a:prstGeom>
          <a:solidFill>
            <a:srgbClr val="4F8EF7"/>
          </a:solidFill>
          <a:ln w="12700">
            <a:solidFill>
              <a:srgbClr val="4F8EF7"/>
            </a:solidFill>
            <a:prstDash val="solid"/>
          </a:ln>
        </p:spPr>
        <p:txBody>
          <a:bodyPr/>
          <a:lstStyle/>
          <a:p>
            <a:endParaRPr lang="en-US"/>
          </a:p>
        </p:txBody>
      </p:sp>
      <p:sp>
        <p:nvSpPr>
          <p:cNvPr id="7" name="Text 5"/>
          <p:cNvSpPr/>
          <p:nvPr/>
        </p:nvSpPr>
        <p:spPr>
          <a:xfrm>
            <a:off x="822960" y="2084832"/>
            <a:ext cx="393192" cy="118872"/>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1</a:t>
            </a:r>
            <a:endParaRPr lang="en-US" sz="900" dirty="0"/>
          </a:p>
        </p:txBody>
      </p:sp>
      <p:sp>
        <p:nvSpPr>
          <p:cNvPr id="8" name="Text 6"/>
          <p:cNvSpPr/>
          <p:nvPr/>
        </p:nvSpPr>
        <p:spPr>
          <a:xfrm>
            <a:off x="1325880" y="1975104"/>
            <a:ext cx="2221992" cy="256032"/>
          </a:xfrm>
          <a:prstGeom prst="rect">
            <a:avLst/>
          </a:prstGeom>
          <a:noFill/>
          <a:ln/>
        </p:spPr>
        <p:txBody>
          <a:bodyPr wrap="square" lIns="0" tIns="0" rIns="0" bIns="0" rtlCol="0" anchor="ctr">
            <a:normAutofit/>
          </a:bodyPr>
          <a:lstStyle/>
          <a:p>
            <a:pPr marL="0" indent="0">
              <a:buNone/>
            </a:pPr>
            <a:r>
              <a:rPr lang="en-US" sz="1350" b="1" dirty="0">
                <a:solidFill>
                  <a:srgbClr val="102A43"/>
                </a:solidFill>
                <a:latin typeface="Aptos Display" pitchFamily="34" charset="0"/>
                <a:ea typeface="Aptos Display" pitchFamily="34" charset="-122"/>
                <a:cs typeface="Aptos Display" pitchFamily="34" charset="-120"/>
              </a:rPr>
              <a:t>Import the contract</a:t>
            </a:r>
            <a:endParaRPr lang="en-US" sz="1350" dirty="0"/>
          </a:p>
        </p:txBody>
      </p:sp>
      <p:sp>
        <p:nvSpPr>
          <p:cNvPr id="9" name="Text 7"/>
          <p:cNvSpPr/>
          <p:nvPr/>
        </p:nvSpPr>
        <p:spPr>
          <a:xfrm>
            <a:off x="841248" y="2441448"/>
            <a:ext cx="2697480" cy="1536192"/>
          </a:xfrm>
          <a:prstGeom prst="rect">
            <a:avLst/>
          </a:prstGeom>
          <a:noFill/>
          <a:ln/>
        </p:spPr>
        <p:txBody>
          <a:bodyPr wrap="square" lIns="0" tIns="0" rIns="0" bIns="0" rtlCol="0" anchor="t">
            <a:normAutofit/>
          </a:bodyPr>
          <a:lstStyle/>
          <a:p>
            <a:pPr marL="0" indent="0">
              <a:buNone/>
            </a:pPr>
            <a:r>
              <a:rPr lang="en-US" sz="950" dirty="0">
                <a:solidFill>
                  <a:srgbClr val="4F6474"/>
                </a:solidFill>
                <a:latin typeface="Aptos" pitchFamily="34" charset="0"/>
                <a:ea typeface="Aptos" pitchFamily="34" charset="-122"/>
                <a:cs typeface="Aptos" pitchFamily="34" charset="-120"/>
              </a:rPr>
              <a:t>Create the work-request API from OpenAPI. Preserve operation IDs, schemas, and example payloads.</a:t>
            </a:r>
            <a:endParaRPr lang="en-US" sz="950" dirty="0"/>
          </a:p>
        </p:txBody>
      </p:sp>
      <p:sp>
        <p:nvSpPr>
          <p:cNvPr id="10" name="Shape 8"/>
          <p:cNvSpPr/>
          <p:nvPr/>
        </p:nvSpPr>
        <p:spPr>
          <a:xfrm>
            <a:off x="4553712" y="1828800"/>
            <a:ext cx="3063240" cy="2286000"/>
          </a:xfrm>
          <a:prstGeom prst="roundRect">
            <a:avLst/>
          </a:prstGeom>
          <a:solidFill>
            <a:srgbClr val="FFFFFF"/>
          </a:solidFill>
          <a:ln w="12700">
            <a:solidFill>
              <a:srgbClr val="DDE6EC"/>
            </a:solidFill>
            <a:prstDash val="solid"/>
          </a:ln>
          <a:effectLst>
            <a:outerShdw blurRad="25400" dist="50800" dir="2700000" algn="bl" rotWithShape="0">
              <a:srgbClr val="102A43">
                <a:alpha val="14000"/>
              </a:srgbClr>
            </a:outerShdw>
          </a:effectLst>
        </p:spPr>
        <p:txBody>
          <a:bodyPr/>
          <a:lstStyle/>
          <a:p>
            <a:endParaRPr lang="en-US"/>
          </a:p>
        </p:txBody>
      </p:sp>
      <p:sp>
        <p:nvSpPr>
          <p:cNvPr id="11" name="Shape 9"/>
          <p:cNvSpPr/>
          <p:nvPr/>
        </p:nvSpPr>
        <p:spPr>
          <a:xfrm>
            <a:off x="4718304" y="1993392"/>
            <a:ext cx="393192" cy="393192"/>
          </a:xfrm>
          <a:prstGeom prst="ellipse">
            <a:avLst/>
          </a:prstGeom>
          <a:solidFill>
            <a:srgbClr val="0F8B8D"/>
          </a:solidFill>
          <a:ln w="12700">
            <a:solidFill>
              <a:srgbClr val="0F8B8D"/>
            </a:solidFill>
            <a:prstDash val="solid"/>
          </a:ln>
        </p:spPr>
        <p:txBody>
          <a:bodyPr/>
          <a:lstStyle/>
          <a:p>
            <a:endParaRPr lang="en-US"/>
          </a:p>
        </p:txBody>
      </p:sp>
      <p:sp>
        <p:nvSpPr>
          <p:cNvPr id="12" name="Text 10"/>
          <p:cNvSpPr/>
          <p:nvPr/>
        </p:nvSpPr>
        <p:spPr>
          <a:xfrm>
            <a:off x="4718304" y="2084832"/>
            <a:ext cx="393192" cy="118872"/>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2</a:t>
            </a:r>
            <a:endParaRPr lang="en-US" sz="900" dirty="0"/>
          </a:p>
        </p:txBody>
      </p:sp>
      <p:sp>
        <p:nvSpPr>
          <p:cNvPr id="13" name="Text 11"/>
          <p:cNvSpPr/>
          <p:nvPr/>
        </p:nvSpPr>
        <p:spPr>
          <a:xfrm>
            <a:off x="5221224" y="1975104"/>
            <a:ext cx="2221992" cy="256032"/>
          </a:xfrm>
          <a:prstGeom prst="rect">
            <a:avLst/>
          </a:prstGeom>
          <a:noFill/>
          <a:ln/>
        </p:spPr>
        <p:txBody>
          <a:bodyPr wrap="square" lIns="0" tIns="0" rIns="0" bIns="0" rtlCol="0" anchor="ctr">
            <a:normAutofit/>
          </a:bodyPr>
          <a:lstStyle/>
          <a:p>
            <a:pPr marL="0" indent="0">
              <a:buNone/>
            </a:pPr>
            <a:r>
              <a:rPr lang="en-US" sz="1350" b="1" dirty="0">
                <a:solidFill>
                  <a:srgbClr val="102A43"/>
                </a:solidFill>
                <a:latin typeface="Aptos Display" pitchFamily="34" charset="0"/>
                <a:ea typeface="Aptos Display" pitchFamily="34" charset="-122"/>
                <a:cs typeface="Aptos Display" pitchFamily="34" charset="-120"/>
              </a:rPr>
              <a:t>Apply mock-response</a:t>
            </a:r>
            <a:endParaRPr lang="en-US" sz="1350" dirty="0"/>
          </a:p>
        </p:txBody>
      </p:sp>
      <p:sp>
        <p:nvSpPr>
          <p:cNvPr id="14" name="Text 12"/>
          <p:cNvSpPr/>
          <p:nvPr/>
        </p:nvSpPr>
        <p:spPr>
          <a:xfrm>
            <a:off x="4736592" y="2441448"/>
            <a:ext cx="2697480" cy="1536192"/>
          </a:xfrm>
          <a:prstGeom prst="rect">
            <a:avLst/>
          </a:prstGeom>
          <a:noFill/>
          <a:ln/>
        </p:spPr>
        <p:txBody>
          <a:bodyPr wrap="square" lIns="0" tIns="0" rIns="0" bIns="0" rtlCol="0" anchor="t">
            <a:normAutofit/>
          </a:bodyPr>
          <a:lstStyle/>
          <a:p>
            <a:pPr marL="0" indent="0">
              <a:buNone/>
            </a:pPr>
            <a:r>
              <a:rPr lang="en-US" sz="950" dirty="0">
                <a:solidFill>
                  <a:srgbClr val="4F6474"/>
                </a:solidFill>
                <a:latin typeface="Aptos" pitchFamily="34" charset="0"/>
                <a:ea typeface="Aptos" pitchFamily="34" charset="-122"/>
                <a:cs typeface="Aptos" pitchFamily="34" charset="-120"/>
              </a:rPr>
              <a:t>Return static examples through APIM so every participant sees the same data and errors.</a:t>
            </a:r>
            <a:endParaRPr lang="en-US" sz="950" dirty="0"/>
          </a:p>
        </p:txBody>
      </p:sp>
      <p:sp>
        <p:nvSpPr>
          <p:cNvPr id="15" name="Shape 13"/>
          <p:cNvSpPr/>
          <p:nvPr/>
        </p:nvSpPr>
        <p:spPr>
          <a:xfrm>
            <a:off x="8449056" y="1828800"/>
            <a:ext cx="3063240" cy="2286000"/>
          </a:xfrm>
          <a:prstGeom prst="roundRect">
            <a:avLst/>
          </a:prstGeom>
          <a:solidFill>
            <a:srgbClr val="FFFFFF"/>
          </a:solidFill>
          <a:ln w="12700">
            <a:solidFill>
              <a:srgbClr val="DDE6EC"/>
            </a:solidFill>
            <a:prstDash val="solid"/>
          </a:ln>
          <a:effectLst>
            <a:outerShdw blurRad="25400" dist="50800" dir="2700000" algn="bl" rotWithShape="0">
              <a:srgbClr val="102A43">
                <a:alpha val="14000"/>
              </a:srgbClr>
            </a:outerShdw>
          </a:effectLst>
        </p:spPr>
        <p:txBody>
          <a:bodyPr/>
          <a:lstStyle/>
          <a:p>
            <a:endParaRPr lang="en-US"/>
          </a:p>
        </p:txBody>
      </p:sp>
      <p:sp>
        <p:nvSpPr>
          <p:cNvPr id="16" name="Shape 14"/>
          <p:cNvSpPr/>
          <p:nvPr/>
        </p:nvSpPr>
        <p:spPr>
          <a:xfrm>
            <a:off x="8613648" y="1993392"/>
            <a:ext cx="393192" cy="393192"/>
          </a:xfrm>
          <a:prstGeom prst="ellipse">
            <a:avLst/>
          </a:prstGeom>
          <a:solidFill>
            <a:srgbClr val="2FA36B"/>
          </a:solidFill>
          <a:ln w="12700">
            <a:solidFill>
              <a:srgbClr val="2FA36B"/>
            </a:solidFill>
            <a:prstDash val="solid"/>
          </a:ln>
        </p:spPr>
        <p:txBody>
          <a:bodyPr/>
          <a:lstStyle/>
          <a:p>
            <a:endParaRPr lang="en-US"/>
          </a:p>
        </p:txBody>
      </p:sp>
      <p:sp>
        <p:nvSpPr>
          <p:cNvPr id="17" name="Text 15"/>
          <p:cNvSpPr/>
          <p:nvPr/>
        </p:nvSpPr>
        <p:spPr>
          <a:xfrm>
            <a:off x="8613648" y="2084832"/>
            <a:ext cx="393192" cy="118872"/>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3</a:t>
            </a:r>
            <a:endParaRPr lang="en-US" sz="900" dirty="0"/>
          </a:p>
        </p:txBody>
      </p:sp>
      <p:sp>
        <p:nvSpPr>
          <p:cNvPr id="18" name="Text 16"/>
          <p:cNvSpPr/>
          <p:nvPr/>
        </p:nvSpPr>
        <p:spPr>
          <a:xfrm>
            <a:off x="9116568" y="1975104"/>
            <a:ext cx="2221992" cy="256032"/>
          </a:xfrm>
          <a:prstGeom prst="rect">
            <a:avLst/>
          </a:prstGeom>
          <a:noFill/>
          <a:ln/>
        </p:spPr>
        <p:txBody>
          <a:bodyPr wrap="square" lIns="0" tIns="0" rIns="0" bIns="0" rtlCol="0" anchor="ctr">
            <a:normAutofit/>
          </a:bodyPr>
          <a:lstStyle/>
          <a:p>
            <a:pPr marL="0" indent="0">
              <a:buNone/>
            </a:pPr>
            <a:r>
              <a:rPr lang="en-US" sz="1350" b="1" dirty="0">
                <a:solidFill>
                  <a:srgbClr val="102A43"/>
                </a:solidFill>
                <a:latin typeface="Aptos Display" pitchFamily="34" charset="0"/>
                <a:ea typeface="Aptos Display" pitchFamily="34" charset="-122"/>
                <a:cs typeface="Aptos Display" pitchFamily="34" charset="-120"/>
              </a:rPr>
              <a:t>Test REST first</a:t>
            </a:r>
            <a:endParaRPr lang="en-US" sz="1350" dirty="0"/>
          </a:p>
        </p:txBody>
      </p:sp>
      <p:sp>
        <p:nvSpPr>
          <p:cNvPr id="19" name="Text 17"/>
          <p:cNvSpPr/>
          <p:nvPr/>
        </p:nvSpPr>
        <p:spPr>
          <a:xfrm>
            <a:off x="8631936" y="2441448"/>
            <a:ext cx="2697480" cy="1536192"/>
          </a:xfrm>
          <a:prstGeom prst="rect">
            <a:avLst/>
          </a:prstGeom>
          <a:noFill/>
          <a:ln/>
        </p:spPr>
        <p:txBody>
          <a:bodyPr wrap="square" lIns="0" tIns="0" rIns="0" bIns="0" rtlCol="0" anchor="t">
            <a:normAutofit/>
          </a:bodyPr>
          <a:lstStyle/>
          <a:p>
            <a:pPr marL="0" indent="0">
              <a:buNone/>
            </a:pPr>
            <a:r>
              <a:rPr lang="en-US" sz="950" dirty="0">
                <a:solidFill>
                  <a:srgbClr val="4F6474"/>
                </a:solidFill>
                <a:latin typeface="Aptos" pitchFamily="34" charset="0"/>
                <a:ea typeface="Aptos" pitchFamily="34" charset="-122"/>
                <a:cs typeface="Aptos" pitchFamily="34" charset="-120"/>
              </a:rPr>
              <a:t>Call each operation directly. Confirm status codes, payload shape, and the selected subscription model.</a:t>
            </a:r>
            <a:endParaRPr lang="en-US" sz="950" dirty="0"/>
          </a:p>
        </p:txBody>
      </p:sp>
      <p:sp>
        <p:nvSpPr>
          <p:cNvPr id="20" name="Shape 18"/>
          <p:cNvSpPr/>
          <p:nvPr/>
        </p:nvSpPr>
        <p:spPr>
          <a:xfrm>
            <a:off x="3730752" y="2953512"/>
            <a:ext cx="731520" cy="0"/>
          </a:xfrm>
          <a:prstGeom prst="line">
            <a:avLst/>
          </a:prstGeom>
          <a:noFill/>
          <a:ln w="25400">
            <a:solidFill>
              <a:srgbClr val="748494"/>
            </a:solidFill>
            <a:prstDash val="solid"/>
            <a:tailEnd type="triangle"/>
          </a:ln>
        </p:spPr>
        <p:txBody>
          <a:bodyPr/>
          <a:lstStyle/>
          <a:p>
            <a:endParaRPr lang="en-US"/>
          </a:p>
        </p:txBody>
      </p:sp>
      <p:sp>
        <p:nvSpPr>
          <p:cNvPr id="21" name="Shape 19"/>
          <p:cNvSpPr/>
          <p:nvPr/>
        </p:nvSpPr>
        <p:spPr>
          <a:xfrm>
            <a:off x="7626096" y="2953512"/>
            <a:ext cx="731520" cy="0"/>
          </a:xfrm>
          <a:prstGeom prst="line">
            <a:avLst/>
          </a:prstGeom>
          <a:noFill/>
          <a:ln w="25400">
            <a:solidFill>
              <a:srgbClr val="748494"/>
            </a:solidFill>
            <a:prstDash val="solid"/>
            <a:tailEnd type="triangle"/>
          </a:ln>
        </p:spPr>
        <p:txBody>
          <a:bodyPr/>
          <a:lstStyle/>
          <a:p>
            <a:endParaRPr lang="en-US"/>
          </a:p>
        </p:txBody>
      </p:sp>
      <p:sp>
        <p:nvSpPr>
          <p:cNvPr id="22" name="Shape 20"/>
          <p:cNvSpPr/>
          <p:nvPr/>
        </p:nvSpPr>
        <p:spPr>
          <a:xfrm>
            <a:off x="658368" y="4590288"/>
            <a:ext cx="5193792" cy="987552"/>
          </a:xfrm>
          <a:prstGeom prst="roundRect">
            <a:avLst/>
          </a:prstGeom>
          <a:solidFill>
            <a:srgbClr val="FFF4D7"/>
          </a:solidFill>
          <a:ln w="12700">
            <a:solidFill>
              <a:srgbClr val="F4B942"/>
            </a:solidFill>
            <a:prstDash val="solid"/>
          </a:ln>
        </p:spPr>
        <p:txBody>
          <a:bodyPr/>
          <a:lstStyle/>
          <a:p>
            <a:endParaRPr lang="en-US"/>
          </a:p>
        </p:txBody>
      </p:sp>
      <p:pic>
        <p:nvPicPr>
          <p:cNvPr id="2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4400" y="4882896"/>
            <a:ext cx="301752" cy="301752"/>
          </a:xfrm>
          <a:prstGeom prst="rect">
            <a:avLst/>
          </a:prstGeom>
        </p:spPr>
      </p:pic>
      <p:sp>
        <p:nvSpPr>
          <p:cNvPr id="24" name="Text 21"/>
          <p:cNvSpPr/>
          <p:nvPr/>
        </p:nvSpPr>
        <p:spPr>
          <a:xfrm>
            <a:off x="1353312" y="4754880"/>
            <a:ext cx="1600200" cy="219456"/>
          </a:xfrm>
          <a:prstGeom prst="rect">
            <a:avLst/>
          </a:prstGeom>
          <a:noFill/>
          <a:ln/>
        </p:spPr>
        <p:txBody>
          <a:bodyPr wrap="square" lIns="0" tIns="0" rIns="0" bIns="0" rtlCol="0" anchor="ctr"/>
          <a:lstStyle/>
          <a:p>
            <a:pPr marL="0" indent="0">
              <a:buNone/>
            </a:pPr>
            <a:r>
              <a:rPr lang="en-US" sz="1300" b="1" dirty="0">
                <a:solidFill>
                  <a:srgbClr val="102A43"/>
                </a:solidFill>
                <a:latin typeface="Aptos Display" pitchFamily="34" charset="0"/>
                <a:ea typeface="Aptos Display" pitchFamily="34" charset="-122"/>
                <a:cs typeface="Aptos Display" pitchFamily="34" charset="-120"/>
              </a:rPr>
              <a:t>Sandbox simplification</a:t>
            </a:r>
            <a:endParaRPr lang="en-US" sz="1300" dirty="0"/>
          </a:p>
        </p:txBody>
      </p:sp>
      <p:sp>
        <p:nvSpPr>
          <p:cNvPr id="25" name="Text 22"/>
          <p:cNvSpPr/>
          <p:nvPr/>
        </p:nvSpPr>
        <p:spPr>
          <a:xfrm>
            <a:off x="1353312" y="5029200"/>
            <a:ext cx="4160520" cy="301752"/>
          </a:xfrm>
          <a:prstGeom prst="rect">
            <a:avLst/>
          </a:prstGeom>
          <a:noFill/>
          <a:ln/>
        </p:spPr>
        <p:txBody>
          <a:bodyPr wrap="square" lIns="0" tIns="0" rIns="0" bIns="0" rtlCol="0" anchor="ctr">
            <a:normAutofit/>
          </a:bodyPr>
          <a:lstStyle/>
          <a:p>
            <a:pPr marL="0" indent="0">
              <a:buNone/>
            </a:pPr>
            <a:r>
              <a:rPr lang="en-US" sz="950" dirty="0">
                <a:solidFill>
                  <a:srgbClr val="4F6474"/>
                </a:solidFill>
                <a:latin typeface="Aptos" pitchFamily="34" charset="0"/>
                <a:ea typeface="Aptos" pitchFamily="34" charset="-122"/>
                <a:cs typeface="Aptos" pitchFamily="34" charset="-120"/>
              </a:rPr>
              <a:t>Static mocks do not persist creates or updates. Discuss this limit before the final demonstration.</a:t>
            </a:r>
            <a:endParaRPr lang="en-US" sz="950" dirty="0"/>
          </a:p>
        </p:txBody>
      </p:sp>
      <p:sp>
        <p:nvSpPr>
          <p:cNvPr id="26" name="Shape 23"/>
          <p:cNvSpPr/>
          <p:nvPr/>
        </p:nvSpPr>
        <p:spPr>
          <a:xfrm>
            <a:off x="6144768" y="4590288"/>
            <a:ext cx="5367528" cy="987552"/>
          </a:xfrm>
          <a:prstGeom prst="roundRect">
            <a:avLst/>
          </a:prstGeom>
          <a:solidFill>
            <a:srgbClr val="E8F0FF"/>
          </a:solidFill>
          <a:ln w="12700">
            <a:solidFill>
              <a:srgbClr val="4F8EF7"/>
            </a:solidFill>
            <a:prstDash val="solid"/>
          </a:ln>
        </p:spPr>
        <p:txBody>
          <a:bodyPr/>
          <a:lstStyle/>
          <a:p>
            <a:endParaRPr lang="en-US"/>
          </a:p>
        </p:txBody>
      </p:sp>
      <p:pic>
        <p:nvPicPr>
          <p:cNvPr id="2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19088" y="4882896"/>
            <a:ext cx="301752" cy="301752"/>
          </a:xfrm>
          <a:prstGeom prst="rect">
            <a:avLst/>
          </a:prstGeom>
        </p:spPr>
      </p:pic>
      <p:sp>
        <p:nvSpPr>
          <p:cNvPr id="28" name="Text 24"/>
          <p:cNvSpPr/>
          <p:nvPr/>
        </p:nvSpPr>
        <p:spPr>
          <a:xfrm>
            <a:off x="6858000" y="4754880"/>
            <a:ext cx="1645920" cy="219456"/>
          </a:xfrm>
          <a:prstGeom prst="rect">
            <a:avLst/>
          </a:prstGeom>
          <a:noFill/>
          <a:ln/>
        </p:spPr>
        <p:txBody>
          <a:bodyPr wrap="square" lIns="0" tIns="0" rIns="0" bIns="0" rtlCol="0" anchor="ctr"/>
          <a:lstStyle/>
          <a:p>
            <a:pPr marL="0" indent="0">
              <a:buNone/>
            </a:pPr>
            <a:r>
              <a:rPr lang="en-US" sz="1300" b="1" dirty="0">
                <a:solidFill>
                  <a:srgbClr val="102A43"/>
                </a:solidFill>
                <a:latin typeface="Aptos Display" pitchFamily="34" charset="0"/>
                <a:ea typeface="Aptos Display" pitchFamily="34" charset="-122"/>
                <a:cs typeface="Aptos Display" pitchFamily="34" charset="-120"/>
              </a:rPr>
              <a:t>Optional live profile</a:t>
            </a:r>
            <a:endParaRPr lang="en-US" sz="1300" dirty="0"/>
          </a:p>
        </p:txBody>
      </p:sp>
      <p:sp>
        <p:nvSpPr>
          <p:cNvPr id="29" name="Text 25"/>
          <p:cNvSpPr/>
          <p:nvPr/>
        </p:nvSpPr>
        <p:spPr>
          <a:xfrm>
            <a:off x="6858000" y="5029200"/>
            <a:ext cx="4206240" cy="301752"/>
          </a:xfrm>
          <a:prstGeom prst="rect">
            <a:avLst/>
          </a:prstGeom>
          <a:noFill/>
          <a:ln/>
        </p:spPr>
        <p:txBody>
          <a:bodyPr wrap="square" lIns="0" tIns="0" rIns="0" bIns="0" rtlCol="0" anchor="ctr">
            <a:normAutofit/>
          </a:bodyPr>
          <a:lstStyle/>
          <a:p>
            <a:pPr marL="0" indent="0">
              <a:buNone/>
            </a:pPr>
            <a:r>
              <a:rPr lang="en-US" sz="950" dirty="0">
                <a:solidFill>
                  <a:srgbClr val="4F6474"/>
                </a:solidFill>
                <a:latin typeface="Aptos" pitchFamily="34" charset="0"/>
                <a:ea typeface="Aptos" pitchFamily="34" charset="-122"/>
                <a:cs typeface="Aptos" pitchFamily="34" charset="-120"/>
              </a:rPr>
              <a:t>Import Swagger Petstore to demonstrate the same pattern against a public backend.</a:t>
            </a:r>
            <a:endParaRPr lang="en-US" sz="950" dirty="0"/>
          </a:p>
        </p:txBody>
      </p:sp>
      <p:sp>
        <p:nvSpPr>
          <p:cNvPr id="30" name="Text 26"/>
          <p:cNvSpPr/>
          <p:nvPr/>
        </p:nvSpPr>
        <p:spPr>
          <a:xfrm>
            <a:off x="566928" y="6528816"/>
            <a:ext cx="4389120" cy="146304"/>
          </a:xfrm>
          <a:prstGeom prst="rect">
            <a:avLst/>
          </a:prstGeom>
          <a:noFill/>
          <a:ln/>
        </p:spPr>
        <p:txBody>
          <a:bodyPr wrap="square" lIns="0" tIns="0" rIns="0" bIns="0" rtlCol="0" anchor="ctr"/>
          <a:lstStyle/>
          <a:p>
            <a:pPr marL="0" indent="0">
              <a:buNone/>
            </a:pPr>
            <a:r>
              <a:rPr lang="en-US" sz="750" dirty="0">
                <a:solidFill>
                  <a:srgbClr val="748494"/>
                </a:solidFill>
                <a:latin typeface="Aptos" pitchFamily="34" charset="0"/>
                <a:ea typeface="Aptos" pitchFamily="34" charset="-122"/>
                <a:cs typeface="Aptos" pitchFamily="34" charset="-120"/>
              </a:rPr>
              <a:t>Lab 1 output: tested REST API</a:t>
            </a:r>
            <a:endParaRPr lang="en-US" sz="750" dirty="0"/>
          </a:p>
        </p:txBody>
      </p:sp>
      <p:sp>
        <p:nvSpPr>
          <p:cNvPr id="31" name="Slide Number Placeholder 0"/>
          <p:cNvSpPr>
            <a:spLocks noGrp="1"/>
          </p:cNvSpPr>
          <p:nvPr>
            <p:ph type="sldNum" sz="quarter" idx="4294967295"/>
          </p:nvPr>
        </p:nvSpPr>
        <p:spPr>
          <a:xfrm>
            <a:off x="11109960" y="6510528"/>
            <a:ext cx="548640"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748494"/>
                </a:solidFill>
                <a:latin typeface="Aptos"/>
                <a:ea typeface="Aptos"/>
                <a:cs typeface="Aptos"/>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292608"/>
            <a:ext cx="2926080" cy="201168"/>
          </a:xfrm>
          <a:prstGeom prst="rect">
            <a:avLst/>
          </a:prstGeom>
          <a:noFill/>
          <a:ln/>
        </p:spPr>
        <p:txBody>
          <a:bodyPr wrap="square" lIns="254" tIns="254" rIns="254" bIns="254" rtlCol="0" anchor="ctr"/>
          <a:lstStyle/>
          <a:p>
            <a:pPr marL="0" indent="0">
              <a:buNone/>
            </a:pPr>
            <a:r>
              <a:rPr lang="en-US" sz="900" b="1" kern="0" spc="140" dirty="0">
                <a:solidFill>
                  <a:srgbClr val="0F8B8D"/>
                </a:solidFill>
                <a:latin typeface="Aptos" pitchFamily="34" charset="0"/>
                <a:ea typeface="Aptos" pitchFamily="34" charset="-122"/>
                <a:cs typeface="Aptos" pitchFamily="34" charset="-120"/>
              </a:rPr>
              <a:t> LAB 2 | EXPOSE</a:t>
            </a:r>
            <a:endParaRPr lang="en-US" sz="900" dirty="0"/>
          </a:p>
        </p:txBody>
      </p:sp>
      <p:sp>
        <p:nvSpPr>
          <p:cNvPr id="3" name="Text 1"/>
          <p:cNvSpPr/>
          <p:nvPr/>
        </p:nvSpPr>
        <p:spPr>
          <a:xfrm>
            <a:off x="640080" y="548640"/>
            <a:ext cx="10835640" cy="502920"/>
          </a:xfrm>
          <a:prstGeom prst="rect">
            <a:avLst/>
          </a:prstGeom>
          <a:noFill/>
          <a:ln/>
        </p:spPr>
        <p:txBody>
          <a:bodyPr wrap="square" lIns="0" tIns="0" rIns="0" bIns="0" rtlCol="0" anchor="ctr">
            <a:normAutofit/>
          </a:bodyPr>
          <a:lstStyle/>
          <a:p>
            <a:pPr marL="0" indent="0">
              <a:buNone/>
            </a:pPr>
            <a:r>
              <a:rPr lang="en-US" sz="2700" b="1" dirty="0">
                <a:solidFill>
                  <a:srgbClr val="102A43"/>
                </a:solidFill>
                <a:latin typeface="Aptos Display" pitchFamily="34" charset="0"/>
                <a:ea typeface="Aptos Display" pitchFamily="34" charset="-122"/>
                <a:cs typeface="Aptos Display" pitchFamily="34" charset="-120"/>
              </a:rPr>
              <a:t>Transform selected REST operations into MCP tools</a:t>
            </a:r>
            <a:endParaRPr lang="en-US" sz="2700" dirty="0"/>
          </a:p>
        </p:txBody>
      </p:sp>
      <p:sp>
        <p:nvSpPr>
          <p:cNvPr id="4" name="Text 2"/>
          <p:cNvSpPr/>
          <p:nvPr/>
        </p:nvSpPr>
        <p:spPr>
          <a:xfrm>
            <a:off x="658368" y="1078992"/>
            <a:ext cx="10698480" cy="310896"/>
          </a:xfrm>
          <a:prstGeom prst="rect">
            <a:avLst/>
          </a:prstGeom>
          <a:noFill/>
          <a:ln/>
        </p:spPr>
        <p:txBody>
          <a:bodyPr wrap="square" lIns="254" tIns="254" rIns="254" bIns="254" rtlCol="0" anchor="ctr">
            <a:normAutofit/>
          </a:bodyPr>
          <a:lstStyle/>
          <a:p>
            <a:pPr marL="0" indent="0">
              <a:buNone/>
            </a:pPr>
            <a:r>
              <a:rPr lang="en-US" sz="1250" dirty="0">
                <a:solidFill>
                  <a:srgbClr val="4F6474"/>
                </a:solidFill>
                <a:latin typeface="Aptos" pitchFamily="34" charset="0"/>
                <a:ea typeface="Aptos" pitchFamily="34" charset="-122"/>
                <a:cs typeface="Aptos" pitchFamily="34" charset="-120"/>
              </a:rPr>
              <a:t> Tool names, schemas, and descriptions come from the API contract. Good OpenAPI becomes good tool design.</a:t>
            </a:r>
            <a:endParaRPr lang="en-US" sz="1250" dirty="0"/>
          </a:p>
        </p:txBody>
      </p:sp>
      <p:sp>
        <p:nvSpPr>
          <p:cNvPr id="5" name="Shape 3"/>
          <p:cNvSpPr/>
          <p:nvPr/>
        </p:nvSpPr>
        <p:spPr>
          <a:xfrm>
            <a:off x="640080" y="1828800"/>
            <a:ext cx="2971800" cy="3520440"/>
          </a:xfrm>
          <a:prstGeom prst="roundRect">
            <a:avLst/>
          </a:prstGeom>
          <a:solidFill>
            <a:srgbClr val="FFFFFF"/>
          </a:solidFill>
          <a:ln w="16510">
            <a:solidFill>
              <a:srgbClr val="4F8EF7"/>
            </a:solidFill>
            <a:prstDash val="solid"/>
          </a:ln>
          <a:effectLst>
            <a:outerShdw blurRad="25400" dist="50800" dir="2700000" algn="bl" rotWithShape="0">
              <a:srgbClr val="102A43">
                <a:alpha val="14000"/>
              </a:srgbClr>
            </a:outerShdw>
          </a:effectLst>
        </p:spPr>
        <p:txBody>
          <a:bodyPr/>
          <a:lstStyle/>
          <a:p>
            <a:endParaRPr lang="en-US"/>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4400" y="2103120"/>
            <a:ext cx="457200" cy="457200"/>
          </a:xfrm>
          <a:prstGeom prst="rect">
            <a:avLst/>
          </a:prstGeom>
        </p:spPr>
      </p:pic>
      <p:sp>
        <p:nvSpPr>
          <p:cNvPr id="7" name="Text 4"/>
          <p:cNvSpPr/>
          <p:nvPr/>
        </p:nvSpPr>
        <p:spPr>
          <a:xfrm>
            <a:off x="1536192" y="2139696"/>
            <a:ext cx="1691640" cy="274320"/>
          </a:xfrm>
          <a:prstGeom prst="rect">
            <a:avLst/>
          </a:prstGeom>
          <a:noFill/>
          <a:ln/>
        </p:spPr>
        <p:txBody>
          <a:bodyPr wrap="square" lIns="0" tIns="0" rIns="0" bIns="0" rtlCol="0" anchor="ctr"/>
          <a:lstStyle/>
          <a:p>
            <a:pPr marL="0" indent="0">
              <a:buNone/>
            </a:pPr>
            <a:r>
              <a:rPr lang="en-US" sz="1700" b="1" dirty="0">
                <a:solidFill>
                  <a:srgbClr val="102A43"/>
                </a:solidFill>
                <a:latin typeface="Aptos Display" pitchFamily="34" charset="0"/>
                <a:ea typeface="Aptos Display" pitchFamily="34" charset="-122"/>
                <a:cs typeface="Aptos Display" pitchFamily="34" charset="-120"/>
              </a:rPr>
              <a:t>REST operations</a:t>
            </a:r>
            <a:endParaRPr lang="en-US" sz="1700" dirty="0"/>
          </a:p>
        </p:txBody>
      </p:sp>
      <p:sp>
        <p:nvSpPr>
          <p:cNvPr id="8" name="Shape 5"/>
          <p:cNvSpPr/>
          <p:nvPr/>
        </p:nvSpPr>
        <p:spPr>
          <a:xfrm>
            <a:off x="932688" y="2816352"/>
            <a:ext cx="621792" cy="310896"/>
          </a:xfrm>
          <a:prstGeom prst="roundRect">
            <a:avLst>
              <a:gd name="adj" fmla="val 23529"/>
            </a:avLst>
          </a:prstGeom>
          <a:solidFill>
            <a:srgbClr val="2FA36B"/>
          </a:solidFill>
          <a:ln w="12700">
            <a:solidFill>
              <a:srgbClr val="2FA36B"/>
            </a:solidFill>
            <a:prstDash val="solid"/>
          </a:ln>
        </p:spPr>
        <p:txBody>
          <a:bodyPr/>
          <a:lstStyle/>
          <a:p>
            <a:endParaRPr lang="en-US"/>
          </a:p>
        </p:txBody>
      </p:sp>
      <p:sp>
        <p:nvSpPr>
          <p:cNvPr id="9" name="Text 6"/>
          <p:cNvSpPr/>
          <p:nvPr/>
        </p:nvSpPr>
        <p:spPr>
          <a:xfrm>
            <a:off x="1005840" y="2880360"/>
            <a:ext cx="475488" cy="14630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GET</a:t>
            </a:r>
            <a:endParaRPr lang="en-US" sz="850" dirty="0"/>
          </a:p>
        </p:txBody>
      </p:sp>
      <p:sp>
        <p:nvSpPr>
          <p:cNvPr id="10" name="Text 7"/>
          <p:cNvSpPr/>
          <p:nvPr/>
        </p:nvSpPr>
        <p:spPr>
          <a:xfrm>
            <a:off x="1700784" y="2889504"/>
            <a:ext cx="1554480" cy="182880"/>
          </a:xfrm>
          <a:prstGeom prst="rect">
            <a:avLst/>
          </a:prstGeom>
          <a:noFill/>
          <a:ln/>
        </p:spPr>
        <p:txBody>
          <a:bodyPr wrap="square" lIns="0" tIns="0" rIns="0" bIns="0" rtlCol="0" anchor="ctr">
            <a:normAutofit/>
          </a:bodyPr>
          <a:lstStyle/>
          <a:p>
            <a:pPr marL="0" indent="0">
              <a:buNone/>
            </a:pPr>
            <a:r>
              <a:rPr lang="en-US" sz="870" dirty="0">
                <a:solidFill>
                  <a:srgbClr val="4F6474"/>
                </a:solidFill>
                <a:latin typeface="Consolas" pitchFamily="34" charset="0"/>
                <a:ea typeface="Consolas" pitchFamily="34" charset="-122"/>
                <a:cs typeface="Consolas" pitchFamily="34" charset="-120"/>
              </a:rPr>
              <a:t>/work-requests/{id}</a:t>
            </a:r>
            <a:endParaRPr lang="en-US" sz="870" dirty="0"/>
          </a:p>
        </p:txBody>
      </p:sp>
      <p:sp>
        <p:nvSpPr>
          <p:cNvPr id="11" name="Shape 8"/>
          <p:cNvSpPr/>
          <p:nvPr/>
        </p:nvSpPr>
        <p:spPr>
          <a:xfrm>
            <a:off x="932688" y="3483864"/>
            <a:ext cx="621792" cy="310896"/>
          </a:xfrm>
          <a:prstGeom prst="roundRect">
            <a:avLst>
              <a:gd name="adj" fmla="val 23529"/>
            </a:avLst>
          </a:prstGeom>
          <a:solidFill>
            <a:srgbClr val="4F8EF7"/>
          </a:solidFill>
          <a:ln w="12700">
            <a:solidFill>
              <a:srgbClr val="4F8EF7"/>
            </a:solidFill>
            <a:prstDash val="solid"/>
          </a:ln>
        </p:spPr>
        <p:txBody>
          <a:bodyPr/>
          <a:lstStyle/>
          <a:p>
            <a:endParaRPr lang="en-US"/>
          </a:p>
        </p:txBody>
      </p:sp>
      <p:sp>
        <p:nvSpPr>
          <p:cNvPr id="12" name="Text 9"/>
          <p:cNvSpPr/>
          <p:nvPr/>
        </p:nvSpPr>
        <p:spPr>
          <a:xfrm>
            <a:off x="1005840" y="3547872"/>
            <a:ext cx="475488" cy="14630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POST</a:t>
            </a:r>
            <a:endParaRPr lang="en-US" sz="850" dirty="0"/>
          </a:p>
        </p:txBody>
      </p:sp>
      <p:sp>
        <p:nvSpPr>
          <p:cNvPr id="13" name="Text 10"/>
          <p:cNvSpPr/>
          <p:nvPr/>
        </p:nvSpPr>
        <p:spPr>
          <a:xfrm>
            <a:off x="1700784" y="3557016"/>
            <a:ext cx="1554480" cy="182880"/>
          </a:xfrm>
          <a:prstGeom prst="rect">
            <a:avLst/>
          </a:prstGeom>
          <a:noFill/>
          <a:ln/>
        </p:spPr>
        <p:txBody>
          <a:bodyPr wrap="square" lIns="0" tIns="0" rIns="0" bIns="0" rtlCol="0" anchor="ctr">
            <a:normAutofit/>
          </a:bodyPr>
          <a:lstStyle/>
          <a:p>
            <a:pPr marL="0" indent="0">
              <a:buNone/>
            </a:pPr>
            <a:r>
              <a:rPr lang="en-US" sz="870" dirty="0">
                <a:solidFill>
                  <a:srgbClr val="4F6474"/>
                </a:solidFill>
                <a:latin typeface="Consolas" pitchFamily="34" charset="0"/>
                <a:ea typeface="Consolas" pitchFamily="34" charset="-122"/>
                <a:cs typeface="Consolas" pitchFamily="34" charset="-120"/>
              </a:rPr>
              <a:t>/work-requests</a:t>
            </a:r>
            <a:endParaRPr lang="en-US" sz="870" dirty="0"/>
          </a:p>
        </p:txBody>
      </p:sp>
      <p:sp>
        <p:nvSpPr>
          <p:cNvPr id="14" name="Shape 11"/>
          <p:cNvSpPr/>
          <p:nvPr/>
        </p:nvSpPr>
        <p:spPr>
          <a:xfrm>
            <a:off x="932688" y="4151376"/>
            <a:ext cx="621792" cy="310896"/>
          </a:xfrm>
          <a:prstGeom prst="roundRect">
            <a:avLst>
              <a:gd name="adj" fmla="val 23529"/>
            </a:avLst>
          </a:prstGeom>
          <a:solidFill>
            <a:srgbClr val="F4B942"/>
          </a:solidFill>
          <a:ln w="12700">
            <a:solidFill>
              <a:srgbClr val="F4B942"/>
            </a:solidFill>
            <a:prstDash val="solid"/>
          </a:ln>
        </p:spPr>
        <p:txBody>
          <a:bodyPr/>
          <a:lstStyle/>
          <a:p>
            <a:endParaRPr lang="en-US"/>
          </a:p>
        </p:txBody>
      </p:sp>
      <p:sp>
        <p:nvSpPr>
          <p:cNvPr id="15" name="Text 12"/>
          <p:cNvSpPr/>
          <p:nvPr/>
        </p:nvSpPr>
        <p:spPr>
          <a:xfrm>
            <a:off x="1005840" y="4215384"/>
            <a:ext cx="475488" cy="14630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PATCH</a:t>
            </a:r>
            <a:endParaRPr lang="en-US" sz="850" dirty="0"/>
          </a:p>
        </p:txBody>
      </p:sp>
      <p:sp>
        <p:nvSpPr>
          <p:cNvPr id="16" name="Text 13"/>
          <p:cNvSpPr/>
          <p:nvPr/>
        </p:nvSpPr>
        <p:spPr>
          <a:xfrm>
            <a:off x="1700784" y="4224528"/>
            <a:ext cx="1554480" cy="182880"/>
          </a:xfrm>
          <a:prstGeom prst="rect">
            <a:avLst/>
          </a:prstGeom>
          <a:noFill/>
          <a:ln/>
        </p:spPr>
        <p:txBody>
          <a:bodyPr wrap="square" lIns="0" tIns="0" rIns="0" bIns="0" rtlCol="0" anchor="ctr">
            <a:normAutofit fontScale="92500"/>
          </a:bodyPr>
          <a:lstStyle/>
          <a:p>
            <a:pPr marL="0" indent="0">
              <a:buNone/>
            </a:pPr>
            <a:r>
              <a:rPr lang="en-US" sz="870" dirty="0">
                <a:solidFill>
                  <a:srgbClr val="4F6474"/>
                </a:solidFill>
                <a:latin typeface="Consolas" pitchFamily="34" charset="0"/>
                <a:ea typeface="Consolas" pitchFamily="34" charset="-122"/>
                <a:cs typeface="Consolas" pitchFamily="34" charset="-120"/>
              </a:rPr>
              <a:t>/work-requests/{id}/status</a:t>
            </a:r>
            <a:endParaRPr lang="en-US" sz="870" dirty="0"/>
          </a:p>
        </p:txBody>
      </p:sp>
      <p:sp>
        <p:nvSpPr>
          <p:cNvPr id="17" name="Shape 14"/>
          <p:cNvSpPr/>
          <p:nvPr/>
        </p:nvSpPr>
        <p:spPr>
          <a:xfrm>
            <a:off x="3784600" y="3022600"/>
            <a:ext cx="1320800" cy="1066800"/>
          </a:xfrm>
          <a:prstGeom prst="chevron">
            <a:avLst/>
          </a:prstGeom>
          <a:solidFill>
            <a:srgbClr val="0F8B8D"/>
          </a:solidFill>
          <a:ln w="12700">
            <a:solidFill>
              <a:srgbClr val="0F8B8D"/>
            </a:solidFill>
            <a:prstDash val="solid"/>
          </a:ln>
        </p:spPr>
        <p:txBody>
          <a:bodyPr/>
          <a:lstStyle/>
          <a:p>
            <a:endParaRPr lang="en-US"/>
          </a:p>
        </p:txBody>
      </p:sp>
      <p:sp>
        <p:nvSpPr>
          <p:cNvPr id="18" name="Text 15"/>
          <p:cNvSpPr/>
          <p:nvPr/>
        </p:nvSpPr>
        <p:spPr>
          <a:xfrm>
            <a:off x="4229100" y="3251200"/>
            <a:ext cx="774700" cy="609600"/>
          </a:xfrm>
          <a:prstGeom prst="rect">
            <a:avLst/>
          </a:prstGeom>
          <a:noFill/>
          <a:ln/>
        </p:spPr>
        <p:txBody>
          <a:bodyPr wrap="square" lIns="0" tIns="0" rIns="0" bIns="0" rtlCol="0" anchor="ctr">
            <a:normAutofit/>
          </a:bodyPr>
          <a:lstStyle/>
          <a:p>
            <a:pPr marL="0" indent="0" algn="ctr">
              <a:buNone/>
            </a:pPr>
            <a:r>
              <a:rPr lang="en-US" sz="900" b="1">
                <a:solidFill>
                  <a:srgbClr val="FFFFFF"/>
                </a:solidFill>
                <a:latin typeface="Aptos" pitchFamily="34" charset="0"/>
                <a:ea typeface="Aptos" pitchFamily="34" charset="-122"/>
                <a:cs typeface="Aptos" pitchFamily="34" charset="-120"/>
              </a:rPr>
              <a:t>APIM</a:t>
            </a:r>
          </a:p>
          <a:p>
            <a:pPr marL="0" indent="0" algn="ctr">
              <a:buNone/>
            </a:pPr>
            <a:r>
              <a:rPr lang="en-US" sz="900" b="1">
                <a:solidFill>
                  <a:srgbClr val="FFFFFF"/>
                </a:solidFill>
                <a:latin typeface="Aptos" pitchFamily="34" charset="0"/>
                <a:ea typeface="Aptos" pitchFamily="34" charset="-122"/>
                <a:cs typeface="Aptos" pitchFamily="34" charset="-120"/>
              </a:rPr>
              <a:t>REST → MCP</a:t>
            </a:r>
            <a:endParaRPr lang="en-US" sz="900" b="1" dirty="0">
              <a:solidFill>
                <a:srgbClr val="FFFFFF"/>
              </a:solidFill>
              <a:latin typeface="Aptos" panose="020B0004020202020204" pitchFamily="34" charset="0"/>
            </a:endParaRPr>
          </a:p>
        </p:txBody>
      </p:sp>
      <p:sp>
        <p:nvSpPr>
          <p:cNvPr id="19" name="Shape 16"/>
          <p:cNvSpPr/>
          <p:nvPr/>
        </p:nvSpPr>
        <p:spPr>
          <a:xfrm>
            <a:off x="5321808" y="1828800"/>
            <a:ext cx="6199632" cy="3520440"/>
          </a:xfrm>
          <a:prstGeom prst="roundRect">
            <a:avLst/>
          </a:prstGeom>
          <a:solidFill>
            <a:srgbClr val="102A43"/>
          </a:solidFill>
          <a:ln w="12700">
            <a:solidFill>
              <a:srgbClr val="102A43"/>
            </a:solidFill>
            <a:prstDash val="solid"/>
          </a:ln>
          <a:effectLst>
            <a:outerShdw blurRad="25400" dist="50800" dir="2700000" algn="bl" rotWithShape="0">
              <a:srgbClr val="102A43">
                <a:alpha val="14000"/>
              </a:srgbClr>
            </a:outerShdw>
          </a:effectLst>
        </p:spPr>
        <p:txBody>
          <a:bodyPr/>
          <a:lstStyle/>
          <a:p>
            <a:endParaRPr lang="en-US"/>
          </a:p>
        </p:txBody>
      </p:sp>
      <p:pic>
        <p:nvPicPr>
          <p:cNvPr id="2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96128" y="2103120"/>
            <a:ext cx="457200" cy="457200"/>
          </a:xfrm>
          <a:prstGeom prst="rect">
            <a:avLst/>
          </a:prstGeom>
        </p:spPr>
      </p:pic>
      <p:sp>
        <p:nvSpPr>
          <p:cNvPr id="21" name="Text 17"/>
          <p:cNvSpPr/>
          <p:nvPr/>
        </p:nvSpPr>
        <p:spPr>
          <a:xfrm>
            <a:off x="6236208" y="2139696"/>
            <a:ext cx="2468880" cy="274320"/>
          </a:xfrm>
          <a:prstGeom prst="rect">
            <a:avLst/>
          </a:prstGeom>
          <a:noFill/>
          <a:ln/>
        </p:spPr>
        <p:txBody>
          <a:bodyPr wrap="square" lIns="0" tIns="0" rIns="0" bIns="0" rtlCol="0" anchor="ctr"/>
          <a:lstStyle/>
          <a:p>
            <a:pPr marL="0" indent="0">
              <a:buNone/>
            </a:pPr>
            <a:r>
              <a:rPr lang="en-US" sz="1700" b="1" dirty="0">
                <a:solidFill>
                  <a:srgbClr val="FFFFFF"/>
                </a:solidFill>
                <a:latin typeface="Aptos Display" pitchFamily="34" charset="0"/>
                <a:ea typeface="Aptos Display" pitchFamily="34" charset="-122"/>
                <a:cs typeface="Aptos Display" pitchFamily="34" charset="-120"/>
              </a:rPr>
              <a:t>Generated MCP tools</a:t>
            </a:r>
            <a:endParaRPr lang="en-US" sz="1700" dirty="0"/>
          </a:p>
        </p:txBody>
      </p:sp>
      <p:sp>
        <p:nvSpPr>
          <p:cNvPr id="22" name="Shape 18"/>
          <p:cNvSpPr/>
          <p:nvPr/>
        </p:nvSpPr>
        <p:spPr>
          <a:xfrm>
            <a:off x="5632704" y="2743200"/>
            <a:ext cx="5449824" cy="512064"/>
          </a:xfrm>
          <a:prstGeom prst="roundRect">
            <a:avLst/>
          </a:prstGeom>
          <a:solidFill>
            <a:srgbClr val="24465F"/>
          </a:solidFill>
          <a:ln w="12700">
            <a:solidFill>
              <a:srgbClr val="315A76"/>
            </a:solidFill>
            <a:prstDash val="solid"/>
          </a:ln>
        </p:spPr>
        <p:txBody>
          <a:bodyPr/>
          <a:lstStyle/>
          <a:p>
            <a:endParaRPr lang="en-US"/>
          </a:p>
        </p:txBody>
      </p:sp>
      <p:sp>
        <p:nvSpPr>
          <p:cNvPr id="23" name="Shape 19"/>
          <p:cNvSpPr/>
          <p:nvPr/>
        </p:nvSpPr>
        <p:spPr>
          <a:xfrm>
            <a:off x="5815584" y="2843784"/>
            <a:ext cx="804672" cy="310896"/>
          </a:xfrm>
          <a:prstGeom prst="roundRect">
            <a:avLst>
              <a:gd name="adj" fmla="val 23529"/>
            </a:avLst>
          </a:prstGeom>
          <a:solidFill>
            <a:srgbClr val="2FA36B"/>
          </a:solidFill>
          <a:ln w="12700">
            <a:solidFill>
              <a:srgbClr val="2FA36B"/>
            </a:solidFill>
            <a:prstDash val="solid"/>
          </a:ln>
        </p:spPr>
        <p:txBody>
          <a:bodyPr/>
          <a:lstStyle/>
          <a:p>
            <a:endParaRPr lang="en-US"/>
          </a:p>
        </p:txBody>
      </p:sp>
      <p:sp>
        <p:nvSpPr>
          <p:cNvPr id="24" name="Text 20"/>
          <p:cNvSpPr/>
          <p:nvPr/>
        </p:nvSpPr>
        <p:spPr>
          <a:xfrm>
            <a:off x="5888736" y="2907792"/>
            <a:ext cx="658368" cy="14630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READ</a:t>
            </a:r>
            <a:endParaRPr lang="en-US" sz="850" dirty="0"/>
          </a:p>
        </p:txBody>
      </p:sp>
      <p:sp>
        <p:nvSpPr>
          <p:cNvPr id="25" name="Text 21"/>
          <p:cNvSpPr/>
          <p:nvPr/>
        </p:nvSpPr>
        <p:spPr>
          <a:xfrm>
            <a:off x="6858000" y="2880360"/>
            <a:ext cx="3611880" cy="182880"/>
          </a:xfrm>
          <a:prstGeom prst="rect">
            <a:avLst/>
          </a:prstGeom>
          <a:noFill/>
          <a:ln/>
        </p:spPr>
        <p:txBody>
          <a:bodyPr wrap="square" lIns="0" tIns="0" rIns="0" bIns="0" rtlCol="0" anchor="ctr">
            <a:normAutofit/>
          </a:bodyPr>
          <a:lstStyle/>
          <a:p>
            <a:pPr marL="0" indent="0">
              <a:buNone/>
            </a:pPr>
            <a:r>
              <a:rPr lang="en-US" sz="1050" b="1" dirty="0">
                <a:solidFill>
                  <a:srgbClr val="FFFFFF"/>
                </a:solidFill>
                <a:latin typeface="Consolas" pitchFamily="34" charset="0"/>
                <a:ea typeface="Consolas" pitchFamily="34" charset="-122"/>
                <a:cs typeface="Consolas" pitchFamily="34" charset="-120"/>
              </a:rPr>
              <a:t>getAWorkRequest</a:t>
            </a:r>
            <a:endParaRPr lang="en-US" sz="1050" dirty="0"/>
          </a:p>
        </p:txBody>
      </p:sp>
      <p:sp>
        <p:nvSpPr>
          <p:cNvPr id="26" name="Shape 22"/>
          <p:cNvSpPr/>
          <p:nvPr/>
        </p:nvSpPr>
        <p:spPr>
          <a:xfrm>
            <a:off x="5632704" y="3429000"/>
            <a:ext cx="5449824" cy="512064"/>
          </a:xfrm>
          <a:prstGeom prst="roundRect">
            <a:avLst/>
          </a:prstGeom>
          <a:solidFill>
            <a:srgbClr val="24465F"/>
          </a:solidFill>
          <a:ln w="12700">
            <a:solidFill>
              <a:srgbClr val="315A76"/>
            </a:solidFill>
            <a:prstDash val="solid"/>
          </a:ln>
        </p:spPr>
        <p:txBody>
          <a:bodyPr/>
          <a:lstStyle/>
          <a:p>
            <a:endParaRPr lang="en-US"/>
          </a:p>
        </p:txBody>
      </p:sp>
      <p:sp>
        <p:nvSpPr>
          <p:cNvPr id="27" name="Shape 23"/>
          <p:cNvSpPr/>
          <p:nvPr/>
        </p:nvSpPr>
        <p:spPr>
          <a:xfrm>
            <a:off x="5815584" y="3529584"/>
            <a:ext cx="804672" cy="310896"/>
          </a:xfrm>
          <a:prstGeom prst="roundRect">
            <a:avLst>
              <a:gd name="adj" fmla="val 23529"/>
            </a:avLst>
          </a:prstGeom>
          <a:solidFill>
            <a:srgbClr val="4F8EF7"/>
          </a:solidFill>
          <a:ln w="12700">
            <a:solidFill>
              <a:srgbClr val="4F8EF7"/>
            </a:solidFill>
            <a:prstDash val="solid"/>
          </a:ln>
        </p:spPr>
        <p:txBody>
          <a:bodyPr/>
          <a:lstStyle/>
          <a:p>
            <a:endParaRPr lang="en-US"/>
          </a:p>
        </p:txBody>
      </p:sp>
      <p:sp>
        <p:nvSpPr>
          <p:cNvPr id="28" name="Text 24"/>
          <p:cNvSpPr/>
          <p:nvPr/>
        </p:nvSpPr>
        <p:spPr>
          <a:xfrm>
            <a:off x="5888736" y="3593592"/>
            <a:ext cx="658368" cy="14630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WRITE</a:t>
            </a:r>
            <a:endParaRPr lang="en-US" sz="850" dirty="0"/>
          </a:p>
        </p:txBody>
      </p:sp>
      <p:sp>
        <p:nvSpPr>
          <p:cNvPr id="29" name="Text 25"/>
          <p:cNvSpPr/>
          <p:nvPr/>
        </p:nvSpPr>
        <p:spPr>
          <a:xfrm>
            <a:off x="6858000" y="3566160"/>
            <a:ext cx="3611880" cy="182880"/>
          </a:xfrm>
          <a:prstGeom prst="rect">
            <a:avLst/>
          </a:prstGeom>
          <a:noFill/>
          <a:ln/>
        </p:spPr>
        <p:txBody>
          <a:bodyPr wrap="square" lIns="0" tIns="0" rIns="0" bIns="0" rtlCol="0" anchor="ctr">
            <a:normAutofit/>
          </a:bodyPr>
          <a:lstStyle/>
          <a:p>
            <a:pPr marL="0" indent="0">
              <a:buNone/>
            </a:pPr>
            <a:r>
              <a:rPr lang="en-US" sz="1050" b="1" dirty="0">
                <a:solidFill>
                  <a:srgbClr val="FFFFFF"/>
                </a:solidFill>
                <a:latin typeface="Consolas" pitchFamily="34" charset="0"/>
                <a:ea typeface="Consolas" pitchFamily="34" charset="-122"/>
                <a:cs typeface="Consolas" pitchFamily="34" charset="-120"/>
              </a:rPr>
              <a:t>createAWorkRequest</a:t>
            </a:r>
            <a:endParaRPr lang="en-US" sz="1050" dirty="0"/>
          </a:p>
        </p:txBody>
      </p:sp>
      <p:sp>
        <p:nvSpPr>
          <p:cNvPr id="30" name="Shape 26"/>
          <p:cNvSpPr/>
          <p:nvPr/>
        </p:nvSpPr>
        <p:spPr>
          <a:xfrm>
            <a:off x="5632704" y="4114800"/>
            <a:ext cx="5449824" cy="512064"/>
          </a:xfrm>
          <a:prstGeom prst="roundRect">
            <a:avLst/>
          </a:prstGeom>
          <a:solidFill>
            <a:srgbClr val="24465F"/>
          </a:solidFill>
          <a:ln w="12700">
            <a:solidFill>
              <a:srgbClr val="315A76"/>
            </a:solidFill>
            <a:prstDash val="solid"/>
          </a:ln>
        </p:spPr>
        <p:txBody>
          <a:bodyPr/>
          <a:lstStyle/>
          <a:p>
            <a:endParaRPr lang="en-US"/>
          </a:p>
        </p:txBody>
      </p:sp>
      <p:sp>
        <p:nvSpPr>
          <p:cNvPr id="31" name="Shape 27"/>
          <p:cNvSpPr/>
          <p:nvPr/>
        </p:nvSpPr>
        <p:spPr>
          <a:xfrm>
            <a:off x="5815584" y="4215384"/>
            <a:ext cx="804672" cy="310896"/>
          </a:xfrm>
          <a:prstGeom prst="roundRect">
            <a:avLst>
              <a:gd name="adj" fmla="val 23529"/>
            </a:avLst>
          </a:prstGeom>
          <a:solidFill>
            <a:srgbClr val="F4B942"/>
          </a:solidFill>
          <a:ln w="12700">
            <a:solidFill>
              <a:srgbClr val="F4B942"/>
            </a:solidFill>
            <a:prstDash val="solid"/>
          </a:ln>
        </p:spPr>
        <p:txBody>
          <a:bodyPr/>
          <a:lstStyle/>
          <a:p>
            <a:endParaRPr lang="en-US"/>
          </a:p>
        </p:txBody>
      </p:sp>
      <p:sp>
        <p:nvSpPr>
          <p:cNvPr id="32" name="Text 28"/>
          <p:cNvSpPr/>
          <p:nvPr/>
        </p:nvSpPr>
        <p:spPr>
          <a:xfrm>
            <a:off x="5888736" y="4279392"/>
            <a:ext cx="658368" cy="14630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WRITE</a:t>
            </a:r>
            <a:endParaRPr lang="en-US" sz="850" dirty="0"/>
          </a:p>
        </p:txBody>
      </p:sp>
      <p:sp>
        <p:nvSpPr>
          <p:cNvPr id="33" name="Text 29"/>
          <p:cNvSpPr/>
          <p:nvPr/>
        </p:nvSpPr>
        <p:spPr>
          <a:xfrm>
            <a:off x="6858000" y="4251960"/>
            <a:ext cx="3611880" cy="182880"/>
          </a:xfrm>
          <a:prstGeom prst="rect">
            <a:avLst/>
          </a:prstGeom>
          <a:noFill/>
          <a:ln/>
        </p:spPr>
        <p:txBody>
          <a:bodyPr wrap="square" lIns="0" tIns="0" rIns="0" bIns="0" rtlCol="0" anchor="ctr">
            <a:normAutofit/>
          </a:bodyPr>
          <a:lstStyle/>
          <a:p>
            <a:pPr marL="0" indent="0">
              <a:buNone/>
            </a:pPr>
            <a:r>
              <a:rPr lang="en-US" sz="1050" b="1" dirty="0">
                <a:solidFill>
                  <a:srgbClr val="FFFFFF"/>
                </a:solidFill>
                <a:latin typeface="Consolas" pitchFamily="34" charset="0"/>
                <a:ea typeface="Consolas" pitchFamily="34" charset="-122"/>
                <a:cs typeface="Consolas" pitchFamily="34" charset="-120"/>
              </a:rPr>
              <a:t>updateWorkRequestStatus</a:t>
            </a:r>
            <a:endParaRPr lang="en-US" sz="1050" dirty="0"/>
          </a:p>
        </p:txBody>
      </p:sp>
      <p:sp>
        <p:nvSpPr>
          <p:cNvPr id="34" name="Text 30"/>
          <p:cNvSpPr/>
          <p:nvPr/>
        </p:nvSpPr>
        <p:spPr>
          <a:xfrm>
            <a:off x="5650992" y="4882896"/>
            <a:ext cx="1188720" cy="182880"/>
          </a:xfrm>
          <a:prstGeom prst="rect">
            <a:avLst/>
          </a:prstGeom>
          <a:noFill/>
          <a:ln/>
        </p:spPr>
        <p:txBody>
          <a:bodyPr wrap="square" lIns="0" tIns="0" rIns="0" bIns="0" rtlCol="0" anchor="ctr"/>
          <a:lstStyle/>
          <a:p>
            <a:pPr marL="0" indent="0">
              <a:buNone/>
            </a:pPr>
            <a:r>
              <a:rPr lang="en-US" sz="850" b="1" dirty="0">
                <a:solidFill>
                  <a:srgbClr val="5BD6C5"/>
                </a:solidFill>
                <a:latin typeface="Aptos" pitchFamily="34" charset="0"/>
                <a:ea typeface="Aptos" pitchFamily="34" charset="-122"/>
                <a:cs typeface="Aptos" pitchFamily="34" charset="-120"/>
              </a:rPr>
              <a:t>MCP endpoint</a:t>
            </a:r>
            <a:endParaRPr lang="en-US" sz="850" dirty="0"/>
          </a:p>
        </p:txBody>
      </p:sp>
      <p:sp>
        <p:nvSpPr>
          <p:cNvPr id="35" name="Text 31"/>
          <p:cNvSpPr/>
          <p:nvPr/>
        </p:nvSpPr>
        <p:spPr>
          <a:xfrm>
            <a:off x="6812280" y="4864608"/>
            <a:ext cx="4114800" cy="201168"/>
          </a:xfrm>
          <a:prstGeom prst="rect">
            <a:avLst/>
          </a:prstGeom>
          <a:noFill/>
          <a:ln/>
        </p:spPr>
        <p:txBody>
          <a:bodyPr wrap="square" lIns="0" tIns="0" rIns="0" bIns="0" rtlCol="0" anchor="ctr">
            <a:normAutofit/>
          </a:bodyPr>
          <a:lstStyle/>
          <a:p>
            <a:pPr marL="0" indent="0">
              <a:buNone/>
            </a:pPr>
            <a:r>
              <a:rPr lang="en-US" sz="920" dirty="0">
                <a:solidFill>
                  <a:srgbClr val="DDEAF2"/>
                </a:solidFill>
                <a:latin typeface="Consolas" pitchFamily="34" charset="0"/>
                <a:ea typeface="Consolas" pitchFamily="34" charset="-122"/>
                <a:cs typeface="Consolas" pitchFamily="34" charset="-120"/>
              </a:rPr>
              <a:t>https://&lt;gateway&gt;/&lt;mcp-path&gt;/mcp</a:t>
            </a:r>
            <a:endParaRPr lang="en-US" sz="920" dirty="0"/>
          </a:p>
        </p:txBody>
      </p:sp>
      <p:sp>
        <p:nvSpPr>
          <p:cNvPr id="36" name="Text 32"/>
          <p:cNvSpPr/>
          <p:nvPr/>
        </p:nvSpPr>
        <p:spPr>
          <a:xfrm>
            <a:off x="566928" y="6528816"/>
            <a:ext cx="4389120" cy="146304"/>
          </a:xfrm>
          <a:prstGeom prst="rect">
            <a:avLst/>
          </a:prstGeom>
          <a:noFill/>
          <a:ln/>
        </p:spPr>
        <p:txBody>
          <a:bodyPr wrap="square" lIns="0" tIns="0" rIns="0" bIns="0" rtlCol="0" anchor="ctr"/>
          <a:lstStyle/>
          <a:p>
            <a:pPr marL="0" indent="0">
              <a:buNone/>
            </a:pPr>
            <a:r>
              <a:rPr lang="en-US" sz="750" dirty="0">
                <a:solidFill>
                  <a:srgbClr val="748494"/>
                </a:solidFill>
                <a:latin typeface="Aptos" pitchFamily="34" charset="0"/>
                <a:ea typeface="Aptos" pitchFamily="34" charset="-122"/>
                <a:cs typeface="Aptos" pitchFamily="34" charset="-120"/>
              </a:rPr>
              <a:t>Lab 2 output: working MCP endpoint</a:t>
            </a:r>
            <a:endParaRPr lang="en-US" sz="750" dirty="0"/>
          </a:p>
        </p:txBody>
      </p:sp>
      <p:sp>
        <p:nvSpPr>
          <p:cNvPr id="37" name="Slide Number Placeholder 0"/>
          <p:cNvSpPr>
            <a:spLocks noGrp="1"/>
          </p:cNvSpPr>
          <p:nvPr>
            <p:ph type="sldNum" sz="quarter" idx="4294967295"/>
          </p:nvPr>
        </p:nvSpPr>
        <p:spPr>
          <a:xfrm>
            <a:off x="11109960" y="6510528"/>
            <a:ext cx="548640"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748494"/>
                </a:solidFill>
                <a:latin typeface="Aptos"/>
                <a:ea typeface="Aptos"/>
                <a:cs typeface="Aptos"/>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292608"/>
            <a:ext cx="2926080" cy="201168"/>
          </a:xfrm>
          <a:prstGeom prst="rect">
            <a:avLst/>
          </a:prstGeom>
          <a:noFill/>
          <a:ln/>
        </p:spPr>
        <p:txBody>
          <a:bodyPr wrap="square" lIns="254" tIns="254" rIns="254" bIns="254" rtlCol="0" anchor="ctr"/>
          <a:lstStyle/>
          <a:p>
            <a:pPr marL="0" indent="0">
              <a:buNone/>
            </a:pPr>
            <a:r>
              <a:rPr lang="en-US" sz="900" b="1" kern="0" spc="140">
                <a:solidFill>
                  <a:srgbClr val="0F8B8D"/>
                </a:solidFill>
                <a:latin typeface="Aptos" pitchFamily="34" charset="0"/>
                <a:ea typeface="Aptos" pitchFamily="34" charset="-122"/>
                <a:cs typeface="Aptos" pitchFamily="34" charset="-120"/>
              </a:rPr>
              <a:t>LAB 2 | VALIDATE</a:t>
            </a:r>
            <a:endParaRPr lang="en-US" sz="900" dirty="0"/>
          </a:p>
        </p:txBody>
      </p:sp>
      <p:sp>
        <p:nvSpPr>
          <p:cNvPr id="3" name="Text 1"/>
          <p:cNvSpPr/>
          <p:nvPr/>
        </p:nvSpPr>
        <p:spPr>
          <a:xfrm>
            <a:off x="640080" y="548640"/>
            <a:ext cx="10835640" cy="502920"/>
          </a:xfrm>
          <a:prstGeom prst="rect">
            <a:avLst/>
          </a:prstGeom>
          <a:noFill/>
          <a:ln/>
        </p:spPr>
        <p:txBody>
          <a:bodyPr wrap="square" lIns="0" tIns="0" rIns="0" bIns="0" rtlCol="0" anchor="ctr">
            <a:normAutofit/>
          </a:bodyPr>
          <a:lstStyle/>
          <a:p>
            <a:pPr marL="0" indent="0">
              <a:buNone/>
            </a:pPr>
            <a:r>
              <a:rPr lang="en-US" sz="2700" b="1" dirty="0">
                <a:solidFill>
                  <a:srgbClr val="102A43"/>
                </a:solidFill>
                <a:latin typeface="Aptos Display" pitchFamily="34" charset="0"/>
                <a:ea typeface="Aptos Display" pitchFamily="34" charset="-122"/>
                <a:cs typeface="Aptos Display" pitchFamily="34" charset="-120"/>
              </a:rPr>
              <a:t>Test the MCP server before connecting an agent</a:t>
            </a:r>
            <a:endParaRPr lang="en-US" sz="2700" dirty="0"/>
          </a:p>
        </p:txBody>
      </p:sp>
      <p:sp>
        <p:nvSpPr>
          <p:cNvPr id="4" name="Text 2"/>
          <p:cNvSpPr/>
          <p:nvPr/>
        </p:nvSpPr>
        <p:spPr>
          <a:xfrm>
            <a:off x="658368" y="1078992"/>
            <a:ext cx="10698480" cy="310896"/>
          </a:xfrm>
          <a:prstGeom prst="rect">
            <a:avLst/>
          </a:prstGeom>
          <a:noFill/>
          <a:ln/>
        </p:spPr>
        <p:txBody>
          <a:bodyPr wrap="square" lIns="254" tIns="254" rIns="254" bIns="254" rtlCol="0" anchor="ctr">
            <a:normAutofit/>
          </a:bodyPr>
          <a:lstStyle/>
          <a:p>
            <a:pPr marL="0" indent="0">
              <a:buNone/>
            </a:pPr>
            <a:r>
              <a:rPr lang="en-US" sz="1250" dirty="0">
                <a:solidFill>
                  <a:srgbClr val="4F6474"/>
                </a:solidFill>
                <a:latin typeface="Aptos" pitchFamily="34" charset="0"/>
                <a:ea typeface="Aptos" pitchFamily="34" charset="-122"/>
                <a:cs typeface="Aptos" pitchFamily="34" charset="-120"/>
              </a:rPr>
              <a:t> A direct client separates tool and policy issues from agent orchestration issues.</a:t>
            </a:r>
            <a:endParaRPr lang="en-US" sz="1250" dirty="0"/>
          </a:p>
        </p:txBody>
      </p:sp>
      <p:sp>
        <p:nvSpPr>
          <p:cNvPr id="5" name="Shape 3"/>
          <p:cNvSpPr/>
          <p:nvPr/>
        </p:nvSpPr>
        <p:spPr>
          <a:xfrm>
            <a:off x="685800" y="1828800"/>
            <a:ext cx="3246120" cy="3182112"/>
          </a:xfrm>
          <a:prstGeom prst="roundRect">
            <a:avLst>
              <a:gd name="adj" fmla="val 2299"/>
            </a:avLst>
          </a:prstGeom>
          <a:solidFill>
            <a:srgbClr val="FFFFFF"/>
          </a:solidFill>
          <a:ln w="12700">
            <a:solidFill>
              <a:srgbClr val="DDE6EC"/>
            </a:solidFill>
            <a:prstDash val="solid"/>
          </a:ln>
          <a:effectLst>
            <a:outerShdw blurRad="25400" dist="50800" dir="2700000" algn="bl" rotWithShape="0">
              <a:srgbClr val="102A43">
                <a:alpha val="14000"/>
              </a:srgbClr>
            </a:outerShdw>
          </a:effectLst>
        </p:spPr>
        <p:txBody>
          <a:bodyPr/>
          <a:lstStyle/>
          <a:p>
            <a:endParaRPr lang="en-US"/>
          </a:p>
        </p:txBody>
      </p:sp>
      <p:sp>
        <p:nvSpPr>
          <p:cNvPr id="6" name="Shape 4"/>
          <p:cNvSpPr/>
          <p:nvPr/>
        </p:nvSpPr>
        <p:spPr>
          <a:xfrm>
            <a:off x="685800" y="1828800"/>
            <a:ext cx="73152" cy="3182112"/>
          </a:xfrm>
          <a:prstGeom prst="rect">
            <a:avLst/>
          </a:prstGeom>
          <a:solidFill>
            <a:srgbClr val="0F8B8D"/>
          </a:solidFill>
          <a:ln w="12700">
            <a:solidFill>
              <a:srgbClr val="0F8B8D"/>
            </a:solidFill>
            <a:prstDash val="solid"/>
          </a:ln>
        </p:spPr>
        <p:txBody>
          <a:bodyPr/>
          <a:lstStyle/>
          <a:p>
            <a:endParaRPr lang="en-US"/>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6968" y="2011680"/>
            <a:ext cx="347472" cy="347472"/>
          </a:xfrm>
          <a:prstGeom prst="rect">
            <a:avLst/>
          </a:prstGeom>
        </p:spPr>
      </p:pic>
      <p:sp>
        <p:nvSpPr>
          <p:cNvPr id="8" name="Text 5"/>
          <p:cNvSpPr/>
          <p:nvPr/>
        </p:nvSpPr>
        <p:spPr>
          <a:xfrm>
            <a:off x="1380744" y="2002536"/>
            <a:ext cx="2350008" cy="292608"/>
          </a:xfrm>
          <a:prstGeom prst="rect">
            <a:avLst/>
          </a:prstGeom>
          <a:noFill/>
          <a:ln/>
        </p:spPr>
        <p:txBody>
          <a:bodyPr wrap="square" lIns="0" tIns="0" rIns="0" bIns="0" rtlCol="0" anchor="ctr">
            <a:normAutofit/>
          </a:bodyPr>
          <a:lstStyle/>
          <a:p>
            <a:pPr marL="0" indent="0">
              <a:buNone/>
            </a:pPr>
            <a:r>
              <a:rPr lang="en-US" sz="1500" b="1" dirty="0">
                <a:solidFill>
                  <a:srgbClr val="102A43"/>
                </a:solidFill>
                <a:latin typeface="Aptos Display" pitchFamily="34" charset="0"/>
                <a:ea typeface="Aptos Display" pitchFamily="34" charset="-122"/>
                <a:cs typeface="Aptos Display" pitchFamily="34" charset="-120"/>
              </a:rPr>
              <a:t>MCP Inspector</a:t>
            </a:r>
            <a:endParaRPr lang="en-US" sz="1500" dirty="0"/>
          </a:p>
        </p:txBody>
      </p:sp>
      <p:sp>
        <p:nvSpPr>
          <p:cNvPr id="9" name="Text 6"/>
          <p:cNvSpPr/>
          <p:nvPr/>
        </p:nvSpPr>
        <p:spPr>
          <a:xfrm>
            <a:off x="905256" y="2450592"/>
            <a:ext cx="2807208" cy="2377440"/>
          </a:xfrm>
          <a:prstGeom prst="rect">
            <a:avLst/>
          </a:prstGeom>
          <a:noFill/>
          <a:ln/>
        </p:spPr>
        <p:txBody>
          <a:bodyPr wrap="square" lIns="0" tIns="0" rIns="0" bIns="0" rtlCol="0" anchor="t">
            <a:normAutofit/>
          </a:bodyPr>
          <a:lstStyle/>
          <a:p>
            <a:pPr marL="0" indent="0">
              <a:lnSpc>
                <a:spcPct val="95000"/>
              </a:lnSpc>
              <a:buNone/>
            </a:pPr>
            <a:r>
              <a:rPr lang="en-US" sz="1050" dirty="0">
                <a:solidFill>
                  <a:srgbClr val="4F6474"/>
                </a:solidFill>
                <a:latin typeface="Aptos" pitchFamily="34" charset="0"/>
                <a:ea typeface="Aptos" pitchFamily="34" charset="-122"/>
                <a:cs typeface="Aptos" pitchFamily="34" charset="-120"/>
              </a:rPr>
              <a:t>Best for protocol visibility.</a:t>
            </a:r>
            <a:endParaRPr lang="en-US" sz="1050" dirty="0"/>
          </a:p>
          <a:p>
            <a:pPr marL="0" indent="0">
              <a:lnSpc>
                <a:spcPct val="95000"/>
              </a:lnSpc>
              <a:buNone/>
            </a:pPr>
            <a:endParaRPr lang="en-US" sz="1050" dirty="0"/>
          </a:p>
          <a:p>
            <a:pPr marL="0" indent="0">
              <a:lnSpc>
                <a:spcPct val="95000"/>
              </a:lnSpc>
              <a:buNone/>
            </a:pPr>
            <a:r>
              <a:rPr lang="en-US" sz="1050" dirty="0">
                <a:solidFill>
                  <a:srgbClr val="4F6474"/>
                </a:solidFill>
                <a:latin typeface="Aptos" pitchFamily="34" charset="0"/>
                <a:ea typeface="Aptos" pitchFamily="34" charset="-122"/>
                <a:cs typeface="Aptos" pitchFamily="34" charset="-120"/>
              </a:rPr>
              <a:t>List tools, inspect schemas, add headers, and run individual tools with explicit arguments.</a:t>
            </a:r>
            <a:endParaRPr lang="en-US" sz="1050" dirty="0"/>
          </a:p>
        </p:txBody>
      </p:sp>
      <p:sp>
        <p:nvSpPr>
          <p:cNvPr id="10" name="Shape 7"/>
          <p:cNvSpPr/>
          <p:nvPr/>
        </p:nvSpPr>
        <p:spPr>
          <a:xfrm>
            <a:off x="4480560" y="1828800"/>
            <a:ext cx="3246120" cy="3182112"/>
          </a:xfrm>
          <a:prstGeom prst="roundRect">
            <a:avLst>
              <a:gd name="adj" fmla="val 2299"/>
            </a:avLst>
          </a:prstGeom>
          <a:solidFill>
            <a:srgbClr val="FFFFFF"/>
          </a:solidFill>
          <a:ln w="12700">
            <a:solidFill>
              <a:srgbClr val="DDE6EC"/>
            </a:solidFill>
            <a:prstDash val="solid"/>
          </a:ln>
          <a:effectLst>
            <a:outerShdw blurRad="25400" dist="50800" dir="2700000" algn="bl" rotWithShape="0">
              <a:srgbClr val="102A43">
                <a:alpha val="14000"/>
              </a:srgbClr>
            </a:outerShdw>
          </a:effectLst>
        </p:spPr>
        <p:txBody>
          <a:bodyPr/>
          <a:lstStyle/>
          <a:p>
            <a:endParaRPr lang="en-US"/>
          </a:p>
        </p:txBody>
      </p:sp>
      <p:sp>
        <p:nvSpPr>
          <p:cNvPr id="11" name="Shape 8"/>
          <p:cNvSpPr/>
          <p:nvPr/>
        </p:nvSpPr>
        <p:spPr>
          <a:xfrm>
            <a:off x="4480560" y="1828800"/>
            <a:ext cx="73152" cy="3182112"/>
          </a:xfrm>
          <a:prstGeom prst="rect">
            <a:avLst/>
          </a:prstGeom>
          <a:solidFill>
            <a:srgbClr val="4F8EF7"/>
          </a:solidFill>
          <a:ln w="12700">
            <a:solidFill>
              <a:srgbClr val="4F8EF7"/>
            </a:solidFill>
            <a:prstDash val="solid"/>
          </a:ln>
        </p:spPr>
        <p:txBody>
          <a:bodyPr/>
          <a:lstStyle/>
          <a:p>
            <a:endParaRPr lang="en-US"/>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81728" y="2011680"/>
            <a:ext cx="347472" cy="347472"/>
          </a:xfrm>
          <a:prstGeom prst="rect">
            <a:avLst/>
          </a:prstGeom>
        </p:spPr>
      </p:pic>
      <p:sp>
        <p:nvSpPr>
          <p:cNvPr id="13" name="Text 9"/>
          <p:cNvSpPr/>
          <p:nvPr/>
        </p:nvSpPr>
        <p:spPr>
          <a:xfrm>
            <a:off x="5175504" y="2002536"/>
            <a:ext cx="2350008" cy="292608"/>
          </a:xfrm>
          <a:prstGeom prst="rect">
            <a:avLst/>
          </a:prstGeom>
          <a:noFill/>
          <a:ln/>
        </p:spPr>
        <p:txBody>
          <a:bodyPr wrap="square" lIns="0" tIns="0" rIns="0" bIns="0" rtlCol="0" anchor="ctr">
            <a:normAutofit/>
          </a:bodyPr>
          <a:lstStyle/>
          <a:p>
            <a:pPr marL="0" indent="0">
              <a:buNone/>
            </a:pPr>
            <a:r>
              <a:rPr lang="en-US" sz="1500" b="1" dirty="0">
                <a:solidFill>
                  <a:srgbClr val="102A43"/>
                </a:solidFill>
                <a:latin typeface="Aptos Display" pitchFamily="34" charset="0"/>
                <a:ea typeface="Aptos Display" pitchFamily="34" charset="-122"/>
                <a:cs typeface="Aptos Display" pitchFamily="34" charset="-120"/>
              </a:rPr>
              <a:t>VS Code MCP client</a:t>
            </a:r>
            <a:endParaRPr lang="en-US" sz="1500" dirty="0"/>
          </a:p>
        </p:txBody>
      </p:sp>
      <p:sp>
        <p:nvSpPr>
          <p:cNvPr id="14" name="Text 10"/>
          <p:cNvSpPr/>
          <p:nvPr/>
        </p:nvSpPr>
        <p:spPr>
          <a:xfrm>
            <a:off x="4700016" y="2450592"/>
            <a:ext cx="2807208" cy="2377440"/>
          </a:xfrm>
          <a:prstGeom prst="rect">
            <a:avLst/>
          </a:prstGeom>
          <a:noFill/>
          <a:ln/>
        </p:spPr>
        <p:txBody>
          <a:bodyPr wrap="square" lIns="0" tIns="0" rIns="0" bIns="0" rtlCol="0" anchor="t">
            <a:normAutofit/>
          </a:bodyPr>
          <a:lstStyle/>
          <a:p>
            <a:pPr marL="0" indent="0">
              <a:lnSpc>
                <a:spcPct val="95000"/>
              </a:lnSpc>
              <a:buNone/>
            </a:pPr>
            <a:r>
              <a:rPr lang="en-US" sz="1050" dirty="0">
                <a:solidFill>
                  <a:srgbClr val="4F6474"/>
                </a:solidFill>
                <a:latin typeface="Aptos" pitchFamily="34" charset="0"/>
                <a:ea typeface="Aptos" pitchFamily="34" charset="-122"/>
                <a:cs typeface="Aptos" pitchFamily="34" charset="-120"/>
              </a:rPr>
              <a:t>Best for developer workflow.</a:t>
            </a:r>
            <a:endParaRPr lang="en-US" sz="1050" dirty="0"/>
          </a:p>
          <a:p>
            <a:pPr marL="0" indent="0">
              <a:lnSpc>
                <a:spcPct val="95000"/>
              </a:lnSpc>
              <a:buNone/>
            </a:pPr>
            <a:endParaRPr lang="en-US" sz="1050" dirty="0"/>
          </a:p>
          <a:p>
            <a:pPr marL="0" indent="0">
              <a:lnSpc>
                <a:spcPct val="95000"/>
              </a:lnSpc>
              <a:buNone/>
            </a:pPr>
            <a:r>
              <a:rPr lang="en-US" sz="1050" dirty="0">
                <a:solidFill>
                  <a:srgbClr val="4F6474"/>
                </a:solidFill>
                <a:latin typeface="Aptos" pitchFamily="34" charset="0"/>
                <a:ea typeface="Aptos" pitchFamily="34" charset="-122"/>
                <a:cs typeface="Aptos" pitchFamily="34" charset="-120"/>
              </a:rPr>
              <a:t>Add the server configuration, discover tools, and validate the endpoint from the editor.</a:t>
            </a:r>
            <a:endParaRPr lang="en-US" sz="1050" dirty="0"/>
          </a:p>
        </p:txBody>
      </p:sp>
      <p:sp>
        <p:nvSpPr>
          <p:cNvPr id="15" name="Shape 11"/>
          <p:cNvSpPr/>
          <p:nvPr/>
        </p:nvSpPr>
        <p:spPr>
          <a:xfrm>
            <a:off x="8275320" y="1828800"/>
            <a:ext cx="3246120" cy="3182112"/>
          </a:xfrm>
          <a:prstGeom prst="roundRect">
            <a:avLst>
              <a:gd name="adj" fmla="val 2299"/>
            </a:avLst>
          </a:prstGeom>
          <a:solidFill>
            <a:srgbClr val="FFFFFF"/>
          </a:solidFill>
          <a:ln w="12700">
            <a:solidFill>
              <a:srgbClr val="DDE6EC"/>
            </a:solidFill>
            <a:prstDash val="solid"/>
          </a:ln>
          <a:effectLst>
            <a:outerShdw blurRad="25400" dist="50800" dir="2700000" algn="bl" rotWithShape="0">
              <a:srgbClr val="102A43">
                <a:alpha val="14000"/>
              </a:srgbClr>
            </a:outerShdw>
          </a:effectLst>
        </p:spPr>
        <p:txBody>
          <a:bodyPr/>
          <a:lstStyle/>
          <a:p>
            <a:endParaRPr lang="en-US"/>
          </a:p>
        </p:txBody>
      </p:sp>
      <p:sp>
        <p:nvSpPr>
          <p:cNvPr id="16" name="Shape 12"/>
          <p:cNvSpPr/>
          <p:nvPr/>
        </p:nvSpPr>
        <p:spPr>
          <a:xfrm>
            <a:off x="8275320" y="1828800"/>
            <a:ext cx="73152" cy="3182112"/>
          </a:xfrm>
          <a:prstGeom prst="rect">
            <a:avLst/>
          </a:prstGeom>
          <a:solidFill>
            <a:srgbClr val="2FA36B"/>
          </a:solidFill>
          <a:ln w="12700">
            <a:solidFill>
              <a:srgbClr val="2FA36B"/>
            </a:solidFill>
            <a:prstDash val="solid"/>
          </a:ln>
        </p:spPr>
        <p:txBody>
          <a:bodyPr/>
          <a:lstStyle/>
          <a:p>
            <a:endParaRPr lang="en-US"/>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76488" y="2011680"/>
            <a:ext cx="347472" cy="347472"/>
          </a:xfrm>
          <a:prstGeom prst="rect">
            <a:avLst/>
          </a:prstGeom>
        </p:spPr>
      </p:pic>
      <p:sp>
        <p:nvSpPr>
          <p:cNvPr id="18" name="Text 13"/>
          <p:cNvSpPr/>
          <p:nvPr/>
        </p:nvSpPr>
        <p:spPr>
          <a:xfrm>
            <a:off x="8970264" y="2002536"/>
            <a:ext cx="2350008" cy="292608"/>
          </a:xfrm>
          <a:prstGeom prst="rect">
            <a:avLst/>
          </a:prstGeom>
          <a:noFill/>
          <a:ln/>
        </p:spPr>
        <p:txBody>
          <a:bodyPr wrap="square" lIns="0" tIns="0" rIns="0" bIns="0" rtlCol="0" anchor="ctr">
            <a:normAutofit/>
          </a:bodyPr>
          <a:lstStyle/>
          <a:p>
            <a:pPr marL="0" indent="0">
              <a:buNone/>
            </a:pPr>
            <a:r>
              <a:rPr lang="en-US" sz="1500" b="1" dirty="0">
                <a:solidFill>
                  <a:srgbClr val="102A43"/>
                </a:solidFill>
                <a:latin typeface="Aptos Display" pitchFamily="34" charset="0"/>
                <a:ea typeface="Aptos Display" pitchFamily="34" charset="-122"/>
                <a:cs typeface="Aptos Display" pitchFamily="34" charset="-120"/>
              </a:rPr>
              <a:t>Pass criteria</a:t>
            </a:r>
            <a:endParaRPr lang="en-US" sz="1500" dirty="0"/>
          </a:p>
        </p:txBody>
      </p:sp>
      <p:sp>
        <p:nvSpPr>
          <p:cNvPr id="19" name="Text 14"/>
          <p:cNvSpPr/>
          <p:nvPr/>
        </p:nvSpPr>
        <p:spPr>
          <a:xfrm>
            <a:off x="8494776" y="2450592"/>
            <a:ext cx="2807208" cy="2377440"/>
          </a:xfrm>
          <a:prstGeom prst="rect">
            <a:avLst/>
          </a:prstGeom>
          <a:noFill/>
          <a:ln/>
        </p:spPr>
        <p:txBody>
          <a:bodyPr wrap="square" lIns="0" tIns="0" rIns="0" bIns="0" rtlCol="0" anchor="t">
            <a:normAutofit/>
          </a:bodyPr>
          <a:lstStyle/>
          <a:p>
            <a:pPr marL="0" indent="0">
              <a:lnSpc>
                <a:spcPct val="95000"/>
              </a:lnSpc>
              <a:buNone/>
            </a:pPr>
            <a:r>
              <a:rPr lang="en-US" sz="1050" dirty="0">
                <a:solidFill>
                  <a:srgbClr val="4F6474"/>
                </a:solidFill>
                <a:latin typeface="Aptos" pitchFamily="34" charset="0"/>
                <a:ea typeface="Aptos" pitchFamily="34" charset="-122"/>
                <a:cs typeface="Aptos" pitchFamily="34" charset="-120"/>
              </a:rPr>
              <a:t>Tools list successfully.</a:t>
            </a:r>
            <a:endParaRPr lang="en-US" sz="1050" dirty="0"/>
          </a:p>
          <a:p>
            <a:pPr marL="0" indent="0">
              <a:lnSpc>
                <a:spcPct val="95000"/>
              </a:lnSpc>
              <a:buNone/>
            </a:pPr>
            <a:endParaRPr lang="en-US" sz="1050" dirty="0"/>
          </a:p>
          <a:p>
            <a:pPr marL="0" indent="0">
              <a:lnSpc>
                <a:spcPct val="95000"/>
              </a:lnSpc>
              <a:buNone/>
            </a:pPr>
            <a:r>
              <a:rPr lang="en-US" sz="1050" dirty="0">
                <a:solidFill>
                  <a:srgbClr val="4F6474"/>
                </a:solidFill>
                <a:latin typeface="Aptos" pitchFamily="34" charset="0"/>
                <a:ea typeface="Aptos" pitchFamily="34" charset="-122"/>
                <a:cs typeface="Aptos" pitchFamily="34" charset="-120"/>
              </a:rPr>
              <a:t>A read-only tool returns the expected payload. Errors are understandable and traceable.</a:t>
            </a:r>
            <a:endParaRPr lang="en-US" sz="1050" dirty="0"/>
          </a:p>
        </p:txBody>
      </p:sp>
      <p:sp>
        <p:nvSpPr>
          <p:cNvPr id="20" name="Shape 15"/>
          <p:cNvSpPr/>
          <p:nvPr/>
        </p:nvSpPr>
        <p:spPr>
          <a:xfrm>
            <a:off x="1463040" y="5321808"/>
            <a:ext cx="9281160" cy="512064"/>
          </a:xfrm>
          <a:prstGeom prst="roundRect">
            <a:avLst/>
          </a:prstGeom>
          <a:solidFill>
            <a:srgbClr val="FFE9E3"/>
          </a:solidFill>
          <a:ln w="12700">
            <a:solidFill>
              <a:srgbClr val="FF7A59"/>
            </a:solidFill>
            <a:prstDash val="solid"/>
          </a:ln>
        </p:spPr>
        <p:txBody>
          <a:bodyPr/>
          <a:lstStyle/>
          <a:p>
            <a:endParaRPr lang="en-US"/>
          </a:p>
        </p:txBody>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691640" y="5440680"/>
            <a:ext cx="256032" cy="256032"/>
          </a:xfrm>
          <a:prstGeom prst="rect">
            <a:avLst/>
          </a:prstGeom>
        </p:spPr>
      </p:pic>
      <p:sp>
        <p:nvSpPr>
          <p:cNvPr id="22" name="Text 16"/>
          <p:cNvSpPr/>
          <p:nvPr/>
        </p:nvSpPr>
        <p:spPr>
          <a:xfrm>
            <a:off x="2103120" y="5449824"/>
            <a:ext cx="8321040" cy="182880"/>
          </a:xfrm>
          <a:prstGeom prst="rect">
            <a:avLst/>
          </a:prstGeom>
          <a:noFill/>
          <a:ln/>
        </p:spPr>
        <p:txBody>
          <a:bodyPr wrap="square" lIns="0" tIns="0" rIns="0" bIns="0" rtlCol="0" anchor="ctr">
            <a:normAutofit/>
          </a:bodyPr>
          <a:lstStyle/>
          <a:p>
            <a:pPr marL="0" indent="0">
              <a:buNone/>
            </a:pPr>
            <a:r>
              <a:rPr lang="en-US" sz="1000" b="1" dirty="0">
                <a:solidFill>
                  <a:srgbClr val="102A43"/>
                </a:solidFill>
                <a:latin typeface="Aptos" pitchFamily="34" charset="0"/>
                <a:ea typeface="Aptos" pitchFamily="34" charset="-122"/>
                <a:cs typeface="Aptos" pitchFamily="34" charset="-120"/>
              </a:rPr>
              <a:t>Streaming rule: keep frontend response payload logging at 0 bytes and do not access context.Response.Body in MCP policies.</a:t>
            </a:r>
            <a:endParaRPr lang="en-US" sz="1000" dirty="0"/>
          </a:p>
        </p:txBody>
      </p:sp>
      <p:sp>
        <p:nvSpPr>
          <p:cNvPr id="23" name="Text 17"/>
          <p:cNvSpPr/>
          <p:nvPr/>
        </p:nvSpPr>
        <p:spPr>
          <a:xfrm>
            <a:off x="566928" y="6528816"/>
            <a:ext cx="4389120" cy="146304"/>
          </a:xfrm>
          <a:prstGeom prst="rect">
            <a:avLst/>
          </a:prstGeom>
          <a:noFill/>
          <a:ln/>
        </p:spPr>
        <p:txBody>
          <a:bodyPr wrap="square" lIns="0" tIns="0" rIns="0" bIns="0" rtlCol="0" anchor="ctr"/>
          <a:lstStyle/>
          <a:p>
            <a:pPr marL="0" indent="0">
              <a:buNone/>
            </a:pPr>
            <a:r>
              <a:rPr lang="en-US" sz="750" dirty="0">
                <a:solidFill>
                  <a:srgbClr val="748494"/>
                </a:solidFill>
                <a:latin typeface="Aptos" pitchFamily="34" charset="0"/>
                <a:ea typeface="Aptos" pitchFamily="34" charset="-122"/>
                <a:cs typeface="Aptos" pitchFamily="34" charset="-120"/>
              </a:rPr>
              <a:t>Checkpoint: prove the protocol before the agent</a:t>
            </a:r>
            <a:endParaRPr lang="en-US" sz="750" dirty="0"/>
          </a:p>
        </p:txBody>
      </p:sp>
      <p:sp>
        <p:nvSpPr>
          <p:cNvPr id="25" name="Slide Number Placeholder 0"/>
          <p:cNvSpPr>
            <a:spLocks noGrp="1"/>
          </p:cNvSpPr>
          <p:nvPr>
            <p:ph type="sldNum" sz="quarter" idx="4294967295"/>
          </p:nvPr>
        </p:nvSpPr>
        <p:spPr>
          <a:xfrm>
            <a:off x="11109960" y="6510528"/>
            <a:ext cx="548640"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748494"/>
                </a:solidFill>
                <a:latin typeface="Aptos"/>
                <a:ea typeface="Aptos"/>
                <a:cs typeface="Aptos"/>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292608"/>
            <a:ext cx="2926080" cy="201168"/>
          </a:xfrm>
          <a:prstGeom prst="rect">
            <a:avLst/>
          </a:prstGeom>
          <a:noFill/>
          <a:ln/>
        </p:spPr>
        <p:txBody>
          <a:bodyPr wrap="square" lIns="254" tIns="254" rIns="254" bIns="254" rtlCol="0" anchor="ctr"/>
          <a:lstStyle/>
          <a:p>
            <a:pPr marL="0" indent="0">
              <a:buNone/>
            </a:pPr>
            <a:r>
              <a:rPr lang="en-US" sz="900" b="1" kern="0" spc="140" dirty="0">
                <a:solidFill>
                  <a:srgbClr val="0F8B8D"/>
                </a:solidFill>
                <a:latin typeface="Aptos" pitchFamily="34" charset="0"/>
                <a:ea typeface="Aptos" pitchFamily="34" charset="-122"/>
                <a:cs typeface="Aptos" pitchFamily="34" charset="-120"/>
              </a:rPr>
              <a:t> LAB 3 | BUILD</a:t>
            </a:r>
            <a:endParaRPr lang="en-US" sz="900" dirty="0"/>
          </a:p>
        </p:txBody>
      </p:sp>
      <p:sp>
        <p:nvSpPr>
          <p:cNvPr id="3" name="Text 1"/>
          <p:cNvSpPr/>
          <p:nvPr/>
        </p:nvSpPr>
        <p:spPr>
          <a:xfrm>
            <a:off x="640080" y="548640"/>
            <a:ext cx="10835640" cy="502920"/>
          </a:xfrm>
          <a:prstGeom prst="rect">
            <a:avLst/>
          </a:prstGeom>
          <a:noFill/>
          <a:ln/>
        </p:spPr>
        <p:txBody>
          <a:bodyPr wrap="square" lIns="0" tIns="0" rIns="0" bIns="0" rtlCol="0" anchor="ctr">
            <a:normAutofit/>
          </a:bodyPr>
          <a:lstStyle/>
          <a:p>
            <a:pPr marL="0" indent="0">
              <a:buNone/>
            </a:pPr>
            <a:r>
              <a:rPr lang="en-US" sz="2700" b="1" dirty="0">
                <a:solidFill>
                  <a:srgbClr val="102A43"/>
                </a:solidFill>
                <a:latin typeface="Aptos Display" pitchFamily="34" charset="0"/>
                <a:ea typeface="Aptos Display" pitchFamily="34" charset="-122"/>
                <a:cs typeface="Aptos Display" pitchFamily="34" charset="-120"/>
              </a:rPr>
              <a:t>Create a code-first Foundry agent that uses MCP tools</a:t>
            </a:r>
            <a:endParaRPr lang="en-US" sz="2700" dirty="0"/>
          </a:p>
        </p:txBody>
      </p:sp>
      <p:sp>
        <p:nvSpPr>
          <p:cNvPr id="4" name="Text 2"/>
          <p:cNvSpPr/>
          <p:nvPr/>
        </p:nvSpPr>
        <p:spPr>
          <a:xfrm>
            <a:off x="658368" y="1078992"/>
            <a:ext cx="10698480" cy="310896"/>
          </a:xfrm>
          <a:prstGeom prst="rect">
            <a:avLst/>
          </a:prstGeom>
          <a:noFill/>
          <a:ln/>
        </p:spPr>
        <p:txBody>
          <a:bodyPr wrap="square" lIns="254" tIns="254" rIns="254" bIns="254" rtlCol="0" anchor="ctr">
            <a:normAutofit/>
          </a:bodyPr>
          <a:lstStyle/>
          <a:p>
            <a:pPr marL="0" indent="0">
              <a:buNone/>
            </a:pPr>
            <a:r>
              <a:rPr lang="en-US" sz="1250" dirty="0">
                <a:solidFill>
                  <a:srgbClr val="4F6474"/>
                </a:solidFill>
                <a:latin typeface="Aptos" pitchFamily="34" charset="0"/>
                <a:ea typeface="Aptos" pitchFamily="34" charset="-122"/>
                <a:cs typeface="Aptos" pitchFamily="34" charset="-120"/>
              </a:rPr>
              <a:t> The ASP.NET Core application exposes the Responses protocol and keeps the tool profile in configuration.</a:t>
            </a:r>
            <a:endParaRPr lang="en-US" sz="1250" dirty="0"/>
          </a:p>
        </p:txBody>
      </p:sp>
      <p:sp>
        <p:nvSpPr>
          <p:cNvPr id="5" name="Shape 3"/>
          <p:cNvSpPr/>
          <p:nvPr/>
        </p:nvSpPr>
        <p:spPr>
          <a:xfrm>
            <a:off x="640080" y="1783080"/>
            <a:ext cx="3822192" cy="3886200"/>
          </a:xfrm>
          <a:prstGeom prst="roundRect">
            <a:avLst/>
          </a:prstGeom>
          <a:solidFill>
            <a:srgbClr val="102A43"/>
          </a:solidFill>
          <a:ln w="12700">
            <a:solidFill>
              <a:srgbClr val="102A43"/>
            </a:solidFill>
            <a:prstDash val="solid"/>
          </a:ln>
          <a:effectLst>
            <a:outerShdw blurRad="25400" dist="50800" dir="2700000" algn="bl" rotWithShape="0">
              <a:srgbClr val="102A43">
                <a:alpha val="14000"/>
              </a:srgbClr>
            </a:outerShdw>
          </a:effectLst>
        </p:spPr>
        <p:txBody>
          <a:bodyPr/>
          <a:lstStyle/>
          <a:p>
            <a:endParaRPr lang="en-US"/>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41832" y="2057400"/>
            <a:ext cx="457200" cy="457200"/>
          </a:xfrm>
          <a:prstGeom prst="rect">
            <a:avLst/>
          </a:prstGeom>
        </p:spPr>
      </p:pic>
      <p:sp>
        <p:nvSpPr>
          <p:cNvPr id="7" name="Text 4"/>
          <p:cNvSpPr/>
          <p:nvPr/>
        </p:nvSpPr>
        <p:spPr>
          <a:xfrm>
            <a:off x="1572768" y="2093976"/>
            <a:ext cx="2331720" cy="320040"/>
          </a:xfrm>
          <a:prstGeom prst="rect">
            <a:avLst/>
          </a:prstGeom>
          <a:noFill/>
          <a:ln/>
        </p:spPr>
        <p:txBody>
          <a:bodyPr wrap="square" lIns="0" tIns="0" rIns="0" bIns="0" rtlCol="0" anchor="ctr"/>
          <a:lstStyle/>
          <a:p>
            <a:pPr marL="0" indent="0">
              <a:buNone/>
            </a:pPr>
            <a:r>
              <a:rPr lang="en-US" sz="1900" b="1" dirty="0">
                <a:solidFill>
                  <a:srgbClr val="FFFFFF"/>
                </a:solidFill>
                <a:latin typeface="Aptos Display" pitchFamily="34" charset="0"/>
                <a:ea typeface="Aptos Display" pitchFamily="34" charset="-122"/>
                <a:cs typeface="Aptos Display" pitchFamily="34" charset="-120"/>
              </a:rPr>
              <a:t>.NET 10 agent app</a:t>
            </a:r>
            <a:endParaRPr lang="en-US" sz="19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7552" y="2816352"/>
            <a:ext cx="210312" cy="210312"/>
          </a:xfrm>
          <a:prstGeom prst="rect">
            <a:avLst/>
          </a:prstGeom>
        </p:spPr>
      </p:pic>
      <p:sp>
        <p:nvSpPr>
          <p:cNvPr id="9" name="Text 5"/>
          <p:cNvSpPr/>
          <p:nvPr/>
        </p:nvSpPr>
        <p:spPr>
          <a:xfrm>
            <a:off x="1353312" y="2816352"/>
            <a:ext cx="2697480" cy="219456"/>
          </a:xfrm>
          <a:prstGeom prst="rect">
            <a:avLst/>
          </a:prstGeom>
          <a:noFill/>
          <a:ln/>
        </p:spPr>
        <p:txBody>
          <a:bodyPr wrap="square" lIns="0" tIns="0" rIns="0" bIns="0" rtlCol="0" anchor="ctr">
            <a:normAutofit/>
          </a:bodyPr>
          <a:lstStyle/>
          <a:p>
            <a:pPr marL="0" indent="0">
              <a:buNone/>
            </a:pPr>
            <a:r>
              <a:rPr lang="en-US" sz="1030" dirty="0">
                <a:solidFill>
                  <a:srgbClr val="E5EFF5"/>
                </a:solidFill>
                <a:latin typeface="Aptos" pitchFamily="34" charset="0"/>
                <a:ea typeface="Aptos" pitchFamily="34" charset="-122"/>
                <a:cs typeface="Aptos" pitchFamily="34" charset="-120"/>
              </a:rPr>
              <a:t>ASP.NET Core hosted agent</a:t>
            </a:r>
            <a:endParaRPr lang="en-US" sz="103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7552" y="3319272"/>
            <a:ext cx="210312" cy="210312"/>
          </a:xfrm>
          <a:prstGeom prst="rect">
            <a:avLst/>
          </a:prstGeom>
        </p:spPr>
      </p:pic>
      <p:sp>
        <p:nvSpPr>
          <p:cNvPr id="11" name="Text 6"/>
          <p:cNvSpPr/>
          <p:nvPr/>
        </p:nvSpPr>
        <p:spPr>
          <a:xfrm>
            <a:off x="1353312" y="3319272"/>
            <a:ext cx="2697480" cy="219456"/>
          </a:xfrm>
          <a:prstGeom prst="rect">
            <a:avLst/>
          </a:prstGeom>
          <a:noFill/>
          <a:ln/>
        </p:spPr>
        <p:txBody>
          <a:bodyPr wrap="square" lIns="0" tIns="0" rIns="0" bIns="0" rtlCol="0" anchor="ctr">
            <a:normAutofit/>
          </a:bodyPr>
          <a:lstStyle/>
          <a:p>
            <a:pPr marL="0" indent="0">
              <a:buNone/>
            </a:pPr>
            <a:r>
              <a:rPr lang="en-US" sz="1030" dirty="0">
                <a:solidFill>
                  <a:srgbClr val="E5EFF5"/>
                </a:solidFill>
                <a:latin typeface="Aptos" pitchFamily="34" charset="0"/>
                <a:ea typeface="Aptos" pitchFamily="34" charset="-122"/>
                <a:cs typeface="Aptos" pitchFamily="34" charset="-120"/>
              </a:rPr>
              <a:t>Responses protocol endpoint</a:t>
            </a:r>
            <a:endParaRPr lang="en-US" sz="103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7552" y="3822192"/>
            <a:ext cx="210312" cy="210312"/>
          </a:xfrm>
          <a:prstGeom prst="rect">
            <a:avLst/>
          </a:prstGeom>
        </p:spPr>
      </p:pic>
      <p:sp>
        <p:nvSpPr>
          <p:cNvPr id="13" name="Text 7"/>
          <p:cNvSpPr/>
          <p:nvPr/>
        </p:nvSpPr>
        <p:spPr>
          <a:xfrm>
            <a:off x="1353312" y="3822192"/>
            <a:ext cx="2697480" cy="219456"/>
          </a:xfrm>
          <a:prstGeom prst="rect">
            <a:avLst/>
          </a:prstGeom>
          <a:noFill/>
          <a:ln/>
        </p:spPr>
        <p:txBody>
          <a:bodyPr wrap="square" lIns="0" tIns="0" rIns="0" bIns="0" rtlCol="0" anchor="ctr">
            <a:normAutofit/>
          </a:bodyPr>
          <a:lstStyle/>
          <a:p>
            <a:pPr marL="0" indent="0">
              <a:buNone/>
            </a:pPr>
            <a:r>
              <a:rPr lang="en-US" sz="1030" dirty="0">
                <a:solidFill>
                  <a:srgbClr val="E5EFF5"/>
                </a:solidFill>
                <a:latin typeface="Aptos" pitchFamily="34" charset="0"/>
                <a:ea typeface="Aptos" pitchFamily="34" charset="-122"/>
                <a:cs typeface="Aptos" pitchFamily="34" charset="-120"/>
              </a:rPr>
              <a:t>AzureCliCredential for local auth</a:t>
            </a:r>
            <a:endParaRPr lang="en-US" sz="1030" dirty="0"/>
          </a:p>
        </p:txBody>
      </p:sp>
      <p:pic>
        <p:nvPicPr>
          <p:cNvPr id="14"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7552" y="4325112"/>
            <a:ext cx="210312" cy="210312"/>
          </a:xfrm>
          <a:prstGeom prst="rect">
            <a:avLst/>
          </a:prstGeom>
        </p:spPr>
      </p:pic>
      <p:sp>
        <p:nvSpPr>
          <p:cNvPr id="15" name="Text 8"/>
          <p:cNvSpPr/>
          <p:nvPr/>
        </p:nvSpPr>
        <p:spPr>
          <a:xfrm>
            <a:off x="1353312" y="4325112"/>
            <a:ext cx="2697480" cy="219456"/>
          </a:xfrm>
          <a:prstGeom prst="rect">
            <a:avLst/>
          </a:prstGeom>
          <a:noFill/>
          <a:ln/>
        </p:spPr>
        <p:txBody>
          <a:bodyPr wrap="square" lIns="0" tIns="0" rIns="0" bIns="0" rtlCol="0" anchor="ctr">
            <a:normAutofit/>
          </a:bodyPr>
          <a:lstStyle/>
          <a:p>
            <a:pPr marL="0" indent="0">
              <a:buNone/>
            </a:pPr>
            <a:r>
              <a:rPr lang="en-US" sz="1030" dirty="0">
                <a:solidFill>
                  <a:srgbClr val="E5EFF5"/>
                </a:solidFill>
                <a:latin typeface="Aptos" pitchFamily="34" charset="0"/>
                <a:ea typeface="Aptos" pitchFamily="34" charset="-122"/>
                <a:cs typeface="Aptos" pitchFamily="34" charset="-120"/>
              </a:rPr>
              <a:t>Environment-driven MCP profile</a:t>
            </a:r>
            <a:endParaRPr lang="en-US" sz="1030" dirty="0"/>
          </a:p>
        </p:txBody>
      </p:sp>
      <p:pic>
        <p:nvPicPr>
          <p:cNvPr id="16" name="Image 5"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7552" y="4828032"/>
            <a:ext cx="210312" cy="210312"/>
          </a:xfrm>
          <a:prstGeom prst="rect">
            <a:avLst/>
          </a:prstGeom>
        </p:spPr>
      </p:pic>
      <p:sp>
        <p:nvSpPr>
          <p:cNvPr id="17" name="Text 9"/>
          <p:cNvSpPr/>
          <p:nvPr/>
        </p:nvSpPr>
        <p:spPr>
          <a:xfrm>
            <a:off x="1353312" y="4828032"/>
            <a:ext cx="2697480" cy="219456"/>
          </a:xfrm>
          <a:prstGeom prst="rect">
            <a:avLst/>
          </a:prstGeom>
          <a:noFill/>
          <a:ln/>
        </p:spPr>
        <p:txBody>
          <a:bodyPr wrap="square" lIns="0" tIns="0" rIns="0" bIns="0" rtlCol="0" anchor="ctr">
            <a:normAutofit/>
          </a:bodyPr>
          <a:lstStyle/>
          <a:p>
            <a:pPr marL="0" indent="0">
              <a:buNone/>
            </a:pPr>
            <a:r>
              <a:rPr lang="en-US" sz="1030" dirty="0">
                <a:solidFill>
                  <a:srgbClr val="E5EFF5"/>
                </a:solidFill>
                <a:latin typeface="Aptos" pitchFamily="34" charset="0"/>
                <a:ea typeface="Aptos" pitchFamily="34" charset="-122"/>
                <a:cs typeface="Aptos" pitchFamily="34" charset="-120"/>
              </a:rPr>
              <a:t>Approval groups for write tools</a:t>
            </a:r>
            <a:endParaRPr lang="en-US" sz="1030" dirty="0"/>
          </a:p>
        </p:txBody>
      </p:sp>
      <p:sp>
        <p:nvSpPr>
          <p:cNvPr id="18" name="Text 10"/>
          <p:cNvSpPr/>
          <p:nvPr/>
        </p:nvSpPr>
        <p:spPr>
          <a:xfrm>
            <a:off x="5010912" y="1874520"/>
            <a:ext cx="3429000" cy="320040"/>
          </a:xfrm>
          <a:prstGeom prst="rect">
            <a:avLst/>
          </a:prstGeom>
          <a:noFill/>
          <a:ln/>
        </p:spPr>
        <p:txBody>
          <a:bodyPr wrap="square" lIns="0" tIns="0" rIns="0" bIns="0" rtlCol="0" anchor="ctr"/>
          <a:lstStyle/>
          <a:p>
            <a:pPr marL="0" indent="0">
              <a:buNone/>
            </a:pPr>
            <a:r>
              <a:rPr lang="en-US" sz="1800" b="1" dirty="0">
                <a:solidFill>
                  <a:srgbClr val="102A43"/>
                </a:solidFill>
                <a:latin typeface="Aptos Display" pitchFamily="34" charset="0"/>
                <a:ea typeface="Aptos Display" pitchFamily="34" charset="-122"/>
                <a:cs typeface="Aptos Display" pitchFamily="34" charset="-120"/>
              </a:rPr>
              <a:t>Configuration drives behavior</a:t>
            </a:r>
            <a:endParaRPr lang="en-US" sz="1800" dirty="0"/>
          </a:p>
        </p:txBody>
      </p:sp>
      <p:sp>
        <p:nvSpPr>
          <p:cNvPr id="19" name="Shape 11"/>
          <p:cNvSpPr/>
          <p:nvPr/>
        </p:nvSpPr>
        <p:spPr>
          <a:xfrm>
            <a:off x="4983480" y="2395728"/>
            <a:ext cx="6291072" cy="429768"/>
          </a:xfrm>
          <a:prstGeom prst="roundRect">
            <a:avLst/>
          </a:prstGeom>
          <a:solidFill>
            <a:srgbClr val="FFFFFF"/>
          </a:solidFill>
          <a:ln w="12700">
            <a:solidFill>
              <a:srgbClr val="DDE6EC"/>
            </a:solidFill>
            <a:prstDash val="solid"/>
          </a:ln>
        </p:spPr>
        <p:txBody>
          <a:bodyPr/>
          <a:lstStyle/>
          <a:p>
            <a:endParaRPr lang="en-US"/>
          </a:p>
        </p:txBody>
      </p:sp>
      <p:sp>
        <p:nvSpPr>
          <p:cNvPr id="20" name="Text 12"/>
          <p:cNvSpPr/>
          <p:nvPr/>
        </p:nvSpPr>
        <p:spPr>
          <a:xfrm>
            <a:off x="5193792" y="2514600"/>
            <a:ext cx="2286000" cy="164592"/>
          </a:xfrm>
          <a:prstGeom prst="rect">
            <a:avLst/>
          </a:prstGeom>
          <a:noFill/>
          <a:ln/>
        </p:spPr>
        <p:txBody>
          <a:bodyPr wrap="square" lIns="0" tIns="0" rIns="0" bIns="0" rtlCol="0" anchor="ctr"/>
          <a:lstStyle/>
          <a:p>
            <a:pPr marL="0" indent="0">
              <a:buNone/>
            </a:pPr>
            <a:r>
              <a:rPr lang="en-US" sz="950" b="1" dirty="0">
                <a:solidFill>
                  <a:srgbClr val="0F8B8D"/>
                </a:solidFill>
                <a:latin typeface="Consolas" pitchFamily="34" charset="0"/>
                <a:ea typeface="Consolas" pitchFamily="34" charset="-122"/>
                <a:cs typeface="Consolas" pitchFamily="34" charset="-120"/>
              </a:rPr>
              <a:t>PROJECT_ENDPOINT</a:t>
            </a:r>
            <a:endParaRPr lang="en-US" sz="950" dirty="0"/>
          </a:p>
        </p:txBody>
      </p:sp>
      <p:sp>
        <p:nvSpPr>
          <p:cNvPr id="21" name="Text 13"/>
          <p:cNvSpPr/>
          <p:nvPr/>
        </p:nvSpPr>
        <p:spPr>
          <a:xfrm>
            <a:off x="7754112" y="2514600"/>
            <a:ext cx="3154680" cy="164592"/>
          </a:xfrm>
          <a:prstGeom prst="rect">
            <a:avLst/>
          </a:prstGeom>
          <a:noFill/>
          <a:ln/>
        </p:spPr>
        <p:txBody>
          <a:bodyPr wrap="square" lIns="0" tIns="0" rIns="0" bIns="0" rtlCol="0" anchor="ctr"/>
          <a:lstStyle/>
          <a:p>
            <a:pPr marL="0" indent="0">
              <a:buNone/>
            </a:pPr>
            <a:r>
              <a:rPr lang="en-US" sz="1000" dirty="0">
                <a:solidFill>
                  <a:srgbClr val="4F6474"/>
                </a:solidFill>
                <a:latin typeface="Aptos" pitchFamily="34" charset="0"/>
                <a:ea typeface="Aptos" pitchFamily="34" charset="-122"/>
                <a:cs typeface="Aptos" pitchFamily="34" charset="-120"/>
              </a:rPr>
              <a:t>Foundry project</a:t>
            </a:r>
            <a:endParaRPr lang="en-US" sz="1000" dirty="0"/>
          </a:p>
        </p:txBody>
      </p:sp>
      <p:sp>
        <p:nvSpPr>
          <p:cNvPr id="22" name="Shape 14"/>
          <p:cNvSpPr/>
          <p:nvPr/>
        </p:nvSpPr>
        <p:spPr>
          <a:xfrm>
            <a:off x="4983480" y="2962656"/>
            <a:ext cx="6291072" cy="429768"/>
          </a:xfrm>
          <a:prstGeom prst="roundRect">
            <a:avLst/>
          </a:prstGeom>
          <a:solidFill>
            <a:srgbClr val="EDF2F5"/>
          </a:solidFill>
          <a:ln w="12700">
            <a:solidFill>
              <a:srgbClr val="DDE6EC"/>
            </a:solidFill>
            <a:prstDash val="solid"/>
          </a:ln>
        </p:spPr>
        <p:txBody>
          <a:bodyPr/>
          <a:lstStyle/>
          <a:p>
            <a:endParaRPr lang="en-US"/>
          </a:p>
        </p:txBody>
      </p:sp>
      <p:sp>
        <p:nvSpPr>
          <p:cNvPr id="23" name="Text 15"/>
          <p:cNvSpPr/>
          <p:nvPr/>
        </p:nvSpPr>
        <p:spPr>
          <a:xfrm>
            <a:off x="5193792" y="3081528"/>
            <a:ext cx="2286000" cy="164592"/>
          </a:xfrm>
          <a:prstGeom prst="rect">
            <a:avLst/>
          </a:prstGeom>
          <a:noFill/>
          <a:ln/>
        </p:spPr>
        <p:txBody>
          <a:bodyPr wrap="square" lIns="0" tIns="0" rIns="0" bIns="0" rtlCol="0" anchor="ctr"/>
          <a:lstStyle/>
          <a:p>
            <a:pPr marL="0" indent="0">
              <a:buNone/>
            </a:pPr>
            <a:r>
              <a:rPr lang="en-US" sz="950" b="1" dirty="0">
                <a:solidFill>
                  <a:srgbClr val="0F8B8D"/>
                </a:solidFill>
                <a:latin typeface="Consolas" pitchFamily="34" charset="0"/>
                <a:ea typeface="Consolas" pitchFamily="34" charset="-122"/>
                <a:cs typeface="Consolas" pitchFamily="34" charset="-120"/>
              </a:rPr>
              <a:t>MODEL_DEPLOYMENT</a:t>
            </a:r>
            <a:endParaRPr lang="en-US" sz="950" dirty="0"/>
          </a:p>
        </p:txBody>
      </p:sp>
      <p:sp>
        <p:nvSpPr>
          <p:cNvPr id="24" name="Text 16"/>
          <p:cNvSpPr/>
          <p:nvPr/>
        </p:nvSpPr>
        <p:spPr>
          <a:xfrm>
            <a:off x="7754112" y="3081528"/>
            <a:ext cx="3154680" cy="164592"/>
          </a:xfrm>
          <a:prstGeom prst="rect">
            <a:avLst/>
          </a:prstGeom>
          <a:noFill/>
          <a:ln/>
        </p:spPr>
        <p:txBody>
          <a:bodyPr wrap="square" lIns="0" tIns="0" rIns="0" bIns="0" rtlCol="0" anchor="ctr"/>
          <a:lstStyle/>
          <a:p>
            <a:pPr marL="0" indent="0">
              <a:buNone/>
            </a:pPr>
            <a:r>
              <a:rPr lang="en-US" sz="1000" dirty="0">
                <a:solidFill>
                  <a:srgbClr val="4F6474"/>
                </a:solidFill>
                <a:latin typeface="Aptos" pitchFamily="34" charset="0"/>
                <a:ea typeface="Aptos" pitchFamily="34" charset="-122"/>
                <a:cs typeface="Aptos" pitchFamily="34" charset="-120"/>
              </a:rPr>
              <a:t>Chat model</a:t>
            </a:r>
            <a:endParaRPr lang="en-US" sz="1000" dirty="0"/>
          </a:p>
        </p:txBody>
      </p:sp>
      <p:sp>
        <p:nvSpPr>
          <p:cNvPr id="25" name="Shape 17"/>
          <p:cNvSpPr/>
          <p:nvPr/>
        </p:nvSpPr>
        <p:spPr>
          <a:xfrm>
            <a:off x="4983480" y="3529584"/>
            <a:ext cx="6291072" cy="429768"/>
          </a:xfrm>
          <a:prstGeom prst="roundRect">
            <a:avLst/>
          </a:prstGeom>
          <a:solidFill>
            <a:srgbClr val="FFFFFF"/>
          </a:solidFill>
          <a:ln w="12700">
            <a:solidFill>
              <a:srgbClr val="DDE6EC"/>
            </a:solidFill>
            <a:prstDash val="solid"/>
          </a:ln>
        </p:spPr>
        <p:txBody>
          <a:bodyPr/>
          <a:lstStyle/>
          <a:p>
            <a:endParaRPr lang="en-US"/>
          </a:p>
        </p:txBody>
      </p:sp>
      <p:sp>
        <p:nvSpPr>
          <p:cNvPr id="26" name="Text 18"/>
          <p:cNvSpPr/>
          <p:nvPr/>
        </p:nvSpPr>
        <p:spPr>
          <a:xfrm>
            <a:off x="5193792" y="3648456"/>
            <a:ext cx="2286000" cy="164592"/>
          </a:xfrm>
          <a:prstGeom prst="rect">
            <a:avLst/>
          </a:prstGeom>
          <a:noFill/>
          <a:ln/>
        </p:spPr>
        <p:txBody>
          <a:bodyPr wrap="square" lIns="0" tIns="0" rIns="0" bIns="0" rtlCol="0" anchor="ctr"/>
          <a:lstStyle/>
          <a:p>
            <a:pPr marL="0" indent="0">
              <a:buNone/>
            </a:pPr>
            <a:r>
              <a:rPr lang="en-US" sz="950" b="1" dirty="0">
                <a:solidFill>
                  <a:srgbClr val="0F8B8D"/>
                </a:solidFill>
                <a:latin typeface="Consolas" pitchFamily="34" charset="0"/>
                <a:ea typeface="Consolas" pitchFamily="34" charset="-122"/>
                <a:cs typeface="Consolas" pitchFamily="34" charset="-120"/>
              </a:rPr>
              <a:t>MCP_ENDPOINT</a:t>
            </a:r>
            <a:endParaRPr lang="en-US" sz="950" dirty="0"/>
          </a:p>
        </p:txBody>
      </p:sp>
      <p:sp>
        <p:nvSpPr>
          <p:cNvPr id="27" name="Text 19"/>
          <p:cNvSpPr/>
          <p:nvPr/>
        </p:nvSpPr>
        <p:spPr>
          <a:xfrm>
            <a:off x="7754112" y="3648456"/>
            <a:ext cx="3154680" cy="164592"/>
          </a:xfrm>
          <a:prstGeom prst="rect">
            <a:avLst/>
          </a:prstGeom>
          <a:noFill/>
          <a:ln/>
        </p:spPr>
        <p:txBody>
          <a:bodyPr wrap="square" lIns="0" tIns="0" rIns="0" bIns="0" rtlCol="0" anchor="ctr"/>
          <a:lstStyle/>
          <a:p>
            <a:pPr marL="0" indent="0">
              <a:buNone/>
            </a:pPr>
            <a:r>
              <a:rPr lang="en-US" sz="1000" dirty="0">
                <a:solidFill>
                  <a:srgbClr val="4F6474"/>
                </a:solidFill>
                <a:latin typeface="Aptos" pitchFamily="34" charset="0"/>
                <a:ea typeface="Aptos" pitchFamily="34" charset="-122"/>
                <a:cs typeface="Aptos" pitchFamily="34" charset="-120"/>
              </a:rPr>
              <a:t>APIM MCP URL</a:t>
            </a:r>
            <a:endParaRPr lang="en-US" sz="1000" dirty="0"/>
          </a:p>
        </p:txBody>
      </p:sp>
      <p:sp>
        <p:nvSpPr>
          <p:cNvPr id="28" name="Shape 20"/>
          <p:cNvSpPr/>
          <p:nvPr/>
        </p:nvSpPr>
        <p:spPr>
          <a:xfrm>
            <a:off x="4983480" y="4096512"/>
            <a:ext cx="6291072" cy="429768"/>
          </a:xfrm>
          <a:prstGeom prst="roundRect">
            <a:avLst/>
          </a:prstGeom>
          <a:solidFill>
            <a:srgbClr val="EDF2F5"/>
          </a:solidFill>
          <a:ln w="12700">
            <a:solidFill>
              <a:srgbClr val="DDE6EC"/>
            </a:solidFill>
            <a:prstDash val="solid"/>
          </a:ln>
        </p:spPr>
        <p:txBody>
          <a:bodyPr/>
          <a:lstStyle/>
          <a:p>
            <a:endParaRPr lang="en-US"/>
          </a:p>
        </p:txBody>
      </p:sp>
      <p:sp>
        <p:nvSpPr>
          <p:cNvPr id="29" name="Text 21"/>
          <p:cNvSpPr/>
          <p:nvPr/>
        </p:nvSpPr>
        <p:spPr>
          <a:xfrm>
            <a:off x="5193792" y="4215384"/>
            <a:ext cx="2286000" cy="164592"/>
          </a:xfrm>
          <a:prstGeom prst="rect">
            <a:avLst/>
          </a:prstGeom>
          <a:noFill/>
          <a:ln/>
        </p:spPr>
        <p:txBody>
          <a:bodyPr wrap="square" lIns="0" tIns="0" rIns="0" bIns="0" rtlCol="0" anchor="ctr"/>
          <a:lstStyle/>
          <a:p>
            <a:pPr marL="0" indent="0">
              <a:buNone/>
            </a:pPr>
            <a:r>
              <a:rPr lang="en-US" sz="950" b="1" dirty="0">
                <a:solidFill>
                  <a:srgbClr val="0F8B8D"/>
                </a:solidFill>
                <a:latin typeface="Consolas" pitchFamily="34" charset="0"/>
                <a:ea typeface="Consolas" pitchFamily="34" charset="-122"/>
                <a:cs typeface="Consolas" pitchFamily="34" charset="-120"/>
              </a:rPr>
              <a:t>ALLOWED_TOOLS</a:t>
            </a:r>
            <a:endParaRPr lang="en-US" sz="950" dirty="0"/>
          </a:p>
        </p:txBody>
      </p:sp>
      <p:sp>
        <p:nvSpPr>
          <p:cNvPr id="30" name="Text 22"/>
          <p:cNvSpPr/>
          <p:nvPr/>
        </p:nvSpPr>
        <p:spPr>
          <a:xfrm>
            <a:off x="7754112" y="4215384"/>
            <a:ext cx="3154680" cy="164592"/>
          </a:xfrm>
          <a:prstGeom prst="rect">
            <a:avLst/>
          </a:prstGeom>
          <a:noFill/>
          <a:ln/>
        </p:spPr>
        <p:txBody>
          <a:bodyPr wrap="square" lIns="0" tIns="0" rIns="0" bIns="0" rtlCol="0" anchor="ctr"/>
          <a:lstStyle/>
          <a:p>
            <a:pPr marL="0" indent="0">
              <a:buNone/>
            </a:pPr>
            <a:r>
              <a:rPr lang="en-US" sz="1000" dirty="0">
                <a:solidFill>
                  <a:srgbClr val="4F6474"/>
                </a:solidFill>
                <a:latin typeface="Aptos" pitchFamily="34" charset="0"/>
                <a:ea typeface="Aptos" pitchFamily="34" charset="-122"/>
                <a:cs typeface="Aptos" pitchFamily="34" charset="-120"/>
              </a:rPr>
              <a:t>Tool allowlist</a:t>
            </a:r>
            <a:endParaRPr lang="en-US" sz="1000" dirty="0"/>
          </a:p>
        </p:txBody>
      </p:sp>
      <p:sp>
        <p:nvSpPr>
          <p:cNvPr id="31" name="Shape 23"/>
          <p:cNvSpPr/>
          <p:nvPr/>
        </p:nvSpPr>
        <p:spPr>
          <a:xfrm>
            <a:off x="4983480" y="4663440"/>
            <a:ext cx="6291072" cy="429768"/>
          </a:xfrm>
          <a:prstGeom prst="roundRect">
            <a:avLst/>
          </a:prstGeom>
          <a:solidFill>
            <a:srgbClr val="FFFFFF"/>
          </a:solidFill>
          <a:ln w="12700">
            <a:solidFill>
              <a:srgbClr val="DDE6EC"/>
            </a:solidFill>
            <a:prstDash val="solid"/>
          </a:ln>
        </p:spPr>
        <p:txBody>
          <a:bodyPr/>
          <a:lstStyle/>
          <a:p>
            <a:endParaRPr lang="en-US"/>
          </a:p>
        </p:txBody>
      </p:sp>
      <p:sp>
        <p:nvSpPr>
          <p:cNvPr id="32" name="Text 24"/>
          <p:cNvSpPr/>
          <p:nvPr/>
        </p:nvSpPr>
        <p:spPr>
          <a:xfrm>
            <a:off x="5193792" y="4782312"/>
            <a:ext cx="2286000" cy="164592"/>
          </a:xfrm>
          <a:prstGeom prst="rect">
            <a:avLst/>
          </a:prstGeom>
          <a:noFill/>
          <a:ln/>
        </p:spPr>
        <p:txBody>
          <a:bodyPr wrap="square" lIns="0" tIns="0" rIns="0" bIns="0" rtlCol="0" anchor="ctr"/>
          <a:lstStyle/>
          <a:p>
            <a:pPr marL="0" indent="0">
              <a:buNone/>
            </a:pPr>
            <a:r>
              <a:rPr lang="en-US" sz="950" b="1" dirty="0">
                <a:solidFill>
                  <a:srgbClr val="0F8B8D"/>
                </a:solidFill>
                <a:latin typeface="Consolas" pitchFamily="34" charset="0"/>
                <a:ea typeface="Consolas" pitchFamily="34" charset="-122"/>
                <a:cs typeface="Consolas" pitchFamily="34" charset="-120"/>
              </a:rPr>
              <a:t>APPROVAL_TOOLS</a:t>
            </a:r>
            <a:endParaRPr lang="en-US" sz="950" dirty="0"/>
          </a:p>
        </p:txBody>
      </p:sp>
      <p:sp>
        <p:nvSpPr>
          <p:cNvPr id="33" name="Text 25"/>
          <p:cNvSpPr/>
          <p:nvPr/>
        </p:nvSpPr>
        <p:spPr>
          <a:xfrm>
            <a:off x="7754112" y="4782312"/>
            <a:ext cx="3154680" cy="164592"/>
          </a:xfrm>
          <a:prstGeom prst="rect">
            <a:avLst/>
          </a:prstGeom>
          <a:noFill/>
          <a:ln/>
        </p:spPr>
        <p:txBody>
          <a:bodyPr wrap="square" lIns="0" tIns="0" rIns="0" bIns="0" rtlCol="0" anchor="ctr"/>
          <a:lstStyle/>
          <a:p>
            <a:pPr marL="0" indent="0">
              <a:buNone/>
            </a:pPr>
            <a:r>
              <a:rPr lang="en-US" sz="1000" dirty="0">
                <a:solidFill>
                  <a:srgbClr val="4F6474"/>
                </a:solidFill>
                <a:latin typeface="Aptos" pitchFamily="34" charset="0"/>
                <a:ea typeface="Aptos" pitchFamily="34" charset="-122"/>
                <a:cs typeface="Aptos" pitchFamily="34" charset="-120"/>
              </a:rPr>
              <a:t>State changes</a:t>
            </a:r>
            <a:endParaRPr lang="en-US" sz="1000" dirty="0"/>
          </a:p>
        </p:txBody>
      </p:sp>
      <p:sp>
        <p:nvSpPr>
          <p:cNvPr id="34" name="Shape 26"/>
          <p:cNvSpPr/>
          <p:nvPr/>
        </p:nvSpPr>
        <p:spPr>
          <a:xfrm>
            <a:off x="5943600" y="5321808"/>
            <a:ext cx="4343400" cy="420624"/>
          </a:xfrm>
          <a:prstGeom prst="roundRect">
            <a:avLst/>
          </a:prstGeom>
          <a:solidFill>
            <a:srgbClr val="DFF7F2"/>
          </a:solidFill>
          <a:ln w="12700">
            <a:solidFill>
              <a:srgbClr val="0F8B8D"/>
            </a:solidFill>
            <a:prstDash val="solid"/>
          </a:ln>
        </p:spPr>
        <p:txBody>
          <a:bodyPr/>
          <a:lstStyle/>
          <a:p>
            <a:endParaRPr lang="en-US"/>
          </a:p>
        </p:txBody>
      </p:sp>
      <p:pic>
        <p:nvPicPr>
          <p:cNvPr id="35" name="Image 6"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44768" y="5413248"/>
            <a:ext cx="228600" cy="228600"/>
          </a:xfrm>
          <a:prstGeom prst="rect">
            <a:avLst/>
          </a:prstGeom>
        </p:spPr>
      </p:pic>
      <p:sp>
        <p:nvSpPr>
          <p:cNvPr id="36" name="Text 27"/>
          <p:cNvSpPr/>
          <p:nvPr/>
        </p:nvSpPr>
        <p:spPr>
          <a:xfrm>
            <a:off x="6519672" y="5431536"/>
            <a:ext cx="3493008" cy="164592"/>
          </a:xfrm>
          <a:prstGeom prst="rect">
            <a:avLst/>
          </a:prstGeom>
          <a:noFill/>
          <a:ln/>
        </p:spPr>
        <p:txBody>
          <a:bodyPr wrap="square" lIns="0" tIns="0" rIns="0" bIns="0" rtlCol="0" anchor="ctr">
            <a:normAutofit/>
          </a:bodyPr>
          <a:lstStyle/>
          <a:p>
            <a:pPr marL="0" indent="0">
              <a:buNone/>
            </a:pPr>
            <a:r>
              <a:rPr lang="en-US" sz="980" b="1" dirty="0">
                <a:solidFill>
                  <a:srgbClr val="102A43"/>
                </a:solidFill>
                <a:latin typeface="Aptos" pitchFamily="34" charset="0"/>
                <a:ea typeface="Aptos" pitchFamily="34" charset="-122"/>
                <a:cs typeface="Aptos" pitchFamily="34" charset="-120"/>
              </a:rPr>
              <a:t>One compiled app supports multiple workshop profiles.</a:t>
            </a:r>
            <a:endParaRPr lang="en-US" sz="980" dirty="0"/>
          </a:p>
        </p:txBody>
      </p:sp>
      <p:sp>
        <p:nvSpPr>
          <p:cNvPr id="37" name="Text 28"/>
          <p:cNvSpPr/>
          <p:nvPr/>
        </p:nvSpPr>
        <p:spPr>
          <a:xfrm>
            <a:off x="566928" y="6528816"/>
            <a:ext cx="4389120" cy="146304"/>
          </a:xfrm>
          <a:prstGeom prst="rect">
            <a:avLst/>
          </a:prstGeom>
          <a:noFill/>
          <a:ln/>
        </p:spPr>
        <p:txBody>
          <a:bodyPr wrap="square" lIns="0" tIns="0" rIns="0" bIns="0" rtlCol="0" anchor="ctr"/>
          <a:lstStyle/>
          <a:p>
            <a:pPr marL="0" indent="0">
              <a:buNone/>
            </a:pPr>
            <a:r>
              <a:rPr lang="en-US" sz="750" dirty="0">
                <a:solidFill>
                  <a:srgbClr val="748494"/>
                </a:solidFill>
                <a:latin typeface="Aptos" pitchFamily="34" charset="0"/>
                <a:ea typeface="Aptos" pitchFamily="34" charset="-122"/>
                <a:cs typeface="Aptos" pitchFamily="34" charset="-120"/>
              </a:rPr>
              <a:t>Lab 3 output: configurable code-first agent</a:t>
            </a:r>
            <a:endParaRPr lang="en-US" sz="750" dirty="0"/>
          </a:p>
        </p:txBody>
      </p:sp>
      <p:sp>
        <p:nvSpPr>
          <p:cNvPr id="38" name="Slide Number Placeholder 0"/>
          <p:cNvSpPr>
            <a:spLocks noGrp="1"/>
          </p:cNvSpPr>
          <p:nvPr>
            <p:ph type="sldNum" sz="quarter" idx="4294967295"/>
          </p:nvPr>
        </p:nvSpPr>
        <p:spPr>
          <a:xfrm>
            <a:off x="11109960" y="6510528"/>
            <a:ext cx="548640"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748494"/>
                </a:solidFill>
                <a:latin typeface="Aptos"/>
                <a:ea typeface="Aptos"/>
                <a:cs typeface="Aptos"/>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292608"/>
            <a:ext cx="2926080" cy="201168"/>
          </a:xfrm>
          <a:prstGeom prst="rect">
            <a:avLst/>
          </a:prstGeom>
          <a:noFill/>
          <a:ln/>
        </p:spPr>
        <p:txBody>
          <a:bodyPr wrap="square" lIns="254" tIns="254" rIns="254" bIns="254" rtlCol="0" anchor="ctr"/>
          <a:lstStyle/>
          <a:p>
            <a:pPr marL="0" indent="0">
              <a:buNone/>
            </a:pPr>
            <a:r>
              <a:rPr lang="en-US" sz="900" b="1" kern="0" spc="140">
                <a:solidFill>
                  <a:srgbClr val="0F8B8D"/>
                </a:solidFill>
                <a:latin typeface="Aptos" pitchFamily="34" charset="0"/>
                <a:ea typeface="Aptos" pitchFamily="34" charset="-122"/>
                <a:cs typeface="Aptos" pitchFamily="34" charset="-120"/>
              </a:rPr>
              <a:t>LAB 3 | AGENT BEHAVIOR</a:t>
            </a:r>
            <a:endParaRPr lang="en-US" sz="900" dirty="0"/>
          </a:p>
        </p:txBody>
      </p:sp>
      <p:sp>
        <p:nvSpPr>
          <p:cNvPr id="3" name="Text 1"/>
          <p:cNvSpPr/>
          <p:nvPr/>
        </p:nvSpPr>
        <p:spPr>
          <a:xfrm>
            <a:off x="640080" y="548640"/>
            <a:ext cx="10835640" cy="502920"/>
          </a:xfrm>
          <a:prstGeom prst="rect">
            <a:avLst/>
          </a:prstGeom>
          <a:noFill/>
          <a:ln/>
        </p:spPr>
        <p:txBody>
          <a:bodyPr wrap="square" lIns="0" tIns="0" rIns="0" bIns="0" rtlCol="0" anchor="ctr">
            <a:normAutofit/>
          </a:bodyPr>
          <a:lstStyle/>
          <a:p>
            <a:pPr marL="0" indent="0">
              <a:buNone/>
            </a:pPr>
            <a:r>
              <a:rPr lang="en-US" sz="2700" b="1" dirty="0">
                <a:solidFill>
                  <a:srgbClr val="102A43"/>
                </a:solidFill>
                <a:latin typeface="Aptos Display" pitchFamily="34" charset="0"/>
                <a:ea typeface="Aptos Display" pitchFamily="34" charset="-122"/>
                <a:cs typeface="Aptos Display" pitchFamily="34" charset="-120"/>
              </a:rPr>
              <a:t>Keep reads automatic. Require consent for material state changes.</a:t>
            </a:r>
            <a:endParaRPr lang="en-US" sz="2700" dirty="0"/>
          </a:p>
        </p:txBody>
      </p:sp>
      <p:sp>
        <p:nvSpPr>
          <p:cNvPr id="4" name="Text 2"/>
          <p:cNvSpPr/>
          <p:nvPr/>
        </p:nvSpPr>
        <p:spPr>
          <a:xfrm>
            <a:off x="658368" y="1078992"/>
            <a:ext cx="10698480" cy="310896"/>
          </a:xfrm>
          <a:prstGeom prst="rect">
            <a:avLst/>
          </a:prstGeom>
          <a:noFill/>
          <a:ln/>
        </p:spPr>
        <p:txBody>
          <a:bodyPr wrap="square" lIns="254" tIns="254" rIns="254" bIns="254" rtlCol="0" anchor="ctr">
            <a:normAutofit/>
          </a:bodyPr>
          <a:lstStyle/>
          <a:p>
            <a:pPr marL="0" indent="0">
              <a:buNone/>
            </a:pPr>
            <a:r>
              <a:rPr lang="en-US" sz="1250" dirty="0">
                <a:solidFill>
                  <a:srgbClr val="4F6474"/>
                </a:solidFill>
                <a:latin typeface="Aptos" pitchFamily="34" charset="0"/>
                <a:ea typeface="Aptos" pitchFamily="34" charset="-122"/>
                <a:cs typeface="Aptos" pitchFamily="34" charset="-120"/>
              </a:rPr>
              <a:t> The agent approval boundary complements APIM policy. It does not replace API authorization.</a:t>
            </a:r>
            <a:endParaRPr lang="en-US" sz="1250" dirty="0"/>
          </a:p>
        </p:txBody>
      </p:sp>
      <p:sp>
        <p:nvSpPr>
          <p:cNvPr id="5" name="Shape 3"/>
          <p:cNvSpPr/>
          <p:nvPr/>
        </p:nvSpPr>
        <p:spPr>
          <a:xfrm>
            <a:off x="1124712" y="1828800"/>
            <a:ext cx="676656" cy="676656"/>
          </a:xfrm>
          <a:prstGeom prst="ellipse">
            <a:avLst/>
          </a:prstGeom>
          <a:solidFill>
            <a:srgbClr val="4F8EF7"/>
          </a:solidFill>
          <a:ln w="12700">
            <a:solidFill>
              <a:srgbClr val="4F8EF7"/>
            </a:solidFill>
            <a:prstDash val="solid"/>
          </a:ln>
        </p:spPr>
        <p:txBody>
          <a:bodyPr/>
          <a:lstStyle/>
          <a:p>
            <a:endParaRPr lang="en-US"/>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25880" y="2029968"/>
            <a:ext cx="274320" cy="274320"/>
          </a:xfrm>
          <a:prstGeom prst="rect">
            <a:avLst/>
          </a:prstGeom>
        </p:spPr>
      </p:pic>
      <p:sp>
        <p:nvSpPr>
          <p:cNvPr id="7" name="Text 4"/>
          <p:cNvSpPr/>
          <p:nvPr/>
        </p:nvSpPr>
        <p:spPr>
          <a:xfrm>
            <a:off x="612648" y="2688336"/>
            <a:ext cx="1700784" cy="256032"/>
          </a:xfrm>
          <a:prstGeom prst="rect">
            <a:avLst/>
          </a:prstGeom>
          <a:noFill/>
          <a:ln/>
        </p:spPr>
        <p:txBody>
          <a:bodyPr wrap="square" lIns="0" tIns="0" rIns="0" bIns="0" rtlCol="0" anchor="ctr"/>
          <a:lstStyle/>
          <a:p>
            <a:pPr marL="0" indent="0" algn="ctr">
              <a:buNone/>
            </a:pPr>
            <a:r>
              <a:rPr lang="en-US" sz="1400" b="1" dirty="0">
                <a:solidFill>
                  <a:srgbClr val="102A43"/>
                </a:solidFill>
                <a:latin typeface="Aptos Display" pitchFamily="34" charset="0"/>
                <a:ea typeface="Aptos Display" pitchFamily="34" charset="-122"/>
                <a:cs typeface="Aptos Display" pitchFamily="34" charset="-120"/>
              </a:rPr>
              <a:t>Interpret</a:t>
            </a:r>
            <a:endParaRPr lang="en-US" sz="1400" dirty="0"/>
          </a:p>
        </p:txBody>
      </p:sp>
      <p:sp>
        <p:nvSpPr>
          <p:cNvPr id="8" name="Text 5"/>
          <p:cNvSpPr/>
          <p:nvPr/>
        </p:nvSpPr>
        <p:spPr>
          <a:xfrm>
            <a:off x="612648" y="3044952"/>
            <a:ext cx="1700784" cy="566928"/>
          </a:xfrm>
          <a:prstGeom prst="rect">
            <a:avLst/>
          </a:prstGeom>
          <a:noFill/>
          <a:ln/>
        </p:spPr>
        <p:txBody>
          <a:bodyPr wrap="square" lIns="0" tIns="0" rIns="0" bIns="0" rtlCol="0" anchor="ctr">
            <a:normAutofit/>
          </a:bodyPr>
          <a:lstStyle/>
          <a:p>
            <a:pPr marL="0" indent="0" algn="ctr">
              <a:buNone/>
            </a:pPr>
            <a:r>
              <a:rPr lang="en-US" sz="920" dirty="0">
                <a:solidFill>
                  <a:srgbClr val="4F6474"/>
                </a:solidFill>
                <a:latin typeface="Aptos" pitchFamily="34" charset="0"/>
                <a:ea typeface="Aptos" pitchFamily="34" charset="-122"/>
                <a:cs typeface="Aptos" pitchFamily="34" charset="-120"/>
              </a:rPr>
              <a:t>Understand the request and select a tool</a:t>
            </a:r>
            <a:endParaRPr lang="en-US" sz="920" dirty="0"/>
          </a:p>
        </p:txBody>
      </p:sp>
      <p:sp>
        <p:nvSpPr>
          <p:cNvPr id="9" name="Shape 6"/>
          <p:cNvSpPr/>
          <p:nvPr/>
        </p:nvSpPr>
        <p:spPr>
          <a:xfrm>
            <a:off x="2331720" y="2167128"/>
            <a:ext cx="548640" cy="0"/>
          </a:xfrm>
          <a:prstGeom prst="line">
            <a:avLst/>
          </a:prstGeom>
          <a:noFill/>
          <a:ln w="19050">
            <a:solidFill>
              <a:srgbClr val="CBD7E0"/>
            </a:solidFill>
            <a:prstDash val="solid"/>
            <a:tailEnd type="triangle"/>
          </a:ln>
        </p:spPr>
        <p:txBody>
          <a:bodyPr/>
          <a:lstStyle/>
          <a:p>
            <a:endParaRPr lang="en-US"/>
          </a:p>
        </p:txBody>
      </p:sp>
      <p:sp>
        <p:nvSpPr>
          <p:cNvPr id="10" name="Shape 7"/>
          <p:cNvSpPr/>
          <p:nvPr/>
        </p:nvSpPr>
        <p:spPr>
          <a:xfrm>
            <a:off x="3429000" y="1828800"/>
            <a:ext cx="676656" cy="676656"/>
          </a:xfrm>
          <a:prstGeom prst="ellipse">
            <a:avLst/>
          </a:prstGeom>
          <a:solidFill>
            <a:srgbClr val="0F8B8D"/>
          </a:solidFill>
          <a:ln w="12700">
            <a:solidFill>
              <a:srgbClr val="0F8B8D"/>
            </a:solidFill>
            <a:prstDash val="solid"/>
          </a:ln>
        </p:spPr>
        <p:txBody>
          <a:bodyPr/>
          <a:lstStyle/>
          <a:p>
            <a:endParaRPr lang="en-US"/>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30168" y="2029968"/>
            <a:ext cx="274320" cy="274320"/>
          </a:xfrm>
          <a:prstGeom prst="rect">
            <a:avLst/>
          </a:prstGeom>
        </p:spPr>
      </p:pic>
      <p:sp>
        <p:nvSpPr>
          <p:cNvPr id="12" name="Text 8"/>
          <p:cNvSpPr/>
          <p:nvPr/>
        </p:nvSpPr>
        <p:spPr>
          <a:xfrm>
            <a:off x="2916936" y="2688336"/>
            <a:ext cx="1700784" cy="256032"/>
          </a:xfrm>
          <a:prstGeom prst="rect">
            <a:avLst/>
          </a:prstGeom>
          <a:noFill/>
          <a:ln/>
        </p:spPr>
        <p:txBody>
          <a:bodyPr wrap="square" lIns="0" tIns="0" rIns="0" bIns="0" rtlCol="0" anchor="ctr"/>
          <a:lstStyle/>
          <a:p>
            <a:pPr marL="0" indent="0" algn="ctr">
              <a:buNone/>
            </a:pPr>
            <a:r>
              <a:rPr lang="en-US" sz="1400" b="1" dirty="0">
                <a:solidFill>
                  <a:srgbClr val="102A43"/>
                </a:solidFill>
                <a:latin typeface="Aptos Display" pitchFamily="34" charset="0"/>
                <a:ea typeface="Aptos Display" pitchFamily="34" charset="-122"/>
                <a:cs typeface="Aptos Display" pitchFamily="34" charset="-120"/>
              </a:rPr>
              <a:t>Discover</a:t>
            </a:r>
            <a:endParaRPr lang="en-US" sz="1400" dirty="0"/>
          </a:p>
        </p:txBody>
      </p:sp>
      <p:sp>
        <p:nvSpPr>
          <p:cNvPr id="13" name="Text 9"/>
          <p:cNvSpPr/>
          <p:nvPr/>
        </p:nvSpPr>
        <p:spPr>
          <a:xfrm>
            <a:off x="2916936" y="3044952"/>
            <a:ext cx="1700784" cy="566928"/>
          </a:xfrm>
          <a:prstGeom prst="rect">
            <a:avLst/>
          </a:prstGeom>
          <a:noFill/>
          <a:ln/>
        </p:spPr>
        <p:txBody>
          <a:bodyPr wrap="square" lIns="0" tIns="0" rIns="0" bIns="0" rtlCol="0" anchor="ctr">
            <a:normAutofit/>
          </a:bodyPr>
          <a:lstStyle/>
          <a:p>
            <a:pPr marL="0" indent="0" algn="ctr">
              <a:buNone/>
            </a:pPr>
            <a:r>
              <a:rPr lang="en-US" sz="920" dirty="0">
                <a:solidFill>
                  <a:srgbClr val="4F6474"/>
                </a:solidFill>
                <a:latin typeface="Aptos" pitchFamily="34" charset="0"/>
                <a:ea typeface="Aptos" pitchFamily="34" charset="-122"/>
                <a:cs typeface="Aptos" pitchFamily="34" charset="-120"/>
              </a:rPr>
              <a:t>Load the allowed MCP tool schema</a:t>
            </a:r>
            <a:endParaRPr lang="en-US" sz="920" dirty="0"/>
          </a:p>
        </p:txBody>
      </p:sp>
      <p:sp>
        <p:nvSpPr>
          <p:cNvPr id="14" name="Shape 10"/>
          <p:cNvSpPr/>
          <p:nvPr/>
        </p:nvSpPr>
        <p:spPr>
          <a:xfrm>
            <a:off x="4636008" y="2167128"/>
            <a:ext cx="548640" cy="0"/>
          </a:xfrm>
          <a:prstGeom prst="line">
            <a:avLst/>
          </a:prstGeom>
          <a:noFill/>
          <a:ln w="19050">
            <a:solidFill>
              <a:srgbClr val="CBD7E0"/>
            </a:solidFill>
            <a:prstDash val="solid"/>
            <a:tailEnd type="triangle"/>
          </a:ln>
        </p:spPr>
        <p:txBody>
          <a:bodyPr/>
          <a:lstStyle/>
          <a:p>
            <a:endParaRPr lang="en-US"/>
          </a:p>
        </p:txBody>
      </p:sp>
      <p:sp>
        <p:nvSpPr>
          <p:cNvPr id="15" name="Shape 11"/>
          <p:cNvSpPr/>
          <p:nvPr/>
        </p:nvSpPr>
        <p:spPr>
          <a:xfrm>
            <a:off x="5733288" y="1828800"/>
            <a:ext cx="676656" cy="676656"/>
          </a:xfrm>
          <a:prstGeom prst="ellipse">
            <a:avLst/>
          </a:prstGeom>
          <a:solidFill>
            <a:srgbClr val="775DA6"/>
          </a:solidFill>
          <a:ln w="12700">
            <a:solidFill>
              <a:srgbClr val="775DA6"/>
            </a:solidFill>
            <a:prstDash val="solid"/>
          </a:ln>
        </p:spPr>
        <p:txBody>
          <a:bodyPr/>
          <a:lstStyle/>
          <a:p>
            <a:endParaRPr lang="en-US"/>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34456" y="2029968"/>
            <a:ext cx="274320" cy="274320"/>
          </a:xfrm>
          <a:prstGeom prst="rect">
            <a:avLst/>
          </a:prstGeom>
        </p:spPr>
      </p:pic>
      <p:sp>
        <p:nvSpPr>
          <p:cNvPr id="17" name="Text 12"/>
          <p:cNvSpPr/>
          <p:nvPr/>
        </p:nvSpPr>
        <p:spPr>
          <a:xfrm>
            <a:off x="5221224" y="2688336"/>
            <a:ext cx="1700784" cy="256032"/>
          </a:xfrm>
          <a:prstGeom prst="rect">
            <a:avLst/>
          </a:prstGeom>
          <a:noFill/>
          <a:ln/>
        </p:spPr>
        <p:txBody>
          <a:bodyPr wrap="square" lIns="0" tIns="0" rIns="0" bIns="0" rtlCol="0" anchor="ctr"/>
          <a:lstStyle/>
          <a:p>
            <a:pPr marL="0" indent="0" algn="ctr">
              <a:buNone/>
            </a:pPr>
            <a:r>
              <a:rPr lang="en-US" sz="1400" b="1" dirty="0">
                <a:solidFill>
                  <a:srgbClr val="102A43"/>
                </a:solidFill>
                <a:latin typeface="Aptos Display" pitchFamily="34" charset="0"/>
                <a:ea typeface="Aptos Display" pitchFamily="34" charset="-122"/>
                <a:cs typeface="Aptos Display" pitchFamily="34" charset="-120"/>
              </a:rPr>
              <a:t>Decide</a:t>
            </a:r>
            <a:endParaRPr lang="en-US" sz="1400" dirty="0"/>
          </a:p>
        </p:txBody>
      </p:sp>
      <p:sp>
        <p:nvSpPr>
          <p:cNvPr id="18" name="Text 13"/>
          <p:cNvSpPr/>
          <p:nvPr/>
        </p:nvSpPr>
        <p:spPr>
          <a:xfrm>
            <a:off x="5221224" y="3044952"/>
            <a:ext cx="1700784" cy="566928"/>
          </a:xfrm>
          <a:prstGeom prst="rect">
            <a:avLst/>
          </a:prstGeom>
          <a:noFill/>
          <a:ln/>
        </p:spPr>
        <p:txBody>
          <a:bodyPr wrap="square" lIns="0" tIns="0" rIns="0" bIns="0" rtlCol="0" anchor="ctr">
            <a:normAutofit/>
          </a:bodyPr>
          <a:lstStyle/>
          <a:p>
            <a:pPr marL="0" indent="0" algn="ctr">
              <a:buNone/>
            </a:pPr>
            <a:r>
              <a:rPr lang="en-US" sz="920" dirty="0">
                <a:solidFill>
                  <a:srgbClr val="4F6474"/>
                </a:solidFill>
                <a:latin typeface="Aptos" pitchFamily="34" charset="0"/>
                <a:ea typeface="Aptos" pitchFamily="34" charset="-122"/>
                <a:cs typeface="Aptos" pitchFamily="34" charset="-120"/>
              </a:rPr>
              <a:t>Check whether the tool needs approval</a:t>
            </a:r>
            <a:endParaRPr lang="en-US" sz="920" dirty="0"/>
          </a:p>
        </p:txBody>
      </p:sp>
      <p:sp>
        <p:nvSpPr>
          <p:cNvPr id="19" name="Shape 14"/>
          <p:cNvSpPr/>
          <p:nvPr/>
        </p:nvSpPr>
        <p:spPr>
          <a:xfrm>
            <a:off x="6940296" y="2167128"/>
            <a:ext cx="548640" cy="0"/>
          </a:xfrm>
          <a:prstGeom prst="line">
            <a:avLst/>
          </a:prstGeom>
          <a:noFill/>
          <a:ln w="19050">
            <a:solidFill>
              <a:srgbClr val="CBD7E0"/>
            </a:solidFill>
            <a:prstDash val="solid"/>
            <a:tailEnd type="triangle"/>
          </a:ln>
        </p:spPr>
        <p:txBody>
          <a:bodyPr/>
          <a:lstStyle/>
          <a:p>
            <a:endParaRPr lang="en-US"/>
          </a:p>
        </p:txBody>
      </p:sp>
      <p:sp>
        <p:nvSpPr>
          <p:cNvPr id="20" name="Shape 15"/>
          <p:cNvSpPr/>
          <p:nvPr/>
        </p:nvSpPr>
        <p:spPr>
          <a:xfrm>
            <a:off x="8037576" y="1828800"/>
            <a:ext cx="676656" cy="676656"/>
          </a:xfrm>
          <a:prstGeom prst="ellipse">
            <a:avLst/>
          </a:prstGeom>
          <a:solidFill>
            <a:srgbClr val="F4B942"/>
          </a:solidFill>
          <a:ln w="12700">
            <a:solidFill>
              <a:srgbClr val="F4B942"/>
            </a:solidFill>
            <a:prstDash val="solid"/>
          </a:ln>
        </p:spPr>
        <p:txBody>
          <a:bodyPr/>
          <a:lstStyle/>
          <a:p>
            <a:endParaRPr lang="en-US"/>
          </a:p>
        </p:txBody>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38744" y="2029968"/>
            <a:ext cx="274320" cy="274320"/>
          </a:xfrm>
          <a:prstGeom prst="rect">
            <a:avLst/>
          </a:prstGeom>
        </p:spPr>
      </p:pic>
      <p:sp>
        <p:nvSpPr>
          <p:cNvPr id="22" name="Text 16"/>
          <p:cNvSpPr/>
          <p:nvPr/>
        </p:nvSpPr>
        <p:spPr>
          <a:xfrm>
            <a:off x="7525512" y="2688336"/>
            <a:ext cx="1700784" cy="256032"/>
          </a:xfrm>
          <a:prstGeom prst="rect">
            <a:avLst/>
          </a:prstGeom>
          <a:noFill/>
          <a:ln/>
        </p:spPr>
        <p:txBody>
          <a:bodyPr wrap="square" lIns="0" tIns="0" rIns="0" bIns="0" rtlCol="0" anchor="ctr"/>
          <a:lstStyle/>
          <a:p>
            <a:pPr marL="0" indent="0" algn="ctr">
              <a:buNone/>
            </a:pPr>
            <a:r>
              <a:rPr lang="en-US" sz="1400" b="1" dirty="0">
                <a:solidFill>
                  <a:srgbClr val="102A43"/>
                </a:solidFill>
                <a:latin typeface="Aptos Display" pitchFamily="34" charset="0"/>
                <a:ea typeface="Aptos Display" pitchFamily="34" charset="-122"/>
                <a:cs typeface="Aptos Display" pitchFamily="34" charset="-120"/>
              </a:rPr>
              <a:t>Execute</a:t>
            </a:r>
            <a:endParaRPr lang="en-US" sz="1400" dirty="0"/>
          </a:p>
        </p:txBody>
      </p:sp>
      <p:sp>
        <p:nvSpPr>
          <p:cNvPr id="23" name="Text 17"/>
          <p:cNvSpPr/>
          <p:nvPr/>
        </p:nvSpPr>
        <p:spPr>
          <a:xfrm>
            <a:off x="7525512" y="3044952"/>
            <a:ext cx="1700784" cy="566928"/>
          </a:xfrm>
          <a:prstGeom prst="rect">
            <a:avLst/>
          </a:prstGeom>
          <a:noFill/>
          <a:ln/>
        </p:spPr>
        <p:txBody>
          <a:bodyPr wrap="square" lIns="0" tIns="0" rIns="0" bIns="0" rtlCol="0" anchor="ctr">
            <a:normAutofit/>
          </a:bodyPr>
          <a:lstStyle/>
          <a:p>
            <a:pPr marL="0" indent="0" algn="ctr">
              <a:buNone/>
            </a:pPr>
            <a:r>
              <a:rPr lang="en-US" sz="920" dirty="0">
                <a:solidFill>
                  <a:srgbClr val="4F6474"/>
                </a:solidFill>
                <a:latin typeface="Aptos" pitchFamily="34" charset="0"/>
                <a:ea typeface="Aptos" pitchFamily="34" charset="-122"/>
                <a:cs typeface="Aptos" pitchFamily="34" charset="-120"/>
              </a:rPr>
              <a:t>Call APIM and receive the result</a:t>
            </a:r>
            <a:endParaRPr lang="en-US" sz="920" dirty="0"/>
          </a:p>
        </p:txBody>
      </p:sp>
      <p:sp>
        <p:nvSpPr>
          <p:cNvPr id="24" name="Shape 18"/>
          <p:cNvSpPr/>
          <p:nvPr/>
        </p:nvSpPr>
        <p:spPr>
          <a:xfrm>
            <a:off x="9244584" y="2167128"/>
            <a:ext cx="548640" cy="0"/>
          </a:xfrm>
          <a:prstGeom prst="line">
            <a:avLst/>
          </a:prstGeom>
          <a:noFill/>
          <a:ln w="19050">
            <a:solidFill>
              <a:srgbClr val="CBD7E0"/>
            </a:solidFill>
            <a:prstDash val="solid"/>
            <a:tailEnd type="triangle"/>
          </a:ln>
        </p:spPr>
        <p:txBody>
          <a:bodyPr/>
          <a:lstStyle/>
          <a:p>
            <a:endParaRPr lang="en-US"/>
          </a:p>
        </p:txBody>
      </p:sp>
      <p:sp>
        <p:nvSpPr>
          <p:cNvPr id="25" name="Shape 19"/>
          <p:cNvSpPr/>
          <p:nvPr/>
        </p:nvSpPr>
        <p:spPr>
          <a:xfrm>
            <a:off x="10341864" y="1828800"/>
            <a:ext cx="676656" cy="676656"/>
          </a:xfrm>
          <a:prstGeom prst="ellipse">
            <a:avLst/>
          </a:prstGeom>
          <a:solidFill>
            <a:srgbClr val="2FA36B"/>
          </a:solidFill>
          <a:ln w="12700">
            <a:solidFill>
              <a:srgbClr val="2FA36B"/>
            </a:solidFill>
            <a:prstDash val="solid"/>
          </a:ln>
        </p:spPr>
        <p:txBody>
          <a:bodyPr/>
          <a:lstStyle/>
          <a:p>
            <a:endParaRPr lang="en-US"/>
          </a:p>
        </p:txBody>
      </p:sp>
      <p:pic>
        <p:nvPicPr>
          <p:cNvPr id="2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543032" y="2029968"/>
            <a:ext cx="274320" cy="274320"/>
          </a:xfrm>
          <a:prstGeom prst="rect">
            <a:avLst/>
          </a:prstGeom>
        </p:spPr>
      </p:pic>
      <p:sp>
        <p:nvSpPr>
          <p:cNvPr id="27" name="Text 20"/>
          <p:cNvSpPr/>
          <p:nvPr/>
        </p:nvSpPr>
        <p:spPr>
          <a:xfrm>
            <a:off x="9829800" y="2688336"/>
            <a:ext cx="1700784" cy="256032"/>
          </a:xfrm>
          <a:prstGeom prst="rect">
            <a:avLst/>
          </a:prstGeom>
          <a:noFill/>
          <a:ln/>
        </p:spPr>
        <p:txBody>
          <a:bodyPr wrap="square" lIns="0" tIns="0" rIns="0" bIns="0" rtlCol="0" anchor="ctr"/>
          <a:lstStyle/>
          <a:p>
            <a:pPr marL="0" indent="0" algn="ctr">
              <a:buNone/>
            </a:pPr>
            <a:r>
              <a:rPr lang="en-US" sz="1400" b="1" dirty="0">
                <a:solidFill>
                  <a:srgbClr val="102A43"/>
                </a:solidFill>
                <a:latin typeface="Aptos Display" pitchFamily="34" charset="0"/>
                <a:ea typeface="Aptos Display" pitchFamily="34" charset="-122"/>
                <a:cs typeface="Aptos Display" pitchFamily="34" charset="-120"/>
              </a:rPr>
              <a:t>Compose</a:t>
            </a:r>
            <a:endParaRPr lang="en-US" sz="1400" dirty="0"/>
          </a:p>
        </p:txBody>
      </p:sp>
      <p:sp>
        <p:nvSpPr>
          <p:cNvPr id="28" name="Text 21"/>
          <p:cNvSpPr/>
          <p:nvPr/>
        </p:nvSpPr>
        <p:spPr>
          <a:xfrm>
            <a:off x="9829800" y="3044952"/>
            <a:ext cx="1700784" cy="566928"/>
          </a:xfrm>
          <a:prstGeom prst="rect">
            <a:avLst/>
          </a:prstGeom>
          <a:noFill/>
          <a:ln/>
        </p:spPr>
        <p:txBody>
          <a:bodyPr wrap="square" lIns="0" tIns="0" rIns="0" bIns="0" rtlCol="0" anchor="ctr">
            <a:normAutofit/>
          </a:bodyPr>
          <a:lstStyle/>
          <a:p>
            <a:pPr marL="0" indent="0" algn="ctr">
              <a:buNone/>
            </a:pPr>
            <a:r>
              <a:rPr lang="en-US" sz="920" dirty="0">
                <a:solidFill>
                  <a:srgbClr val="4F6474"/>
                </a:solidFill>
                <a:latin typeface="Aptos" pitchFamily="34" charset="0"/>
                <a:ea typeface="Aptos" pitchFamily="34" charset="-122"/>
                <a:cs typeface="Aptos" pitchFamily="34" charset="-120"/>
              </a:rPr>
              <a:t>Return a grounded response</a:t>
            </a:r>
            <a:endParaRPr lang="en-US" sz="920" dirty="0"/>
          </a:p>
        </p:txBody>
      </p:sp>
      <p:sp>
        <p:nvSpPr>
          <p:cNvPr id="29" name="Shape 22"/>
          <p:cNvSpPr/>
          <p:nvPr/>
        </p:nvSpPr>
        <p:spPr>
          <a:xfrm>
            <a:off x="914400" y="4279392"/>
            <a:ext cx="3337560" cy="1170432"/>
          </a:xfrm>
          <a:prstGeom prst="roundRect">
            <a:avLst/>
          </a:prstGeom>
          <a:solidFill>
            <a:srgbClr val="FFFFFF"/>
          </a:solidFill>
          <a:ln w="15240">
            <a:solidFill>
              <a:srgbClr val="2FA36B"/>
            </a:solidFill>
            <a:prstDash val="solid"/>
          </a:ln>
          <a:effectLst>
            <a:outerShdw blurRad="25400" dist="50800" dir="2700000" algn="bl" rotWithShape="0">
              <a:srgbClr val="102A43">
                <a:alpha val="14000"/>
              </a:srgbClr>
            </a:outerShdw>
          </a:effectLst>
        </p:spPr>
        <p:txBody>
          <a:bodyPr/>
          <a:lstStyle/>
          <a:p>
            <a:endParaRPr lang="en-US"/>
          </a:p>
        </p:txBody>
      </p:sp>
      <p:pic>
        <p:nvPicPr>
          <p:cNvPr id="30"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43000" y="4562856"/>
            <a:ext cx="310896" cy="310896"/>
          </a:xfrm>
          <a:prstGeom prst="rect">
            <a:avLst/>
          </a:prstGeom>
        </p:spPr>
      </p:pic>
      <p:sp>
        <p:nvSpPr>
          <p:cNvPr id="31" name="Text 23"/>
          <p:cNvSpPr/>
          <p:nvPr/>
        </p:nvSpPr>
        <p:spPr>
          <a:xfrm>
            <a:off x="1627632" y="4462272"/>
            <a:ext cx="2340864" cy="210312"/>
          </a:xfrm>
          <a:prstGeom prst="rect">
            <a:avLst/>
          </a:prstGeom>
          <a:noFill/>
          <a:ln/>
        </p:spPr>
        <p:txBody>
          <a:bodyPr wrap="square" lIns="0" tIns="0" rIns="0" bIns="0" rtlCol="0" anchor="ctr">
            <a:normAutofit/>
          </a:bodyPr>
          <a:lstStyle/>
          <a:p>
            <a:pPr marL="0" indent="0">
              <a:buNone/>
            </a:pPr>
            <a:r>
              <a:rPr lang="en-US" sz="950" b="1" dirty="0">
                <a:solidFill>
                  <a:srgbClr val="102A43"/>
                </a:solidFill>
                <a:latin typeface="Consolas" pitchFamily="34" charset="0"/>
                <a:ea typeface="Consolas" pitchFamily="34" charset="-122"/>
                <a:cs typeface="Consolas" pitchFamily="34" charset="-120"/>
              </a:rPr>
              <a:t>getAWorkRequest</a:t>
            </a:r>
            <a:endParaRPr lang="en-US" sz="950" dirty="0"/>
          </a:p>
        </p:txBody>
      </p:sp>
      <p:sp>
        <p:nvSpPr>
          <p:cNvPr id="32" name="Shape 24"/>
          <p:cNvSpPr/>
          <p:nvPr/>
        </p:nvSpPr>
        <p:spPr>
          <a:xfrm>
            <a:off x="1627632" y="4882896"/>
            <a:ext cx="1965960" cy="310896"/>
          </a:xfrm>
          <a:prstGeom prst="roundRect">
            <a:avLst>
              <a:gd name="adj" fmla="val 23529"/>
            </a:avLst>
          </a:prstGeom>
          <a:solidFill>
            <a:srgbClr val="2FA36B"/>
          </a:solidFill>
          <a:ln w="12700">
            <a:solidFill>
              <a:srgbClr val="2FA36B"/>
            </a:solidFill>
            <a:prstDash val="solid"/>
          </a:ln>
        </p:spPr>
        <p:txBody>
          <a:bodyPr/>
          <a:lstStyle/>
          <a:p>
            <a:endParaRPr lang="en-US"/>
          </a:p>
        </p:txBody>
      </p:sp>
      <p:sp>
        <p:nvSpPr>
          <p:cNvPr id="33" name="Text 25"/>
          <p:cNvSpPr/>
          <p:nvPr/>
        </p:nvSpPr>
        <p:spPr>
          <a:xfrm>
            <a:off x="1700784" y="4946904"/>
            <a:ext cx="1819656" cy="14630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AUTOMATIC</a:t>
            </a:r>
            <a:endParaRPr lang="en-US" sz="850" dirty="0"/>
          </a:p>
        </p:txBody>
      </p:sp>
      <p:sp>
        <p:nvSpPr>
          <p:cNvPr id="34" name="Shape 26"/>
          <p:cNvSpPr/>
          <p:nvPr/>
        </p:nvSpPr>
        <p:spPr>
          <a:xfrm>
            <a:off x="4681728" y="4279392"/>
            <a:ext cx="3337560" cy="1170432"/>
          </a:xfrm>
          <a:prstGeom prst="roundRect">
            <a:avLst/>
          </a:prstGeom>
          <a:solidFill>
            <a:srgbClr val="FFFFFF"/>
          </a:solidFill>
          <a:ln w="15240">
            <a:solidFill>
              <a:srgbClr val="FF7A59"/>
            </a:solidFill>
            <a:prstDash val="solid"/>
          </a:ln>
          <a:effectLst>
            <a:outerShdw blurRad="25400" dist="50800" dir="2700000" algn="bl" rotWithShape="0">
              <a:srgbClr val="102A43">
                <a:alpha val="14000"/>
              </a:srgbClr>
            </a:outerShdw>
          </a:effectLst>
        </p:spPr>
        <p:txBody>
          <a:bodyPr/>
          <a:lstStyle/>
          <a:p>
            <a:endParaRPr lang="en-US"/>
          </a:p>
        </p:txBody>
      </p:sp>
      <p:pic>
        <p:nvPicPr>
          <p:cNvPr id="35"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910328" y="4562856"/>
            <a:ext cx="310896" cy="310896"/>
          </a:xfrm>
          <a:prstGeom prst="rect">
            <a:avLst/>
          </a:prstGeom>
        </p:spPr>
      </p:pic>
      <p:sp>
        <p:nvSpPr>
          <p:cNvPr id="36" name="Text 27"/>
          <p:cNvSpPr/>
          <p:nvPr/>
        </p:nvSpPr>
        <p:spPr>
          <a:xfrm>
            <a:off x="5394960" y="4462272"/>
            <a:ext cx="2340864" cy="210312"/>
          </a:xfrm>
          <a:prstGeom prst="rect">
            <a:avLst/>
          </a:prstGeom>
          <a:noFill/>
          <a:ln/>
        </p:spPr>
        <p:txBody>
          <a:bodyPr wrap="square" lIns="0" tIns="0" rIns="0" bIns="0" rtlCol="0" anchor="ctr">
            <a:normAutofit/>
          </a:bodyPr>
          <a:lstStyle/>
          <a:p>
            <a:pPr marL="0" indent="0">
              <a:buNone/>
            </a:pPr>
            <a:r>
              <a:rPr lang="en-US" sz="950" b="1" dirty="0">
                <a:solidFill>
                  <a:srgbClr val="102A43"/>
                </a:solidFill>
                <a:latin typeface="Consolas" pitchFamily="34" charset="0"/>
                <a:ea typeface="Consolas" pitchFamily="34" charset="-122"/>
                <a:cs typeface="Consolas" pitchFamily="34" charset="-120"/>
              </a:rPr>
              <a:t>createAWorkRequest</a:t>
            </a:r>
            <a:endParaRPr lang="en-US" sz="950" dirty="0"/>
          </a:p>
        </p:txBody>
      </p:sp>
      <p:sp>
        <p:nvSpPr>
          <p:cNvPr id="37" name="Shape 28"/>
          <p:cNvSpPr/>
          <p:nvPr/>
        </p:nvSpPr>
        <p:spPr>
          <a:xfrm>
            <a:off x="5394960" y="4882896"/>
            <a:ext cx="1965960" cy="310896"/>
          </a:xfrm>
          <a:prstGeom prst="roundRect">
            <a:avLst>
              <a:gd name="adj" fmla="val 23529"/>
            </a:avLst>
          </a:prstGeom>
          <a:solidFill>
            <a:srgbClr val="FF7A59"/>
          </a:solidFill>
          <a:ln w="12700">
            <a:solidFill>
              <a:srgbClr val="FF7A59"/>
            </a:solidFill>
            <a:prstDash val="solid"/>
          </a:ln>
        </p:spPr>
        <p:txBody>
          <a:bodyPr/>
          <a:lstStyle/>
          <a:p>
            <a:endParaRPr lang="en-US"/>
          </a:p>
        </p:txBody>
      </p:sp>
      <p:sp>
        <p:nvSpPr>
          <p:cNvPr id="38" name="Text 29"/>
          <p:cNvSpPr/>
          <p:nvPr/>
        </p:nvSpPr>
        <p:spPr>
          <a:xfrm>
            <a:off x="5468112" y="4946904"/>
            <a:ext cx="1819656" cy="14630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APPROVAL REQUIRED</a:t>
            </a:r>
            <a:endParaRPr lang="en-US" sz="850" dirty="0"/>
          </a:p>
        </p:txBody>
      </p:sp>
      <p:sp>
        <p:nvSpPr>
          <p:cNvPr id="39" name="Shape 30"/>
          <p:cNvSpPr/>
          <p:nvPr/>
        </p:nvSpPr>
        <p:spPr>
          <a:xfrm>
            <a:off x="8449056" y="4279392"/>
            <a:ext cx="3337560" cy="1170432"/>
          </a:xfrm>
          <a:prstGeom prst="roundRect">
            <a:avLst/>
          </a:prstGeom>
          <a:solidFill>
            <a:srgbClr val="FFFFFF"/>
          </a:solidFill>
          <a:ln w="15240">
            <a:solidFill>
              <a:srgbClr val="FF7A59"/>
            </a:solidFill>
            <a:prstDash val="solid"/>
          </a:ln>
          <a:effectLst>
            <a:outerShdw blurRad="25400" dist="50800" dir="2700000" algn="bl" rotWithShape="0">
              <a:srgbClr val="102A43">
                <a:alpha val="14000"/>
              </a:srgbClr>
            </a:outerShdw>
          </a:effectLst>
        </p:spPr>
        <p:txBody>
          <a:bodyPr/>
          <a:lstStyle/>
          <a:p>
            <a:endParaRPr lang="en-US"/>
          </a:p>
        </p:txBody>
      </p:sp>
      <p:pic>
        <p:nvPicPr>
          <p:cNvPr id="40" name="Image 7"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677656" y="4562856"/>
            <a:ext cx="310896" cy="310896"/>
          </a:xfrm>
          <a:prstGeom prst="rect">
            <a:avLst/>
          </a:prstGeom>
        </p:spPr>
      </p:pic>
      <p:sp>
        <p:nvSpPr>
          <p:cNvPr id="41" name="Text 31"/>
          <p:cNvSpPr/>
          <p:nvPr/>
        </p:nvSpPr>
        <p:spPr>
          <a:xfrm>
            <a:off x="9162288" y="4462272"/>
            <a:ext cx="2340864" cy="210312"/>
          </a:xfrm>
          <a:prstGeom prst="rect">
            <a:avLst/>
          </a:prstGeom>
          <a:noFill/>
          <a:ln/>
        </p:spPr>
        <p:txBody>
          <a:bodyPr wrap="square" lIns="0" tIns="0" rIns="0" bIns="0" rtlCol="0" anchor="ctr">
            <a:normAutofit/>
          </a:bodyPr>
          <a:lstStyle/>
          <a:p>
            <a:pPr marL="0" indent="0">
              <a:buNone/>
            </a:pPr>
            <a:r>
              <a:rPr lang="en-US" sz="950" b="1" dirty="0">
                <a:solidFill>
                  <a:srgbClr val="102A43"/>
                </a:solidFill>
                <a:latin typeface="Consolas" pitchFamily="34" charset="0"/>
                <a:ea typeface="Consolas" pitchFamily="34" charset="-122"/>
                <a:cs typeface="Consolas" pitchFamily="34" charset="-120"/>
              </a:rPr>
              <a:t>updateWorkRequestStatus</a:t>
            </a:r>
            <a:endParaRPr lang="en-US" sz="950" dirty="0"/>
          </a:p>
        </p:txBody>
      </p:sp>
      <p:sp>
        <p:nvSpPr>
          <p:cNvPr id="42" name="Shape 32"/>
          <p:cNvSpPr/>
          <p:nvPr/>
        </p:nvSpPr>
        <p:spPr>
          <a:xfrm>
            <a:off x="9162288" y="4882896"/>
            <a:ext cx="1965960" cy="310896"/>
          </a:xfrm>
          <a:prstGeom prst="roundRect">
            <a:avLst>
              <a:gd name="adj" fmla="val 23529"/>
            </a:avLst>
          </a:prstGeom>
          <a:solidFill>
            <a:srgbClr val="FF7A59"/>
          </a:solidFill>
          <a:ln w="12700">
            <a:solidFill>
              <a:srgbClr val="FF7A59"/>
            </a:solidFill>
            <a:prstDash val="solid"/>
          </a:ln>
        </p:spPr>
        <p:txBody>
          <a:bodyPr/>
          <a:lstStyle/>
          <a:p>
            <a:endParaRPr lang="en-US"/>
          </a:p>
        </p:txBody>
      </p:sp>
      <p:sp>
        <p:nvSpPr>
          <p:cNvPr id="43" name="Text 33"/>
          <p:cNvSpPr/>
          <p:nvPr/>
        </p:nvSpPr>
        <p:spPr>
          <a:xfrm>
            <a:off x="9235440" y="4946904"/>
            <a:ext cx="1819656" cy="14630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APPROVAL REQUIRED</a:t>
            </a:r>
            <a:endParaRPr lang="en-US" sz="850" dirty="0"/>
          </a:p>
        </p:txBody>
      </p:sp>
      <p:sp>
        <p:nvSpPr>
          <p:cNvPr id="44" name="Text 34"/>
          <p:cNvSpPr/>
          <p:nvPr/>
        </p:nvSpPr>
        <p:spPr>
          <a:xfrm>
            <a:off x="566928" y="6528816"/>
            <a:ext cx="4389120" cy="146304"/>
          </a:xfrm>
          <a:prstGeom prst="rect">
            <a:avLst/>
          </a:prstGeom>
          <a:noFill/>
          <a:ln/>
        </p:spPr>
        <p:txBody>
          <a:bodyPr wrap="square" lIns="0" tIns="0" rIns="0" bIns="0" rtlCol="0" anchor="ctr"/>
          <a:lstStyle/>
          <a:p>
            <a:pPr marL="0" indent="0">
              <a:buNone/>
            </a:pPr>
            <a:r>
              <a:rPr lang="en-US" sz="750" dirty="0">
                <a:solidFill>
                  <a:srgbClr val="748494"/>
                </a:solidFill>
                <a:latin typeface="Aptos" pitchFamily="34" charset="0"/>
                <a:ea typeface="Aptos" pitchFamily="34" charset="-122"/>
                <a:cs typeface="Aptos" pitchFamily="34" charset="-120"/>
              </a:rPr>
              <a:t>Approval is a deliberate product boundary</a:t>
            </a:r>
            <a:endParaRPr lang="en-US" sz="750" dirty="0"/>
          </a:p>
        </p:txBody>
      </p:sp>
      <p:sp>
        <p:nvSpPr>
          <p:cNvPr id="45" name="Slide Number Placeholder 0"/>
          <p:cNvSpPr>
            <a:spLocks noGrp="1"/>
          </p:cNvSpPr>
          <p:nvPr>
            <p:ph type="sldNum" sz="quarter" idx="4294967295"/>
          </p:nvPr>
        </p:nvSpPr>
        <p:spPr>
          <a:xfrm>
            <a:off x="11109960" y="6510528"/>
            <a:ext cx="548640"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748494"/>
                </a:solidFill>
                <a:latin typeface="Aptos"/>
                <a:ea typeface="Aptos"/>
                <a:cs typeface="Aptos"/>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292608"/>
            <a:ext cx="2926080" cy="201168"/>
          </a:xfrm>
          <a:prstGeom prst="rect">
            <a:avLst/>
          </a:prstGeom>
          <a:noFill/>
          <a:ln/>
        </p:spPr>
        <p:txBody>
          <a:bodyPr wrap="square" lIns="254" tIns="254" rIns="254" bIns="254" rtlCol="0" anchor="ctr"/>
          <a:lstStyle/>
          <a:p>
            <a:pPr marL="0" indent="0">
              <a:buNone/>
            </a:pPr>
            <a:r>
              <a:rPr lang="en-US" sz="900" b="1" kern="0" spc="140" dirty="0">
                <a:solidFill>
                  <a:srgbClr val="0F8B8D"/>
                </a:solidFill>
                <a:latin typeface="Aptos" pitchFamily="34" charset="0"/>
                <a:ea typeface="Aptos" pitchFamily="34" charset="-122"/>
                <a:cs typeface="Aptos" pitchFamily="34" charset="-120"/>
              </a:rPr>
              <a:t> LAB 3A | RUN LOCALLY</a:t>
            </a:r>
            <a:endParaRPr lang="en-US" sz="900" dirty="0"/>
          </a:p>
        </p:txBody>
      </p:sp>
      <p:sp>
        <p:nvSpPr>
          <p:cNvPr id="3" name="Text 1"/>
          <p:cNvSpPr/>
          <p:nvPr/>
        </p:nvSpPr>
        <p:spPr>
          <a:xfrm>
            <a:off x="640080" y="548640"/>
            <a:ext cx="10835640" cy="502920"/>
          </a:xfrm>
          <a:prstGeom prst="rect">
            <a:avLst/>
          </a:prstGeom>
          <a:noFill/>
          <a:ln/>
        </p:spPr>
        <p:txBody>
          <a:bodyPr wrap="square" lIns="0" tIns="0" rIns="0" bIns="0" rtlCol="0" anchor="ctr">
            <a:normAutofit/>
          </a:bodyPr>
          <a:lstStyle/>
          <a:p>
            <a:pPr marL="0" indent="0">
              <a:buNone/>
            </a:pPr>
            <a:r>
              <a:rPr lang="en-US" sz="2700" b="1">
                <a:solidFill>
                  <a:srgbClr val="102A43"/>
                </a:solidFill>
                <a:latin typeface="Aptos Display" pitchFamily="34" charset="0"/>
                <a:ea typeface="Aptos Display" pitchFamily="34" charset="-122"/>
                <a:cs typeface="Aptos Display" pitchFamily="34" charset="-120"/>
              </a:rPr>
              <a:t>Start the Responses API, then test it two ways</a:t>
            </a:r>
            <a:endParaRPr lang="en-US" sz="2700" dirty="0"/>
          </a:p>
        </p:txBody>
      </p:sp>
      <p:sp>
        <p:nvSpPr>
          <p:cNvPr id="4" name="Text 2"/>
          <p:cNvSpPr/>
          <p:nvPr/>
        </p:nvSpPr>
        <p:spPr>
          <a:xfrm>
            <a:off x="658368" y="1078992"/>
            <a:ext cx="10698480" cy="310896"/>
          </a:xfrm>
          <a:prstGeom prst="rect">
            <a:avLst/>
          </a:prstGeom>
          <a:noFill/>
          <a:ln/>
        </p:spPr>
        <p:txBody>
          <a:bodyPr wrap="square" lIns="254" tIns="254" rIns="254" bIns="254" rtlCol="0" anchor="ctr">
            <a:normAutofit/>
          </a:bodyPr>
          <a:lstStyle/>
          <a:p>
            <a:pPr marL="0" indent="0">
              <a:buNone/>
            </a:pPr>
            <a:r>
              <a:rPr lang="en-US" sz="1250">
                <a:solidFill>
                  <a:srgbClr val="4F6474"/>
                </a:solidFill>
                <a:latin typeface="Aptos" pitchFamily="34" charset="0"/>
                <a:ea typeface="Aptos" pitchFamily="34" charset="-122"/>
                <a:cs typeface="Aptos" pitchFamily="34" charset="-120"/>
              </a:rPr>
              <a:t>Run the ASP.NET Core host on port 8088 before connecting PowerShell or Agent Inspector.</a:t>
            </a:r>
            <a:endParaRPr lang="en-US" sz="1250" dirty="0"/>
          </a:p>
        </p:txBody>
      </p:sp>
      <p:sp>
        <p:nvSpPr>
          <p:cNvPr id="5" name="Shape 3"/>
          <p:cNvSpPr/>
          <p:nvPr/>
        </p:nvSpPr>
        <p:spPr>
          <a:xfrm>
            <a:off x="658368" y="2743200"/>
            <a:ext cx="5074920" cy="2755900"/>
          </a:xfrm>
          <a:prstGeom prst="roundRect">
            <a:avLst>
              <a:gd name="adj" fmla="val 2192"/>
            </a:avLst>
          </a:prstGeom>
          <a:solidFill>
            <a:srgbClr val="FFFFFF"/>
          </a:solidFill>
          <a:ln w="12700">
            <a:solidFill>
              <a:srgbClr val="DDE6EC"/>
            </a:solidFill>
            <a:prstDash val="solid"/>
          </a:ln>
          <a:effectLst>
            <a:outerShdw blurRad="25400" dist="50800" dir="2700000" algn="bl" rotWithShape="0">
              <a:srgbClr val="102A43">
                <a:alpha val="14000"/>
              </a:srgbClr>
            </a:outerShdw>
          </a:effectLst>
        </p:spPr>
        <p:txBody>
          <a:bodyPr/>
          <a:lstStyle/>
          <a:p>
            <a:endParaRPr lang="en-US"/>
          </a:p>
        </p:txBody>
      </p:sp>
      <p:sp>
        <p:nvSpPr>
          <p:cNvPr id="6" name="Shape 4"/>
          <p:cNvSpPr/>
          <p:nvPr/>
        </p:nvSpPr>
        <p:spPr>
          <a:xfrm>
            <a:off x="658368" y="2743200"/>
            <a:ext cx="73152" cy="2755900"/>
          </a:xfrm>
          <a:prstGeom prst="rect">
            <a:avLst/>
          </a:prstGeom>
          <a:solidFill>
            <a:srgbClr val="4F8EF7"/>
          </a:solidFill>
          <a:ln w="12700">
            <a:solidFill>
              <a:srgbClr val="4F8EF7"/>
            </a:solidFill>
            <a:prstDash val="solid"/>
          </a:ln>
        </p:spPr>
        <p:txBody>
          <a:bodyPr/>
          <a:lstStyle/>
          <a:p>
            <a:endParaRPr lang="en-US"/>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9536" y="2926080"/>
            <a:ext cx="347472" cy="347472"/>
          </a:xfrm>
          <a:prstGeom prst="rect">
            <a:avLst/>
          </a:prstGeom>
        </p:spPr>
      </p:pic>
      <p:sp>
        <p:nvSpPr>
          <p:cNvPr id="8" name="Text 5"/>
          <p:cNvSpPr/>
          <p:nvPr/>
        </p:nvSpPr>
        <p:spPr>
          <a:xfrm>
            <a:off x="1353312" y="2917190"/>
            <a:ext cx="4178808" cy="292608"/>
          </a:xfrm>
          <a:prstGeom prst="rect">
            <a:avLst/>
          </a:prstGeom>
          <a:noFill/>
          <a:ln/>
        </p:spPr>
        <p:txBody>
          <a:bodyPr wrap="square" lIns="0" tIns="0" rIns="0" bIns="0" rtlCol="0" anchor="ctr">
            <a:normAutofit/>
          </a:bodyPr>
          <a:lstStyle/>
          <a:p>
            <a:pPr marL="0" indent="0">
              <a:buNone/>
            </a:pPr>
            <a:r>
              <a:rPr lang="en-US" sz="1500" b="1">
                <a:solidFill>
                  <a:srgbClr val="102A43"/>
                </a:solidFill>
                <a:latin typeface="Aptos Display" pitchFamily="34" charset="0"/>
                <a:ea typeface="Aptos Display" pitchFamily="34" charset="-122"/>
                <a:cs typeface="Aptos Display" pitchFamily="34" charset="-120"/>
              </a:rPr>
              <a:t>2A. PowerShell smoke test</a:t>
            </a:r>
            <a:endParaRPr lang="en-US" sz="1500" dirty="0"/>
          </a:p>
        </p:txBody>
      </p:sp>
      <p:sp>
        <p:nvSpPr>
          <p:cNvPr id="9" name="Text 6"/>
          <p:cNvSpPr/>
          <p:nvPr/>
        </p:nvSpPr>
        <p:spPr>
          <a:xfrm>
            <a:off x="877824" y="3365500"/>
            <a:ext cx="4636008" cy="812800"/>
          </a:xfrm>
          <a:prstGeom prst="rect">
            <a:avLst/>
          </a:prstGeom>
          <a:noFill/>
          <a:ln/>
        </p:spPr>
        <p:txBody>
          <a:bodyPr wrap="square" lIns="0" tIns="0" rIns="0" bIns="0" rtlCol="0" anchor="t">
            <a:normAutofit/>
          </a:bodyPr>
          <a:lstStyle/>
          <a:p>
            <a:pPr marL="0" indent="0">
              <a:lnSpc>
                <a:spcPct val="95000"/>
              </a:lnSpc>
              <a:buNone/>
            </a:pPr>
            <a:r>
              <a:rPr lang="en-US" sz="1050">
                <a:solidFill>
                  <a:srgbClr val="4F6474"/>
                </a:solidFill>
                <a:latin typeface="Aptos" pitchFamily="34" charset="0"/>
                <a:ea typeface="Aptos" pitchFamily="34" charset="-122"/>
                <a:cs typeface="Aptos" pitchFamily="34" charset="-120"/>
              </a:rPr>
              <a:t>Create $body from the lab payload, then call the running API.</a:t>
            </a:r>
          </a:p>
          <a:p>
            <a:pPr marL="0" indent="0">
              <a:lnSpc>
                <a:spcPct val="95000"/>
              </a:lnSpc>
              <a:buNone/>
            </a:pPr>
            <a:r>
              <a:rPr lang="en-US" sz="1050">
                <a:solidFill>
                  <a:srgbClr val="4F6474"/>
                </a:solidFill>
                <a:latin typeface="Aptos" pitchFamily="34" charset="0"/>
                <a:ea typeface="Aptos" pitchFamily="34" charset="-122"/>
                <a:cs typeface="Aptos" pitchFamily="34" charset="-120"/>
              </a:rPr>
              <a:t>Confirm the expected tool is selected and the response is grounded.</a:t>
            </a:r>
            <a:endParaRPr lang="en-US" sz="1050" dirty="0"/>
          </a:p>
        </p:txBody>
      </p:sp>
      <p:sp>
        <p:nvSpPr>
          <p:cNvPr id="10" name="Shape 7"/>
          <p:cNvSpPr/>
          <p:nvPr/>
        </p:nvSpPr>
        <p:spPr>
          <a:xfrm>
            <a:off x="987552" y="4356100"/>
            <a:ext cx="4407408" cy="914400"/>
          </a:xfrm>
          <a:prstGeom prst="roundRect">
            <a:avLst/>
          </a:prstGeom>
          <a:solidFill>
            <a:srgbClr val="102A43"/>
          </a:solidFill>
          <a:ln w="12700">
            <a:solidFill>
              <a:srgbClr val="102A43"/>
            </a:solidFill>
            <a:prstDash val="solid"/>
          </a:ln>
        </p:spPr>
        <p:txBody>
          <a:bodyPr/>
          <a:lstStyle/>
          <a:p>
            <a:endParaRPr lang="en-US"/>
          </a:p>
        </p:txBody>
      </p:sp>
      <p:sp>
        <p:nvSpPr>
          <p:cNvPr id="11" name="Text 8"/>
          <p:cNvSpPr/>
          <p:nvPr/>
        </p:nvSpPr>
        <p:spPr>
          <a:xfrm>
            <a:off x="1170940" y="4457700"/>
            <a:ext cx="4041140" cy="698500"/>
          </a:xfrm>
          <a:prstGeom prst="rect">
            <a:avLst/>
          </a:prstGeom>
          <a:noFill/>
          <a:ln/>
        </p:spPr>
        <p:txBody>
          <a:bodyPr wrap="square" lIns="0" tIns="0" rIns="0" bIns="0" rtlCol="0" anchor="ctr"/>
          <a:lstStyle/>
          <a:p>
            <a:pPr marL="0" indent="0">
              <a:buNone/>
            </a:pPr>
            <a:r>
              <a:rPr lang="en-US" sz="1050">
                <a:solidFill>
                  <a:srgbClr val="5BD6C5"/>
                </a:solidFill>
                <a:latin typeface="Consolas" panose="020B0609020204030204" pitchFamily="49" charset="0"/>
                <a:ea typeface="Consolas" pitchFamily="34" charset="-122"/>
                <a:cs typeface="Consolas" pitchFamily="34" charset="-120"/>
              </a:rPr>
              <a:t>Invoke-RestMethod -Method Post `</a:t>
            </a:r>
          </a:p>
          <a:p>
            <a:pPr marL="0" indent="0">
              <a:buNone/>
            </a:pPr>
            <a:r>
              <a:rPr lang="en-US" sz="1050">
                <a:solidFill>
                  <a:srgbClr val="5BD6C5"/>
                </a:solidFill>
                <a:latin typeface="Consolas" panose="020B0609020204030204" pitchFamily="49" charset="0"/>
                <a:ea typeface="Consolas" pitchFamily="34" charset="-122"/>
                <a:cs typeface="Consolas" pitchFamily="34" charset="-120"/>
              </a:rPr>
              <a:t>  -Uri "http://localhost:8088/responses" `</a:t>
            </a:r>
          </a:p>
          <a:p>
            <a:pPr marL="0" indent="0">
              <a:buNone/>
            </a:pPr>
            <a:r>
              <a:rPr lang="en-US" sz="1050">
                <a:solidFill>
                  <a:srgbClr val="5BD6C5"/>
                </a:solidFill>
                <a:latin typeface="Consolas" panose="020B0609020204030204" pitchFamily="49" charset="0"/>
                <a:ea typeface="Consolas" pitchFamily="34" charset="-122"/>
                <a:cs typeface="Consolas" pitchFamily="34" charset="-120"/>
              </a:rPr>
              <a:t>  -ContentType "application/json" `</a:t>
            </a:r>
          </a:p>
          <a:p>
            <a:pPr marL="0" indent="0">
              <a:buNone/>
            </a:pPr>
            <a:r>
              <a:rPr lang="en-US" sz="1050">
                <a:solidFill>
                  <a:srgbClr val="5BD6C5"/>
                </a:solidFill>
                <a:latin typeface="Consolas" panose="020B0609020204030204" pitchFamily="49" charset="0"/>
                <a:ea typeface="Consolas" pitchFamily="34" charset="-122"/>
                <a:cs typeface="Consolas" pitchFamily="34" charset="-120"/>
              </a:rPr>
              <a:t>  -Body $body</a:t>
            </a:r>
            <a:endParaRPr lang="en-US" sz="1050" dirty="0">
              <a:latin typeface="Consolas" panose="020B0609020204030204" pitchFamily="49" charset="0"/>
            </a:endParaRPr>
          </a:p>
        </p:txBody>
      </p:sp>
      <p:sp>
        <p:nvSpPr>
          <p:cNvPr id="12" name="Shape 9"/>
          <p:cNvSpPr/>
          <p:nvPr/>
        </p:nvSpPr>
        <p:spPr>
          <a:xfrm>
            <a:off x="6437376" y="2743200"/>
            <a:ext cx="5074920" cy="2755900"/>
          </a:xfrm>
          <a:prstGeom prst="roundRect">
            <a:avLst>
              <a:gd name="adj" fmla="val 2192"/>
            </a:avLst>
          </a:prstGeom>
          <a:solidFill>
            <a:srgbClr val="FFFFFF"/>
          </a:solidFill>
          <a:ln w="12700">
            <a:solidFill>
              <a:srgbClr val="DDE6EC"/>
            </a:solidFill>
            <a:prstDash val="solid"/>
          </a:ln>
          <a:effectLst>
            <a:outerShdw blurRad="25400" dist="50800" dir="2700000" algn="bl" rotWithShape="0">
              <a:srgbClr val="102A43">
                <a:alpha val="14000"/>
              </a:srgbClr>
            </a:outerShdw>
          </a:effectLst>
        </p:spPr>
        <p:txBody>
          <a:bodyPr/>
          <a:lstStyle/>
          <a:p>
            <a:endParaRPr lang="en-US"/>
          </a:p>
        </p:txBody>
      </p:sp>
      <p:sp>
        <p:nvSpPr>
          <p:cNvPr id="13" name="Shape 10"/>
          <p:cNvSpPr/>
          <p:nvPr/>
        </p:nvSpPr>
        <p:spPr>
          <a:xfrm>
            <a:off x="6437376" y="2743200"/>
            <a:ext cx="73152" cy="2755900"/>
          </a:xfrm>
          <a:prstGeom prst="rect">
            <a:avLst/>
          </a:prstGeom>
          <a:solidFill>
            <a:srgbClr val="775DA6"/>
          </a:solidFill>
          <a:ln w="12700">
            <a:solidFill>
              <a:srgbClr val="775DA6"/>
            </a:solidFill>
            <a:prstDash val="solid"/>
          </a:ln>
        </p:spPr>
        <p:txBody>
          <a:bodyPr/>
          <a:lstStyle/>
          <a:p>
            <a:endParaRPr lang="en-US"/>
          </a:p>
        </p:txBody>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38544" y="2926080"/>
            <a:ext cx="347472" cy="347472"/>
          </a:xfrm>
          <a:prstGeom prst="rect">
            <a:avLst/>
          </a:prstGeom>
        </p:spPr>
      </p:pic>
      <p:sp>
        <p:nvSpPr>
          <p:cNvPr id="15" name="Text 11"/>
          <p:cNvSpPr/>
          <p:nvPr/>
        </p:nvSpPr>
        <p:spPr>
          <a:xfrm>
            <a:off x="7132320" y="2917190"/>
            <a:ext cx="4178808" cy="292608"/>
          </a:xfrm>
          <a:prstGeom prst="rect">
            <a:avLst/>
          </a:prstGeom>
          <a:noFill/>
          <a:ln/>
        </p:spPr>
        <p:txBody>
          <a:bodyPr wrap="square" lIns="0" tIns="0" rIns="0" bIns="0" rtlCol="0" anchor="ctr">
            <a:normAutofit/>
          </a:bodyPr>
          <a:lstStyle/>
          <a:p>
            <a:pPr marL="0" indent="0">
              <a:buNone/>
            </a:pPr>
            <a:r>
              <a:rPr lang="en-US" sz="1500" b="1">
                <a:solidFill>
                  <a:srgbClr val="102A43"/>
                </a:solidFill>
                <a:latin typeface="Aptos Display" pitchFamily="34" charset="0"/>
                <a:ea typeface="Aptos Display" pitchFamily="34" charset="-122"/>
                <a:cs typeface="Aptos Display" pitchFamily="34" charset="-120"/>
              </a:rPr>
              <a:t>2B. Foundry Agent Inspector</a:t>
            </a:r>
            <a:endParaRPr lang="en-US" sz="1500" dirty="0"/>
          </a:p>
        </p:txBody>
      </p:sp>
      <p:sp>
        <p:nvSpPr>
          <p:cNvPr id="16" name="Text 12"/>
          <p:cNvSpPr/>
          <p:nvPr/>
        </p:nvSpPr>
        <p:spPr>
          <a:xfrm>
            <a:off x="6656832" y="3365500"/>
            <a:ext cx="4636008" cy="1117600"/>
          </a:xfrm>
          <a:prstGeom prst="rect">
            <a:avLst/>
          </a:prstGeom>
          <a:noFill/>
          <a:ln/>
        </p:spPr>
        <p:txBody>
          <a:bodyPr wrap="square" lIns="0" tIns="0" rIns="0" bIns="0" rtlCol="0" anchor="t">
            <a:normAutofit/>
          </a:bodyPr>
          <a:lstStyle/>
          <a:p>
            <a:pPr marL="0" indent="0">
              <a:lnSpc>
                <a:spcPct val="95000"/>
              </a:lnSpc>
              <a:buNone/>
            </a:pPr>
            <a:r>
              <a:rPr lang="en-US" sz="1050">
                <a:solidFill>
                  <a:srgbClr val="4F6474"/>
                </a:solidFill>
                <a:latin typeface="Aptos" pitchFamily="34" charset="0"/>
                <a:ea typeface="Aptos" pitchFamily="34" charset="-122"/>
                <a:cs typeface="Aptos" pitchFamily="34" charset="-120"/>
              </a:rPr>
              <a:t>Open Agent Inspector from Foundry Toolkit and connect to http://localhost:8088.</a:t>
            </a:r>
          </a:p>
          <a:p>
            <a:pPr marL="0" indent="0">
              <a:lnSpc>
                <a:spcPct val="95000"/>
              </a:lnSpc>
              <a:buNone/>
            </a:pPr>
            <a:endParaRPr lang="en-US" sz="1050">
              <a:solidFill>
                <a:srgbClr val="4F6474"/>
              </a:solidFill>
              <a:latin typeface="Aptos" pitchFamily="34" charset="0"/>
              <a:ea typeface="Aptos" pitchFamily="34" charset="-122"/>
              <a:cs typeface="Aptos" pitchFamily="34" charset="-120"/>
            </a:endParaRPr>
          </a:p>
          <a:p>
            <a:pPr marL="0" indent="0">
              <a:lnSpc>
                <a:spcPct val="95000"/>
              </a:lnSpc>
              <a:buNone/>
            </a:pPr>
            <a:r>
              <a:rPr lang="en-US" sz="1050">
                <a:solidFill>
                  <a:srgbClr val="4F6474"/>
                </a:solidFill>
                <a:latin typeface="Aptos" pitchFamily="34" charset="0"/>
                <a:ea typeface="Aptos" pitchFamily="34" charset="-122"/>
                <a:cs typeface="Aptos" pitchFamily="34" charset="-120"/>
              </a:rPr>
              <a:t>Use /responses if the connection form requires the full endpoint, then inspect the complete run.</a:t>
            </a:r>
            <a:endParaRPr lang="en-US" sz="1050" dirty="0"/>
          </a:p>
        </p:txBody>
      </p:sp>
      <p:sp>
        <p:nvSpPr>
          <p:cNvPr id="17" name="Shape 13"/>
          <p:cNvSpPr/>
          <p:nvPr/>
        </p:nvSpPr>
        <p:spPr>
          <a:xfrm>
            <a:off x="6766560" y="4635500"/>
            <a:ext cx="4407408" cy="558800"/>
          </a:xfrm>
          <a:prstGeom prst="roundRect">
            <a:avLst/>
          </a:prstGeom>
          <a:solidFill>
            <a:srgbClr val="EEE8F7"/>
          </a:solidFill>
          <a:ln w="12700">
            <a:solidFill>
              <a:srgbClr val="775DA6"/>
            </a:solidFill>
            <a:prstDash val="solid"/>
          </a:ln>
        </p:spPr>
        <p:txBody>
          <a:bodyPr/>
          <a:lstStyle/>
          <a:p>
            <a:endParaRPr lang="en-US"/>
          </a:p>
        </p:txBody>
      </p:sp>
      <p:sp>
        <p:nvSpPr>
          <p:cNvPr id="18" name="Text 14"/>
          <p:cNvSpPr/>
          <p:nvPr/>
        </p:nvSpPr>
        <p:spPr>
          <a:xfrm>
            <a:off x="6949440" y="4822190"/>
            <a:ext cx="4041648" cy="182880"/>
          </a:xfrm>
          <a:prstGeom prst="rect">
            <a:avLst/>
          </a:prstGeom>
          <a:noFill/>
          <a:ln/>
        </p:spPr>
        <p:txBody>
          <a:bodyPr wrap="square" lIns="0" tIns="0" rIns="0" bIns="0" rtlCol="0" anchor="ctr"/>
          <a:lstStyle/>
          <a:p>
            <a:pPr marL="0" indent="0" algn="ctr">
              <a:buNone/>
            </a:pPr>
            <a:r>
              <a:rPr lang="en-US" sz="1050" b="1">
                <a:solidFill>
                  <a:srgbClr val="775DA6"/>
                </a:solidFill>
                <a:latin typeface="Aptos" pitchFamily="34" charset="0"/>
                <a:ea typeface="Aptos" pitchFamily="34" charset="-122"/>
                <a:cs typeface="Aptos" pitchFamily="34" charset="-120"/>
              </a:rPr>
              <a:t>Foundry Toolkit: Open Agent Inspector</a:t>
            </a:r>
            <a:endParaRPr lang="en-US" sz="1050" dirty="0"/>
          </a:p>
        </p:txBody>
      </p:sp>
      <p:sp>
        <p:nvSpPr>
          <p:cNvPr id="19" name="Shape 15"/>
          <p:cNvSpPr/>
          <p:nvPr/>
        </p:nvSpPr>
        <p:spPr>
          <a:xfrm>
            <a:off x="2148840" y="5715000"/>
            <a:ext cx="7909560" cy="402336"/>
          </a:xfrm>
          <a:prstGeom prst="roundRect">
            <a:avLst/>
          </a:prstGeom>
          <a:solidFill>
            <a:srgbClr val="FFF4D7"/>
          </a:solidFill>
          <a:ln w="12700">
            <a:solidFill>
              <a:srgbClr val="F4B942"/>
            </a:solidFill>
            <a:prstDash val="solid"/>
          </a:ln>
        </p:spPr>
        <p:txBody>
          <a:bodyPr/>
          <a:lstStyle/>
          <a:p>
            <a:endParaRPr lang="en-US"/>
          </a:p>
        </p:txBody>
      </p:sp>
      <p:pic>
        <p:nvPicPr>
          <p:cNvPr id="2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359152" y="5806440"/>
            <a:ext cx="210312" cy="210312"/>
          </a:xfrm>
          <a:prstGeom prst="rect">
            <a:avLst/>
          </a:prstGeom>
        </p:spPr>
      </p:pic>
      <p:sp>
        <p:nvSpPr>
          <p:cNvPr id="21" name="Text 16"/>
          <p:cNvSpPr/>
          <p:nvPr/>
        </p:nvSpPr>
        <p:spPr>
          <a:xfrm>
            <a:off x="2724912" y="5825490"/>
            <a:ext cx="7040880" cy="155448"/>
          </a:xfrm>
          <a:prstGeom prst="rect">
            <a:avLst/>
          </a:prstGeom>
          <a:noFill/>
          <a:ln/>
        </p:spPr>
        <p:txBody>
          <a:bodyPr wrap="square" lIns="0" tIns="0" rIns="0" bIns="0" rtlCol="0" anchor="ctr">
            <a:normAutofit/>
          </a:bodyPr>
          <a:lstStyle/>
          <a:p>
            <a:pPr marL="0" indent="0">
              <a:buNone/>
            </a:pPr>
            <a:r>
              <a:rPr lang="en-US" sz="940" b="1" dirty="0">
                <a:solidFill>
                  <a:srgbClr val="102A43"/>
                </a:solidFill>
                <a:latin typeface="Aptos" pitchFamily="34" charset="0"/>
                <a:ea typeface="Aptos" pitchFamily="34" charset="-122"/>
                <a:cs typeface="Aptos" pitchFamily="34" charset="-120"/>
              </a:rPr>
              <a:t>Local auth: set AZURE_TOKEN_CREDENTIALS=AzureCliCredential, then restart the agent.</a:t>
            </a:r>
            <a:endParaRPr lang="en-US" sz="940" dirty="0"/>
          </a:p>
        </p:txBody>
      </p:sp>
      <p:sp>
        <p:nvSpPr>
          <p:cNvPr id="22" name="Text 17"/>
          <p:cNvSpPr/>
          <p:nvPr/>
        </p:nvSpPr>
        <p:spPr>
          <a:xfrm>
            <a:off x="566928" y="6528816"/>
            <a:ext cx="4389120" cy="146304"/>
          </a:xfrm>
          <a:prstGeom prst="rect">
            <a:avLst/>
          </a:prstGeom>
          <a:noFill/>
          <a:ln/>
        </p:spPr>
        <p:txBody>
          <a:bodyPr wrap="square" lIns="0" tIns="0" rIns="0" bIns="0" rtlCol="0" anchor="ctr"/>
          <a:lstStyle/>
          <a:p>
            <a:pPr marL="0" indent="0">
              <a:buNone/>
            </a:pPr>
            <a:r>
              <a:rPr lang="en-US" sz="750" dirty="0">
                <a:solidFill>
                  <a:srgbClr val="748494"/>
                </a:solidFill>
                <a:latin typeface="Aptos" pitchFamily="34" charset="0"/>
                <a:ea typeface="Aptos" pitchFamily="34" charset="-122"/>
                <a:cs typeface="Aptos" pitchFamily="34" charset="-120"/>
              </a:rPr>
              <a:t>Local validation: protocol behavior and execution trace</a:t>
            </a:r>
            <a:endParaRPr lang="en-US" sz="750" dirty="0"/>
          </a:p>
        </p:txBody>
      </p:sp>
      <p:sp>
        <p:nvSpPr>
          <p:cNvPr id="25" name="Slide Number Placeholder 0"/>
          <p:cNvSpPr>
            <a:spLocks noGrp="1"/>
          </p:cNvSpPr>
          <p:nvPr>
            <p:ph type="sldNum" sz="quarter" idx="4294967295"/>
          </p:nvPr>
        </p:nvSpPr>
        <p:spPr>
          <a:xfrm>
            <a:off x="11109960" y="6510528"/>
            <a:ext cx="548640"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748494"/>
                </a:solidFill>
                <a:latin typeface="Aptos"/>
                <a:ea typeface="Aptos"/>
                <a:cs typeface="Aptos"/>
              </a:defRPr>
            </a:lvl1pPr>
          </a:lstStyle>
          <a:p>
            <a:pPr algn="r"/>
            <a:fld id="{F7021451-1387-4CA6-816F-3879F97B5CBC}" type="slidenum">
              <a:rPr lang="en-US" b="0"/>
              <a:t>11</a:t>
            </a:fld>
            <a:endParaRPr lang="en-US"/>
          </a:p>
        </p:txBody>
      </p:sp>
      <p:sp>
        <p:nvSpPr>
          <p:cNvPr id="23" name="Run First Background">
            <a:extLst>
              <a:ext uri="{FF2B5EF4-FFF2-40B4-BE49-F238E27FC236}">
                <a16:creationId xmlns:a16="http://schemas.microsoft.com/office/drawing/2014/main" id="{F727555A-5A48-80B7-50A1-3464F7467A99}"/>
              </a:ext>
            </a:extLst>
          </p:cNvPr>
          <p:cNvSpPr/>
          <p:nvPr/>
        </p:nvSpPr>
        <p:spPr>
          <a:xfrm>
            <a:off x="657860" y="1625600"/>
            <a:ext cx="10854690" cy="914400"/>
          </a:xfrm>
          <a:prstGeom prst="roundRect">
            <a:avLst/>
          </a:prstGeom>
          <a:solidFill>
            <a:srgbClr val="102A43"/>
          </a:solidFill>
          <a:ln w="12700">
            <a:solidFill>
              <a:srgbClr val="102A43"/>
            </a:solidFill>
            <a:prstDash val="solid"/>
          </a:ln>
        </p:spPr>
        <p:txBody>
          <a:bodyPr/>
          <a:lstStyle/>
          <a:p>
            <a:endParaRPr lang="en-US"/>
          </a:p>
        </p:txBody>
      </p:sp>
      <p:sp>
        <p:nvSpPr>
          <p:cNvPr id="24" name="Run First Heading">
            <a:extLst>
              <a:ext uri="{FF2B5EF4-FFF2-40B4-BE49-F238E27FC236}">
                <a16:creationId xmlns:a16="http://schemas.microsoft.com/office/drawing/2014/main" id="{6A085B01-A6FF-5F40-465D-0739CCFFD804}"/>
              </a:ext>
            </a:extLst>
          </p:cNvPr>
          <p:cNvSpPr/>
          <p:nvPr/>
        </p:nvSpPr>
        <p:spPr>
          <a:xfrm>
            <a:off x="877570" y="1765300"/>
            <a:ext cx="5207000" cy="279400"/>
          </a:xfrm>
          <a:prstGeom prst="rect">
            <a:avLst/>
          </a:prstGeom>
          <a:noFill/>
          <a:ln/>
        </p:spPr>
        <p:txBody>
          <a:bodyPr wrap="square" lIns="0" tIns="0" rIns="0" bIns="0" rtlCol="0" anchor="ctr">
            <a:normAutofit/>
          </a:bodyPr>
          <a:lstStyle/>
          <a:p>
            <a:pPr marL="0" indent="0">
              <a:buNone/>
            </a:pPr>
            <a:r>
              <a:rPr lang="en-US" sz="1500" b="1">
                <a:solidFill>
                  <a:srgbClr val="FFFFFF"/>
                </a:solidFill>
                <a:latin typeface="Aptos Display" pitchFamily="34" charset="0"/>
                <a:ea typeface="Aptos Display" pitchFamily="34" charset="-122"/>
                <a:cs typeface="Aptos Display" pitchFamily="34" charset="-120"/>
              </a:rPr>
              <a:t>1. Run the ASP.NET Core web project</a:t>
            </a:r>
            <a:endParaRPr lang="en-US" sz="1500" dirty="0">
              <a:solidFill>
                <a:srgbClr val="FFFFFF"/>
              </a:solidFill>
            </a:endParaRPr>
          </a:p>
        </p:txBody>
      </p:sp>
      <p:sp>
        <p:nvSpPr>
          <p:cNvPr id="26" name="Run First Command">
            <a:extLst>
              <a:ext uri="{FF2B5EF4-FFF2-40B4-BE49-F238E27FC236}">
                <a16:creationId xmlns:a16="http://schemas.microsoft.com/office/drawing/2014/main" id="{C65A9F33-8C2C-2FDB-6E6B-1F643513A72A}"/>
              </a:ext>
            </a:extLst>
          </p:cNvPr>
          <p:cNvSpPr/>
          <p:nvPr/>
        </p:nvSpPr>
        <p:spPr>
          <a:xfrm>
            <a:off x="877570" y="2146300"/>
            <a:ext cx="6604000" cy="190500"/>
          </a:xfrm>
          <a:prstGeom prst="rect">
            <a:avLst/>
          </a:prstGeom>
          <a:noFill/>
          <a:ln/>
        </p:spPr>
        <p:txBody>
          <a:bodyPr wrap="square" lIns="0" tIns="0" rIns="0" bIns="0" rtlCol="0" anchor="ctr"/>
          <a:lstStyle/>
          <a:p>
            <a:pPr marL="0" indent="0">
              <a:buNone/>
            </a:pPr>
            <a:r>
              <a:rPr lang="en-US" sz="1050">
                <a:solidFill>
                  <a:srgbClr val="4DD6C9"/>
                </a:solidFill>
                <a:latin typeface="Consolas" pitchFamily="34" charset="0"/>
                <a:ea typeface="Consolas" pitchFamily="34" charset="-122"/>
                <a:cs typeface="Consolas" pitchFamily="34" charset="-120"/>
              </a:rPr>
              <a:t>dotnet run --project .\src\Workshop.Agent\Workshop.Agent.csproj</a:t>
            </a:r>
            <a:endParaRPr lang="en-US" sz="1050" dirty="0">
              <a:solidFill>
                <a:srgbClr val="4DD6C9"/>
              </a:solidFill>
            </a:endParaRPr>
          </a:p>
        </p:txBody>
      </p:sp>
      <p:sp>
        <p:nvSpPr>
          <p:cNvPr id="27" name="Run First Endpoint">
            <a:extLst>
              <a:ext uri="{FF2B5EF4-FFF2-40B4-BE49-F238E27FC236}">
                <a16:creationId xmlns:a16="http://schemas.microsoft.com/office/drawing/2014/main" id="{4A60DA5C-F5CC-5C41-C47E-C86662935B79}"/>
              </a:ext>
            </a:extLst>
          </p:cNvPr>
          <p:cNvSpPr/>
          <p:nvPr/>
        </p:nvSpPr>
        <p:spPr>
          <a:xfrm>
            <a:off x="7747000" y="1943100"/>
            <a:ext cx="3429000" cy="393700"/>
          </a:xfrm>
          <a:prstGeom prst="rect">
            <a:avLst/>
          </a:prstGeom>
          <a:noFill/>
          <a:ln/>
        </p:spPr>
        <p:txBody>
          <a:bodyPr wrap="square" lIns="0" tIns="0" rIns="0" bIns="0" rtlCol="0" anchor="ctr"/>
          <a:lstStyle/>
          <a:p>
            <a:pPr marL="0" indent="0" algn="ctr">
              <a:buNone/>
            </a:pPr>
            <a:r>
              <a:rPr lang="en-US" sz="1050">
                <a:solidFill>
                  <a:srgbClr val="FFFFFF"/>
                </a:solidFill>
                <a:latin typeface="Consolas" pitchFamily="34" charset="0"/>
                <a:ea typeface="Consolas" pitchFamily="34" charset="-122"/>
                <a:cs typeface="Consolas" pitchFamily="34" charset="-120"/>
              </a:rPr>
              <a:t>Responses endpoint</a:t>
            </a:r>
          </a:p>
          <a:p>
            <a:pPr marL="0" indent="0" algn="ctr">
              <a:buNone/>
            </a:pPr>
            <a:r>
              <a:rPr lang="en-US" sz="1050">
                <a:solidFill>
                  <a:srgbClr val="FFFFFF"/>
                </a:solidFill>
                <a:latin typeface="Consolas" pitchFamily="34" charset="0"/>
                <a:ea typeface="Consolas" pitchFamily="34" charset="-122"/>
                <a:cs typeface="Consolas" pitchFamily="34" charset="-120"/>
              </a:rPr>
              <a:t>http://localhost:8088/responses</a:t>
            </a:r>
            <a:endParaRPr lang="en-US" sz="1050" dirty="0">
              <a:solidFill>
                <a:srgbClr val="FFFF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292608"/>
            <a:ext cx="2926080" cy="201168"/>
          </a:xfrm>
          <a:prstGeom prst="rect">
            <a:avLst/>
          </a:prstGeom>
          <a:noFill/>
          <a:ln/>
        </p:spPr>
        <p:txBody>
          <a:bodyPr wrap="square" lIns="254" tIns="254" rIns="254" bIns="254" rtlCol="0" anchor="ctr"/>
          <a:lstStyle/>
          <a:p>
            <a:pPr marL="0" indent="0">
              <a:buNone/>
            </a:pPr>
            <a:r>
              <a:rPr lang="en-US" sz="900" b="1" kern="0" spc="140" dirty="0">
                <a:solidFill>
                  <a:srgbClr val="0F8B8D"/>
                </a:solidFill>
                <a:latin typeface="Aptos" pitchFamily="34" charset="0"/>
                <a:ea typeface="Aptos" pitchFamily="34" charset="-122"/>
                <a:cs typeface="Aptos" pitchFamily="34" charset="-120"/>
              </a:rPr>
              <a:t> LAB 3B | SWITCH PROFILE</a:t>
            </a:r>
            <a:endParaRPr lang="en-US" sz="900" dirty="0"/>
          </a:p>
        </p:txBody>
      </p:sp>
      <p:sp>
        <p:nvSpPr>
          <p:cNvPr id="3" name="Text 1"/>
          <p:cNvSpPr/>
          <p:nvPr/>
        </p:nvSpPr>
        <p:spPr>
          <a:xfrm>
            <a:off x="640080" y="548640"/>
            <a:ext cx="10835640" cy="502920"/>
          </a:xfrm>
          <a:prstGeom prst="rect">
            <a:avLst/>
          </a:prstGeom>
          <a:noFill/>
          <a:ln/>
        </p:spPr>
        <p:txBody>
          <a:bodyPr wrap="square" lIns="0" tIns="0" rIns="0" bIns="0" rtlCol="0" anchor="ctr">
            <a:normAutofit/>
          </a:bodyPr>
          <a:lstStyle/>
          <a:p>
            <a:pPr marL="0" indent="0">
              <a:buNone/>
            </a:pPr>
            <a:r>
              <a:rPr lang="en-US" sz="2700" b="1" dirty="0">
                <a:solidFill>
                  <a:srgbClr val="102A43"/>
                </a:solidFill>
                <a:latin typeface="Aptos Display" pitchFamily="34" charset="0"/>
                <a:ea typeface="Aptos Display" pitchFamily="34" charset="-122"/>
                <a:cs typeface="Aptos Display" pitchFamily="34" charset="-120"/>
              </a:rPr>
              <a:t>Reuse the same agent host against a different MCP server</a:t>
            </a:r>
            <a:endParaRPr lang="en-US" sz="2700" dirty="0"/>
          </a:p>
        </p:txBody>
      </p:sp>
      <p:sp>
        <p:nvSpPr>
          <p:cNvPr id="4" name="Text 2"/>
          <p:cNvSpPr/>
          <p:nvPr/>
        </p:nvSpPr>
        <p:spPr>
          <a:xfrm>
            <a:off x="658368" y="1078992"/>
            <a:ext cx="10698480" cy="310896"/>
          </a:xfrm>
          <a:prstGeom prst="rect">
            <a:avLst/>
          </a:prstGeom>
          <a:noFill/>
          <a:ln/>
        </p:spPr>
        <p:txBody>
          <a:bodyPr wrap="square" lIns="254" tIns="254" rIns="254" bIns="254" rtlCol="0" anchor="ctr">
            <a:normAutofit/>
          </a:bodyPr>
          <a:lstStyle/>
          <a:p>
            <a:pPr marL="0" indent="0">
              <a:buNone/>
            </a:pPr>
            <a:r>
              <a:rPr lang="en-US" sz="1250" dirty="0">
                <a:solidFill>
                  <a:srgbClr val="4F6474"/>
                </a:solidFill>
                <a:latin typeface="Aptos" pitchFamily="34" charset="0"/>
                <a:ea typeface="Aptos" pitchFamily="34" charset="-122"/>
                <a:cs typeface="Aptos" pitchFamily="34" charset="-120"/>
              </a:rPr>
              <a:t> Configuration changes the endpoint, allowlist, approvals, name, and instructions. The binary stays the same.</a:t>
            </a:r>
            <a:endParaRPr lang="en-US" sz="1250" dirty="0"/>
          </a:p>
        </p:txBody>
      </p:sp>
      <p:sp>
        <p:nvSpPr>
          <p:cNvPr id="5" name="Shape 3"/>
          <p:cNvSpPr/>
          <p:nvPr/>
        </p:nvSpPr>
        <p:spPr>
          <a:xfrm>
            <a:off x="640080" y="1920240"/>
            <a:ext cx="2926080" cy="3246120"/>
          </a:xfrm>
          <a:prstGeom prst="roundRect">
            <a:avLst/>
          </a:prstGeom>
          <a:solidFill>
            <a:srgbClr val="102A43"/>
          </a:solidFill>
          <a:ln w="12700">
            <a:solidFill>
              <a:srgbClr val="102A43"/>
            </a:solidFill>
            <a:prstDash val="solid"/>
          </a:ln>
          <a:effectLst>
            <a:outerShdw blurRad="25400" dist="50800" dir="2700000" algn="bl" rotWithShape="0">
              <a:srgbClr val="102A43">
                <a:alpha val="14000"/>
              </a:srgbClr>
            </a:outerShdw>
          </a:effectLst>
        </p:spPr>
        <p:txBody>
          <a:bodyPr/>
          <a:lstStyle/>
          <a:p>
            <a:endParaRPr lang="en-US"/>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4208" y="2304288"/>
            <a:ext cx="868680" cy="868680"/>
          </a:xfrm>
          <a:prstGeom prst="rect">
            <a:avLst/>
          </a:prstGeom>
        </p:spPr>
      </p:pic>
      <p:sp>
        <p:nvSpPr>
          <p:cNvPr id="7" name="Text 4"/>
          <p:cNvSpPr/>
          <p:nvPr/>
        </p:nvSpPr>
        <p:spPr>
          <a:xfrm>
            <a:off x="1005840" y="3429000"/>
            <a:ext cx="2194560" cy="320040"/>
          </a:xfrm>
          <a:prstGeom prst="rect">
            <a:avLst/>
          </a:prstGeom>
          <a:noFill/>
          <a:ln/>
        </p:spPr>
        <p:txBody>
          <a:bodyPr wrap="square" lIns="0" tIns="0" rIns="0" bIns="0" rtlCol="0" anchor="ctr"/>
          <a:lstStyle/>
          <a:p>
            <a:pPr marL="0" indent="0" algn="ctr">
              <a:buNone/>
            </a:pPr>
            <a:r>
              <a:rPr lang="en-US" sz="1800" b="1" dirty="0">
                <a:solidFill>
                  <a:srgbClr val="FFFFFF"/>
                </a:solidFill>
                <a:latin typeface="Aptos Display" pitchFamily="34" charset="0"/>
                <a:ea typeface="Aptos Display" pitchFamily="34" charset="-122"/>
                <a:cs typeface="Aptos Display" pitchFamily="34" charset="-120"/>
              </a:rPr>
              <a:t>Shared agent host</a:t>
            </a:r>
            <a:endParaRPr lang="en-US" sz="1800" dirty="0"/>
          </a:p>
        </p:txBody>
      </p:sp>
      <p:sp>
        <p:nvSpPr>
          <p:cNvPr id="8" name="Text 5"/>
          <p:cNvSpPr/>
          <p:nvPr/>
        </p:nvSpPr>
        <p:spPr>
          <a:xfrm>
            <a:off x="1005840" y="3977640"/>
            <a:ext cx="2194560" cy="658368"/>
          </a:xfrm>
          <a:prstGeom prst="rect">
            <a:avLst/>
          </a:prstGeom>
          <a:noFill/>
          <a:ln/>
        </p:spPr>
        <p:txBody>
          <a:bodyPr wrap="square" lIns="0" tIns="0" rIns="0" bIns="0" rtlCol="0" anchor="ctr">
            <a:normAutofit/>
          </a:bodyPr>
          <a:lstStyle/>
          <a:p>
            <a:pPr marL="0" indent="0" algn="ctr">
              <a:buNone/>
            </a:pPr>
            <a:r>
              <a:rPr lang="en-US" sz="1020" dirty="0">
                <a:solidFill>
                  <a:srgbClr val="DDEAF2"/>
                </a:solidFill>
                <a:latin typeface="Aptos" pitchFamily="34" charset="0"/>
                <a:ea typeface="Aptos" pitchFamily="34" charset="-122"/>
                <a:cs typeface="Aptos" pitchFamily="34" charset="-120"/>
              </a:rPr>
              <a:t>ASP.NET Core</a:t>
            </a:r>
            <a:endParaRPr lang="en-US" sz="1020" dirty="0"/>
          </a:p>
          <a:p>
            <a:pPr marL="0" indent="0" algn="ctr">
              <a:buNone/>
            </a:pPr>
            <a:r>
              <a:rPr lang="en-US" sz="1020" dirty="0">
                <a:solidFill>
                  <a:srgbClr val="DDEAF2"/>
                </a:solidFill>
                <a:latin typeface="Aptos" pitchFamily="34" charset="0"/>
                <a:ea typeface="Aptos" pitchFamily="34" charset="-122"/>
                <a:cs typeface="Aptos" pitchFamily="34" charset="-120"/>
              </a:rPr>
              <a:t>Responses protocol</a:t>
            </a:r>
            <a:endParaRPr lang="en-US" sz="1020" dirty="0"/>
          </a:p>
          <a:p>
            <a:pPr marL="0" indent="0" algn="ctr">
              <a:buNone/>
            </a:pPr>
            <a:r>
              <a:rPr lang="en-US" sz="1020" dirty="0">
                <a:solidFill>
                  <a:srgbClr val="DDEAF2"/>
                </a:solidFill>
                <a:latin typeface="Aptos" pitchFamily="34" charset="0"/>
                <a:ea typeface="Aptos" pitchFamily="34" charset="-122"/>
                <a:cs typeface="Aptos" pitchFamily="34" charset="-120"/>
              </a:rPr>
              <a:t>Foundry integration</a:t>
            </a:r>
            <a:endParaRPr lang="en-US" sz="1020" dirty="0"/>
          </a:p>
        </p:txBody>
      </p:sp>
      <p:sp>
        <p:nvSpPr>
          <p:cNvPr id="9" name="Shape 6"/>
          <p:cNvSpPr/>
          <p:nvPr/>
        </p:nvSpPr>
        <p:spPr>
          <a:xfrm flipV="1">
            <a:off x="3657600" y="2286000"/>
            <a:ext cx="914400" cy="594360"/>
          </a:xfrm>
          <a:prstGeom prst="line">
            <a:avLst/>
          </a:prstGeom>
          <a:noFill/>
          <a:ln w="25400">
            <a:solidFill>
              <a:srgbClr val="4F8EF7"/>
            </a:solidFill>
            <a:prstDash val="solid"/>
            <a:tailEnd type="triangle"/>
          </a:ln>
        </p:spPr>
        <p:txBody>
          <a:bodyPr/>
          <a:lstStyle/>
          <a:p>
            <a:endParaRPr lang="en-US"/>
          </a:p>
        </p:txBody>
      </p:sp>
      <p:sp>
        <p:nvSpPr>
          <p:cNvPr id="10" name="Shape 7"/>
          <p:cNvSpPr/>
          <p:nvPr/>
        </p:nvSpPr>
        <p:spPr>
          <a:xfrm>
            <a:off x="3657600" y="4160520"/>
            <a:ext cx="914400" cy="594360"/>
          </a:xfrm>
          <a:prstGeom prst="line">
            <a:avLst/>
          </a:prstGeom>
          <a:noFill/>
          <a:ln w="25400">
            <a:solidFill>
              <a:srgbClr val="F4B942"/>
            </a:solidFill>
            <a:prstDash val="solid"/>
            <a:tailEnd type="triangle"/>
          </a:ln>
        </p:spPr>
        <p:txBody>
          <a:bodyPr/>
          <a:lstStyle/>
          <a:p>
            <a:endParaRPr lang="en-US"/>
          </a:p>
        </p:txBody>
      </p:sp>
      <p:sp>
        <p:nvSpPr>
          <p:cNvPr id="11" name="Shape 8"/>
          <p:cNvSpPr/>
          <p:nvPr/>
        </p:nvSpPr>
        <p:spPr>
          <a:xfrm>
            <a:off x="4709160" y="1664208"/>
            <a:ext cx="6720840" cy="1828800"/>
          </a:xfrm>
          <a:prstGeom prst="roundRect">
            <a:avLst>
              <a:gd name="adj" fmla="val 4000"/>
            </a:avLst>
          </a:prstGeom>
          <a:solidFill>
            <a:srgbClr val="FFFFFF"/>
          </a:solidFill>
          <a:ln w="12700">
            <a:solidFill>
              <a:srgbClr val="DDE6EC"/>
            </a:solidFill>
            <a:prstDash val="solid"/>
          </a:ln>
          <a:effectLst>
            <a:outerShdw blurRad="25400" dist="50800" dir="2700000" algn="bl" rotWithShape="0">
              <a:srgbClr val="102A43">
                <a:alpha val="14000"/>
              </a:srgbClr>
            </a:outerShdw>
          </a:effectLst>
        </p:spPr>
        <p:txBody>
          <a:bodyPr/>
          <a:lstStyle/>
          <a:p>
            <a:endParaRPr lang="en-US"/>
          </a:p>
        </p:txBody>
      </p:sp>
      <p:sp>
        <p:nvSpPr>
          <p:cNvPr id="12" name="Shape 9"/>
          <p:cNvSpPr/>
          <p:nvPr/>
        </p:nvSpPr>
        <p:spPr>
          <a:xfrm>
            <a:off x="4709160" y="1664208"/>
            <a:ext cx="73152" cy="1828800"/>
          </a:xfrm>
          <a:prstGeom prst="rect">
            <a:avLst/>
          </a:prstGeom>
          <a:solidFill>
            <a:srgbClr val="4F8EF7"/>
          </a:solidFill>
          <a:ln w="12700">
            <a:solidFill>
              <a:srgbClr val="4F8EF7"/>
            </a:solidFill>
            <a:prstDash val="solid"/>
          </a:ln>
        </p:spPr>
        <p:txBody>
          <a:bodyPr/>
          <a:lstStyle/>
          <a:p>
            <a:endParaRPr lang="en-US"/>
          </a:p>
        </p:txBody>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10328" y="1847088"/>
            <a:ext cx="347472" cy="347472"/>
          </a:xfrm>
          <a:prstGeom prst="rect">
            <a:avLst/>
          </a:prstGeom>
        </p:spPr>
      </p:pic>
      <p:sp>
        <p:nvSpPr>
          <p:cNvPr id="14" name="Text 10"/>
          <p:cNvSpPr/>
          <p:nvPr/>
        </p:nvSpPr>
        <p:spPr>
          <a:xfrm>
            <a:off x="5404104" y="1837944"/>
            <a:ext cx="5824728" cy="292608"/>
          </a:xfrm>
          <a:prstGeom prst="rect">
            <a:avLst/>
          </a:prstGeom>
          <a:noFill/>
          <a:ln/>
        </p:spPr>
        <p:txBody>
          <a:bodyPr wrap="square" lIns="0" tIns="0" rIns="0" bIns="0" rtlCol="0" anchor="ctr">
            <a:normAutofit/>
          </a:bodyPr>
          <a:lstStyle/>
          <a:p>
            <a:pPr marL="0" indent="0">
              <a:buNone/>
            </a:pPr>
            <a:r>
              <a:rPr lang="en-US" sz="1500" b="1" dirty="0">
                <a:solidFill>
                  <a:srgbClr val="102A43"/>
                </a:solidFill>
                <a:latin typeface="Aptos Display" pitchFamily="34" charset="0"/>
                <a:ea typeface="Aptos Display" pitchFamily="34" charset="-122"/>
                <a:cs typeface="Aptos Display" pitchFamily="34" charset="-120"/>
              </a:rPr>
              <a:t>Work-request profile</a:t>
            </a:r>
            <a:endParaRPr lang="en-US" sz="1500" dirty="0"/>
          </a:p>
        </p:txBody>
      </p:sp>
      <p:sp>
        <p:nvSpPr>
          <p:cNvPr id="15" name="Text 11"/>
          <p:cNvSpPr/>
          <p:nvPr/>
        </p:nvSpPr>
        <p:spPr>
          <a:xfrm>
            <a:off x="4928616" y="2286000"/>
            <a:ext cx="6281928" cy="1024128"/>
          </a:xfrm>
          <a:prstGeom prst="rect">
            <a:avLst/>
          </a:prstGeom>
          <a:noFill/>
          <a:ln/>
        </p:spPr>
        <p:txBody>
          <a:bodyPr wrap="square" lIns="0" tIns="0" rIns="0" bIns="0" rtlCol="0" anchor="t">
            <a:normAutofit/>
          </a:bodyPr>
          <a:lstStyle/>
          <a:p>
            <a:pPr marL="0" indent="0">
              <a:lnSpc>
                <a:spcPct val="95000"/>
              </a:lnSpc>
              <a:buNone/>
            </a:pPr>
            <a:r>
              <a:rPr lang="en-US" sz="1050" dirty="0">
                <a:solidFill>
                  <a:srgbClr val="4F6474"/>
                </a:solidFill>
                <a:latin typeface="Aptos" pitchFamily="34" charset="0"/>
                <a:ea typeface="Aptos" pitchFamily="34" charset="-122"/>
                <a:cs typeface="Aptos" pitchFamily="34" charset="-120"/>
              </a:rPr>
              <a:t>Endpoint: work-request MCP</a:t>
            </a:r>
            <a:endParaRPr lang="en-US" sz="1050" dirty="0"/>
          </a:p>
          <a:p>
            <a:pPr marL="0" indent="0">
              <a:lnSpc>
                <a:spcPct val="95000"/>
              </a:lnSpc>
              <a:buNone/>
            </a:pPr>
            <a:r>
              <a:rPr lang="en-US" sz="1050" dirty="0">
                <a:solidFill>
                  <a:srgbClr val="4F6474"/>
                </a:solidFill>
                <a:latin typeface="Aptos" pitchFamily="34" charset="0"/>
                <a:ea typeface="Aptos" pitchFamily="34" charset="-122"/>
                <a:cs typeface="Aptos" pitchFamily="34" charset="-120"/>
              </a:rPr>
              <a:t>Allowed: get, create, update status</a:t>
            </a:r>
            <a:endParaRPr lang="en-US" sz="1050" dirty="0"/>
          </a:p>
          <a:p>
            <a:pPr marL="0" indent="0">
              <a:lnSpc>
                <a:spcPct val="95000"/>
              </a:lnSpc>
              <a:buNone/>
            </a:pPr>
            <a:r>
              <a:rPr lang="en-US" sz="1050" dirty="0">
                <a:solidFill>
                  <a:srgbClr val="4F6474"/>
                </a:solidFill>
                <a:latin typeface="Aptos" pitchFamily="34" charset="0"/>
                <a:ea typeface="Aptos" pitchFamily="34" charset="-122"/>
                <a:cs typeface="Aptos" pitchFamily="34" charset="-120"/>
              </a:rPr>
              <a:t>Approval: create and update</a:t>
            </a:r>
            <a:endParaRPr lang="en-US" sz="1050" dirty="0"/>
          </a:p>
          <a:p>
            <a:pPr marL="0" indent="0">
              <a:lnSpc>
                <a:spcPct val="95000"/>
              </a:lnSpc>
              <a:buNone/>
            </a:pPr>
            <a:r>
              <a:rPr lang="en-US" sz="1050" dirty="0">
                <a:solidFill>
                  <a:srgbClr val="4F6474"/>
                </a:solidFill>
                <a:latin typeface="Aptos" pitchFamily="34" charset="0"/>
                <a:ea typeface="Aptos" pitchFamily="34" charset="-122"/>
                <a:cs typeface="Aptos" pitchFamily="34" charset="-120"/>
              </a:rPr>
              <a:t>Backend: APIM mock-response</a:t>
            </a:r>
            <a:endParaRPr lang="en-US" sz="1050" dirty="0"/>
          </a:p>
        </p:txBody>
      </p:sp>
      <p:sp>
        <p:nvSpPr>
          <p:cNvPr id="16" name="Shape 12"/>
          <p:cNvSpPr/>
          <p:nvPr/>
        </p:nvSpPr>
        <p:spPr>
          <a:xfrm>
            <a:off x="4709160" y="3730752"/>
            <a:ext cx="6720840" cy="1828800"/>
          </a:xfrm>
          <a:prstGeom prst="roundRect">
            <a:avLst>
              <a:gd name="adj" fmla="val 4000"/>
            </a:avLst>
          </a:prstGeom>
          <a:solidFill>
            <a:srgbClr val="FFFFFF"/>
          </a:solidFill>
          <a:ln w="12700">
            <a:solidFill>
              <a:srgbClr val="DDE6EC"/>
            </a:solidFill>
            <a:prstDash val="solid"/>
          </a:ln>
          <a:effectLst>
            <a:outerShdw blurRad="25400" dist="50800" dir="2700000" algn="bl" rotWithShape="0">
              <a:srgbClr val="102A43">
                <a:alpha val="14000"/>
              </a:srgbClr>
            </a:outerShdw>
          </a:effectLst>
        </p:spPr>
        <p:txBody>
          <a:bodyPr/>
          <a:lstStyle/>
          <a:p>
            <a:endParaRPr lang="en-US"/>
          </a:p>
        </p:txBody>
      </p:sp>
      <p:sp>
        <p:nvSpPr>
          <p:cNvPr id="17" name="Shape 13"/>
          <p:cNvSpPr/>
          <p:nvPr/>
        </p:nvSpPr>
        <p:spPr>
          <a:xfrm>
            <a:off x="4709160" y="3730752"/>
            <a:ext cx="73152" cy="1828800"/>
          </a:xfrm>
          <a:prstGeom prst="rect">
            <a:avLst/>
          </a:prstGeom>
          <a:solidFill>
            <a:srgbClr val="F4B942"/>
          </a:solidFill>
          <a:ln w="12700">
            <a:solidFill>
              <a:srgbClr val="F4B942"/>
            </a:solidFill>
            <a:prstDash val="solid"/>
          </a:ln>
        </p:spPr>
        <p:txBody>
          <a:bodyPr/>
          <a:lstStyle/>
          <a:p>
            <a:endParaRPr lang="en-US"/>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10328" y="3913632"/>
            <a:ext cx="347472" cy="347472"/>
          </a:xfrm>
          <a:prstGeom prst="rect">
            <a:avLst/>
          </a:prstGeom>
        </p:spPr>
      </p:pic>
      <p:sp>
        <p:nvSpPr>
          <p:cNvPr id="19" name="Text 14"/>
          <p:cNvSpPr/>
          <p:nvPr/>
        </p:nvSpPr>
        <p:spPr>
          <a:xfrm>
            <a:off x="5404104" y="3904488"/>
            <a:ext cx="5824728" cy="292608"/>
          </a:xfrm>
          <a:prstGeom prst="rect">
            <a:avLst/>
          </a:prstGeom>
          <a:noFill/>
          <a:ln/>
        </p:spPr>
        <p:txBody>
          <a:bodyPr wrap="square" lIns="0" tIns="0" rIns="0" bIns="0" rtlCol="0" anchor="ctr">
            <a:normAutofit/>
          </a:bodyPr>
          <a:lstStyle/>
          <a:p>
            <a:pPr marL="0" indent="0">
              <a:buNone/>
            </a:pPr>
            <a:r>
              <a:rPr lang="en-US" sz="1500" b="1" dirty="0">
                <a:solidFill>
                  <a:srgbClr val="102A43"/>
                </a:solidFill>
                <a:latin typeface="Aptos Display" pitchFamily="34" charset="0"/>
                <a:ea typeface="Aptos Display" pitchFamily="34" charset="-122"/>
                <a:cs typeface="Aptos Display" pitchFamily="34" charset="-120"/>
              </a:rPr>
              <a:t>Petstore profile</a:t>
            </a:r>
            <a:endParaRPr lang="en-US" sz="1500" dirty="0"/>
          </a:p>
        </p:txBody>
      </p:sp>
      <p:sp>
        <p:nvSpPr>
          <p:cNvPr id="20" name="Text 15"/>
          <p:cNvSpPr/>
          <p:nvPr/>
        </p:nvSpPr>
        <p:spPr>
          <a:xfrm>
            <a:off x="4928616" y="4352544"/>
            <a:ext cx="6281928" cy="1024128"/>
          </a:xfrm>
          <a:prstGeom prst="rect">
            <a:avLst/>
          </a:prstGeom>
          <a:noFill/>
          <a:ln/>
        </p:spPr>
        <p:txBody>
          <a:bodyPr wrap="square" lIns="0" tIns="0" rIns="0" bIns="0" rtlCol="0" anchor="t">
            <a:normAutofit/>
          </a:bodyPr>
          <a:lstStyle/>
          <a:p>
            <a:pPr marL="0" indent="0">
              <a:lnSpc>
                <a:spcPct val="95000"/>
              </a:lnSpc>
              <a:buNone/>
            </a:pPr>
            <a:r>
              <a:rPr lang="en-US" sz="1050" dirty="0">
                <a:solidFill>
                  <a:srgbClr val="4F6474"/>
                </a:solidFill>
                <a:latin typeface="Aptos" pitchFamily="34" charset="0"/>
                <a:ea typeface="Aptos" pitchFamily="34" charset="-122"/>
                <a:cs typeface="Aptos" pitchFamily="34" charset="-120"/>
              </a:rPr>
              <a:t>Endpoint: Petstore MCP</a:t>
            </a:r>
            <a:endParaRPr lang="en-US" sz="1050" dirty="0"/>
          </a:p>
          <a:p>
            <a:pPr marL="0" indent="0">
              <a:lnSpc>
                <a:spcPct val="95000"/>
              </a:lnSpc>
              <a:buNone/>
            </a:pPr>
            <a:r>
              <a:rPr lang="en-US" sz="1050" dirty="0">
                <a:solidFill>
                  <a:srgbClr val="4F6474"/>
                </a:solidFill>
                <a:latin typeface="Aptos" pitchFamily="34" charset="0"/>
                <a:ea typeface="Aptos" pitchFamily="34" charset="-122"/>
                <a:cs typeface="Aptos" pitchFamily="34" charset="-120"/>
              </a:rPr>
              <a:t>Allowed: find by ID, find by status</a:t>
            </a:r>
            <a:endParaRPr lang="en-US" sz="1050" dirty="0"/>
          </a:p>
          <a:p>
            <a:pPr marL="0" indent="0">
              <a:lnSpc>
                <a:spcPct val="95000"/>
              </a:lnSpc>
              <a:buNone/>
            </a:pPr>
            <a:r>
              <a:rPr lang="en-US" sz="1050" dirty="0">
                <a:solidFill>
                  <a:srgbClr val="4F6474"/>
                </a:solidFill>
                <a:latin typeface="Aptos" pitchFamily="34" charset="0"/>
                <a:ea typeface="Aptos" pitchFamily="34" charset="-122"/>
                <a:cs typeface="Aptos" pitchFamily="34" charset="-120"/>
              </a:rPr>
              <a:t>Approval: none for read-only tools</a:t>
            </a:r>
            <a:endParaRPr lang="en-US" sz="1050" dirty="0"/>
          </a:p>
          <a:p>
            <a:pPr marL="0" indent="0">
              <a:lnSpc>
                <a:spcPct val="95000"/>
              </a:lnSpc>
              <a:buNone/>
            </a:pPr>
            <a:r>
              <a:rPr lang="en-US" sz="1050" dirty="0">
                <a:solidFill>
                  <a:srgbClr val="4F6474"/>
                </a:solidFill>
                <a:latin typeface="Aptos" pitchFamily="34" charset="0"/>
                <a:ea typeface="Aptos" pitchFamily="34" charset="-122"/>
                <a:cs typeface="Aptos" pitchFamily="34" charset="-120"/>
              </a:rPr>
              <a:t>Backend: public Swagger Petstore</a:t>
            </a:r>
            <a:endParaRPr lang="en-US" sz="1050" dirty="0"/>
          </a:p>
        </p:txBody>
      </p:sp>
      <p:sp>
        <p:nvSpPr>
          <p:cNvPr id="21" name="Text 16"/>
          <p:cNvSpPr/>
          <p:nvPr/>
        </p:nvSpPr>
        <p:spPr>
          <a:xfrm>
            <a:off x="2194560" y="5806440"/>
            <a:ext cx="7955280" cy="256032"/>
          </a:xfrm>
          <a:prstGeom prst="rect">
            <a:avLst/>
          </a:prstGeom>
          <a:noFill/>
          <a:ln/>
        </p:spPr>
        <p:txBody>
          <a:bodyPr wrap="square" lIns="0" tIns="0" rIns="0" bIns="0" rtlCol="0" anchor="ctr"/>
          <a:lstStyle/>
          <a:p>
            <a:pPr marL="0" indent="0" algn="ctr">
              <a:buNone/>
            </a:pPr>
            <a:r>
              <a:rPr lang="en-US" sz="1120" b="1" dirty="0">
                <a:solidFill>
                  <a:srgbClr val="0F8B8D"/>
                </a:solidFill>
                <a:latin typeface="Aptos" pitchFamily="34" charset="0"/>
                <a:ea typeface="Aptos" pitchFamily="34" charset="-122"/>
                <a:cs typeface="Aptos" pitchFamily="34" charset="-120"/>
              </a:rPr>
              <a:t>Profile-driven design separates reusable hosting code from scenario-specific tool policy.</a:t>
            </a:r>
            <a:endParaRPr lang="en-US" sz="1120" dirty="0"/>
          </a:p>
        </p:txBody>
      </p:sp>
      <p:sp>
        <p:nvSpPr>
          <p:cNvPr id="22" name="Text 17"/>
          <p:cNvSpPr/>
          <p:nvPr/>
        </p:nvSpPr>
        <p:spPr>
          <a:xfrm>
            <a:off x="566928" y="6528816"/>
            <a:ext cx="4389120" cy="146304"/>
          </a:xfrm>
          <a:prstGeom prst="rect">
            <a:avLst/>
          </a:prstGeom>
          <a:noFill/>
          <a:ln/>
        </p:spPr>
        <p:txBody>
          <a:bodyPr wrap="square" lIns="0" tIns="0" rIns="0" bIns="0" rtlCol="0" anchor="ctr"/>
          <a:lstStyle/>
          <a:p>
            <a:pPr marL="0" indent="0">
              <a:buNone/>
            </a:pPr>
            <a:r>
              <a:rPr lang="en-US" sz="750" dirty="0">
                <a:solidFill>
                  <a:srgbClr val="748494"/>
                </a:solidFill>
                <a:latin typeface="Aptos" pitchFamily="34" charset="0"/>
                <a:ea typeface="Aptos" pitchFamily="34" charset="-122"/>
                <a:cs typeface="Aptos" pitchFamily="34" charset="-120"/>
              </a:rPr>
              <a:t>Optional extension: same host, different tool profile</a:t>
            </a:r>
            <a:endParaRPr lang="en-US" sz="750" dirty="0"/>
          </a:p>
        </p:txBody>
      </p:sp>
      <p:sp>
        <p:nvSpPr>
          <p:cNvPr id="25" name="Slide Number Placeholder 0"/>
          <p:cNvSpPr>
            <a:spLocks noGrp="1"/>
          </p:cNvSpPr>
          <p:nvPr>
            <p:ph type="sldNum" sz="quarter" idx="4294967295"/>
          </p:nvPr>
        </p:nvSpPr>
        <p:spPr>
          <a:xfrm>
            <a:off x="11109960" y="6510528"/>
            <a:ext cx="548640"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748494"/>
                </a:solidFill>
                <a:latin typeface="Aptos"/>
                <a:ea typeface="Aptos"/>
                <a:cs typeface="Aptos"/>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40080" y="292608"/>
            <a:ext cx="2926080" cy="201168"/>
          </a:xfrm>
          <a:prstGeom prst="rect">
            <a:avLst/>
          </a:prstGeom>
          <a:noFill/>
          <a:ln/>
        </p:spPr>
        <p:txBody>
          <a:bodyPr wrap="square" lIns="254" tIns="254" rIns="254" bIns="254" rtlCol="0" anchor="ctr"/>
          <a:lstStyle/>
          <a:p>
            <a:pPr marL="0" indent="0">
              <a:buNone/>
            </a:pPr>
            <a:r>
              <a:rPr lang="en-US" sz="900" b="1" kern="0" spc="140" dirty="0">
                <a:solidFill>
                  <a:srgbClr val="0F8B8D"/>
                </a:solidFill>
                <a:latin typeface="Aptos" pitchFamily="34" charset="0"/>
                <a:ea typeface="Aptos" pitchFamily="34" charset="-122"/>
                <a:cs typeface="Aptos" pitchFamily="34" charset="-120"/>
              </a:rPr>
              <a:t> LAB 3C | DEPLOY</a:t>
            </a:r>
            <a:endParaRPr lang="en-US" sz="900" dirty="0"/>
          </a:p>
        </p:txBody>
      </p:sp>
      <p:sp>
        <p:nvSpPr>
          <p:cNvPr id="3" name="Text 1"/>
          <p:cNvSpPr/>
          <p:nvPr/>
        </p:nvSpPr>
        <p:spPr>
          <a:xfrm>
            <a:off x="640080" y="548640"/>
            <a:ext cx="10835640" cy="502920"/>
          </a:xfrm>
          <a:prstGeom prst="rect">
            <a:avLst/>
          </a:prstGeom>
          <a:noFill/>
          <a:ln/>
        </p:spPr>
        <p:txBody>
          <a:bodyPr wrap="square" lIns="0" tIns="0" rIns="0" bIns="0" rtlCol="0" anchor="ctr">
            <a:normAutofit/>
          </a:bodyPr>
          <a:lstStyle/>
          <a:p>
            <a:pPr marL="0" indent="0">
              <a:buNone/>
            </a:pPr>
            <a:r>
              <a:rPr lang="en-US" sz="2700" b="1" dirty="0">
                <a:solidFill>
                  <a:srgbClr val="102A43"/>
                </a:solidFill>
                <a:latin typeface="Aptos Display" pitchFamily="34" charset="0"/>
                <a:ea typeface="Aptos Display" pitchFamily="34" charset="-122"/>
                <a:cs typeface="Aptos Display" pitchFamily="34" charset="-120"/>
              </a:rPr>
              <a:t>Move from localhost to a Foundry-managed agent runtime</a:t>
            </a:r>
            <a:endParaRPr lang="en-US" sz="2700" dirty="0"/>
          </a:p>
        </p:txBody>
      </p:sp>
      <p:sp>
        <p:nvSpPr>
          <p:cNvPr id="4" name="Text 2"/>
          <p:cNvSpPr/>
          <p:nvPr/>
        </p:nvSpPr>
        <p:spPr>
          <a:xfrm>
            <a:off x="658368" y="1078992"/>
            <a:ext cx="10698480" cy="310896"/>
          </a:xfrm>
          <a:prstGeom prst="rect">
            <a:avLst/>
          </a:prstGeom>
          <a:noFill/>
          <a:ln/>
        </p:spPr>
        <p:txBody>
          <a:bodyPr wrap="square" lIns="254" tIns="254" rIns="254" bIns="254" rtlCol="0" anchor="ctr">
            <a:normAutofit/>
          </a:bodyPr>
          <a:lstStyle/>
          <a:p>
            <a:pPr marL="0" indent="0">
              <a:buNone/>
            </a:pPr>
            <a:r>
              <a:rPr lang="en-US" sz="1250">
                <a:solidFill>
                  <a:srgbClr val="4F6474"/>
                </a:solidFill>
                <a:latin typeface="Aptos" pitchFamily="34" charset="0"/>
                <a:ea typeface="Aptos" pitchFamily="34" charset="-122"/>
                <a:cs typeface="Aptos" pitchFamily="34" charset="-120"/>
              </a:rPr>
              <a:t>Two deployment interfaces read the same azure.yaml and create the same hosted-agent runtime.</a:t>
            </a:r>
            <a:endParaRPr lang="en-US" sz="1250" dirty="0"/>
          </a:p>
        </p:txBody>
      </p:sp>
      <p:sp>
        <p:nvSpPr>
          <p:cNvPr id="5" name="Shape 3"/>
          <p:cNvSpPr/>
          <p:nvPr/>
        </p:nvSpPr>
        <p:spPr>
          <a:xfrm>
            <a:off x="657860" y="1659890"/>
            <a:ext cx="6731000" cy="1841500"/>
          </a:xfrm>
          <a:prstGeom prst="roundRect">
            <a:avLst>
              <a:gd name="adj" fmla="val 2319"/>
            </a:avLst>
          </a:prstGeom>
          <a:solidFill>
            <a:srgbClr val="FFFFFF"/>
          </a:solidFill>
          <a:ln w="12700">
            <a:solidFill>
              <a:srgbClr val="DDE6EC"/>
            </a:solidFill>
            <a:prstDash val="solid"/>
          </a:ln>
          <a:effectLst>
            <a:outerShdw blurRad="25400" dist="50800" dir="2700000" algn="bl" rotWithShape="0">
              <a:srgbClr val="102A43">
                <a:alpha val="14000"/>
              </a:srgbClr>
            </a:outerShdw>
          </a:effectLst>
        </p:spPr>
        <p:txBody>
          <a:bodyPr/>
          <a:lstStyle/>
          <a:p>
            <a:endParaRPr lang="en-US"/>
          </a:p>
        </p:txBody>
      </p:sp>
      <p:sp>
        <p:nvSpPr>
          <p:cNvPr id="6" name="Shape 4"/>
          <p:cNvSpPr/>
          <p:nvPr/>
        </p:nvSpPr>
        <p:spPr>
          <a:xfrm>
            <a:off x="657860" y="1659890"/>
            <a:ext cx="73660" cy="1841500"/>
          </a:xfrm>
          <a:prstGeom prst="rect">
            <a:avLst/>
          </a:prstGeom>
          <a:solidFill>
            <a:srgbClr val="4F8EF7"/>
          </a:solidFill>
          <a:ln w="12700">
            <a:solidFill>
              <a:srgbClr val="4F8EF7"/>
            </a:solidFill>
            <a:prstDash val="solid"/>
          </a:ln>
        </p:spPr>
        <p:txBody>
          <a:bodyPr/>
          <a:lstStyle/>
          <a:p>
            <a:endParaRPr lang="en-US"/>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9790" y="1842770"/>
            <a:ext cx="347472" cy="347472"/>
          </a:xfrm>
          <a:prstGeom prst="rect">
            <a:avLst/>
          </a:prstGeom>
        </p:spPr>
      </p:pic>
      <p:sp>
        <p:nvSpPr>
          <p:cNvPr id="8" name="Text 5"/>
          <p:cNvSpPr/>
          <p:nvPr/>
        </p:nvSpPr>
        <p:spPr>
          <a:xfrm>
            <a:off x="1353820" y="1833880"/>
            <a:ext cx="5715000" cy="292608"/>
          </a:xfrm>
          <a:prstGeom prst="rect">
            <a:avLst/>
          </a:prstGeom>
          <a:noFill/>
          <a:ln/>
        </p:spPr>
        <p:txBody>
          <a:bodyPr wrap="square" lIns="0" tIns="0" rIns="0" bIns="0" rtlCol="0" anchor="ctr">
            <a:normAutofit/>
          </a:bodyPr>
          <a:lstStyle/>
          <a:p>
            <a:pPr marL="0" indent="0">
              <a:buNone/>
            </a:pPr>
            <a:r>
              <a:rPr lang="en-US" sz="1500" b="1" dirty="0">
                <a:solidFill>
                  <a:srgbClr val="102A43"/>
                </a:solidFill>
                <a:latin typeface="Aptos Display" pitchFamily="34" charset="0"/>
                <a:ea typeface="Aptos Display" pitchFamily="34" charset="-122"/>
                <a:cs typeface="Aptos Display" pitchFamily="34" charset="-120"/>
              </a:rPr>
              <a:t>Path A: Foundry Toolkit</a:t>
            </a:r>
            <a:endParaRPr lang="en-US" sz="1500" dirty="0"/>
          </a:p>
        </p:txBody>
      </p:sp>
      <p:sp>
        <p:nvSpPr>
          <p:cNvPr id="9" name="Text 6"/>
          <p:cNvSpPr/>
          <p:nvPr/>
        </p:nvSpPr>
        <p:spPr>
          <a:xfrm>
            <a:off x="877570" y="2282190"/>
            <a:ext cx="6223000" cy="1041400"/>
          </a:xfrm>
          <a:prstGeom prst="rect">
            <a:avLst/>
          </a:prstGeom>
          <a:noFill/>
          <a:ln/>
        </p:spPr>
        <p:txBody>
          <a:bodyPr wrap="square" lIns="0" tIns="0" rIns="0" bIns="0" rtlCol="0" anchor="t">
            <a:normAutofit/>
          </a:bodyPr>
          <a:lstStyle/>
          <a:p>
            <a:pPr marL="0" indent="0">
              <a:lnSpc>
                <a:spcPct val="95000"/>
              </a:lnSpc>
              <a:buNone/>
            </a:pPr>
            <a:r>
              <a:rPr lang="en-US" sz="1150">
                <a:solidFill>
                  <a:srgbClr val="4F6474"/>
                </a:solidFill>
                <a:latin typeface="Aptos" pitchFamily="34" charset="0"/>
                <a:ea typeface="Aptos" pitchFamily="34" charset="-122"/>
                <a:cs typeface="Aptos" pitchFamily="34" charset="-120"/>
              </a:rPr>
              <a:t>Use the VS Code deployment experience.</a:t>
            </a:r>
          </a:p>
          <a:p>
            <a:pPr marL="0" indent="0">
              <a:lnSpc>
                <a:spcPct val="95000"/>
              </a:lnSpc>
              <a:buNone/>
            </a:pPr>
            <a:endParaRPr lang="en-US" sz="1150">
              <a:solidFill>
                <a:srgbClr val="4F6474"/>
              </a:solidFill>
              <a:latin typeface="Aptos" pitchFamily="34" charset="0"/>
              <a:ea typeface="Aptos" pitchFamily="34" charset="-122"/>
              <a:cs typeface="Aptos" pitchFamily="34" charset="-120"/>
            </a:endParaRPr>
          </a:p>
          <a:p>
            <a:pPr marL="0" indent="0">
              <a:lnSpc>
                <a:spcPct val="95000"/>
              </a:lnSpc>
              <a:buNone/>
            </a:pPr>
            <a:r>
              <a:rPr lang="en-US" sz="1150">
                <a:solidFill>
                  <a:srgbClr val="4F6474"/>
                </a:solidFill>
                <a:latin typeface="Aptos" pitchFamily="34" charset="0"/>
                <a:ea typeface="Aptos" pitchFamily="34" charset="-122"/>
                <a:cs typeface="Aptos" pitchFamily="34" charset="-120"/>
              </a:rPr>
              <a:t>Read the service from azure.yaml, resolve values from the source .env, then deploy from the editor.</a:t>
            </a:r>
            <a:endParaRPr lang="en-US" sz="1150" dirty="0"/>
          </a:p>
        </p:txBody>
      </p:sp>
      <p:sp>
        <p:nvSpPr>
          <p:cNvPr id="10" name="Shape 7"/>
          <p:cNvSpPr/>
          <p:nvPr/>
        </p:nvSpPr>
        <p:spPr>
          <a:xfrm>
            <a:off x="657860" y="3733800"/>
            <a:ext cx="6731000" cy="1841500"/>
          </a:xfrm>
          <a:prstGeom prst="roundRect">
            <a:avLst>
              <a:gd name="adj" fmla="val 2319"/>
            </a:avLst>
          </a:prstGeom>
          <a:solidFill>
            <a:srgbClr val="FFFFFF"/>
          </a:solidFill>
          <a:ln w="12700">
            <a:solidFill>
              <a:srgbClr val="DDE6EC"/>
            </a:solidFill>
            <a:prstDash val="solid"/>
          </a:ln>
          <a:effectLst>
            <a:outerShdw blurRad="25400" dist="50800" dir="2700000" algn="bl" rotWithShape="0">
              <a:srgbClr val="102A43">
                <a:alpha val="14000"/>
              </a:srgbClr>
            </a:outerShdw>
          </a:effectLst>
        </p:spPr>
        <p:txBody>
          <a:bodyPr/>
          <a:lstStyle/>
          <a:p>
            <a:endParaRPr lang="en-US"/>
          </a:p>
        </p:txBody>
      </p:sp>
      <p:sp>
        <p:nvSpPr>
          <p:cNvPr id="11" name="Shape 8"/>
          <p:cNvSpPr/>
          <p:nvPr/>
        </p:nvSpPr>
        <p:spPr>
          <a:xfrm>
            <a:off x="657860" y="3733800"/>
            <a:ext cx="73660" cy="1841500"/>
          </a:xfrm>
          <a:prstGeom prst="rect">
            <a:avLst/>
          </a:prstGeom>
          <a:solidFill>
            <a:srgbClr val="0F8B8D"/>
          </a:solidFill>
          <a:ln w="12700">
            <a:solidFill>
              <a:srgbClr val="0F8B8D"/>
            </a:solidFill>
            <a:prstDash val="solid"/>
          </a:ln>
        </p:spPr>
        <p:txBody>
          <a:bodyPr/>
          <a:lstStyle/>
          <a:p>
            <a:endParaRPr lang="en-US"/>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9790" y="3916680"/>
            <a:ext cx="347472" cy="347472"/>
          </a:xfrm>
          <a:prstGeom prst="rect">
            <a:avLst/>
          </a:prstGeom>
        </p:spPr>
      </p:pic>
      <p:sp>
        <p:nvSpPr>
          <p:cNvPr id="13" name="Text 9"/>
          <p:cNvSpPr/>
          <p:nvPr/>
        </p:nvSpPr>
        <p:spPr>
          <a:xfrm>
            <a:off x="1353820" y="3907790"/>
            <a:ext cx="5715000" cy="292608"/>
          </a:xfrm>
          <a:prstGeom prst="rect">
            <a:avLst/>
          </a:prstGeom>
          <a:noFill/>
          <a:ln/>
        </p:spPr>
        <p:txBody>
          <a:bodyPr wrap="square" lIns="0" tIns="0" rIns="0" bIns="0" rtlCol="0" anchor="ctr">
            <a:normAutofit/>
          </a:bodyPr>
          <a:lstStyle/>
          <a:p>
            <a:pPr marL="0" indent="0">
              <a:buNone/>
            </a:pPr>
            <a:r>
              <a:rPr lang="en-US" sz="1500" b="1" dirty="0">
                <a:solidFill>
                  <a:srgbClr val="102A43"/>
                </a:solidFill>
                <a:latin typeface="Aptos Display" pitchFamily="34" charset="0"/>
                <a:ea typeface="Aptos Display" pitchFamily="34" charset="-122"/>
                <a:cs typeface="Aptos Display" pitchFamily="34" charset="-120"/>
              </a:rPr>
              <a:t>Path B: Azure Developer CLI</a:t>
            </a:r>
            <a:endParaRPr lang="en-US" sz="1500" dirty="0"/>
          </a:p>
        </p:txBody>
      </p:sp>
      <p:sp>
        <p:nvSpPr>
          <p:cNvPr id="14" name="Text 10"/>
          <p:cNvSpPr/>
          <p:nvPr/>
        </p:nvSpPr>
        <p:spPr>
          <a:xfrm>
            <a:off x="877570" y="4356100"/>
            <a:ext cx="6223000" cy="1041400"/>
          </a:xfrm>
          <a:prstGeom prst="rect">
            <a:avLst/>
          </a:prstGeom>
          <a:noFill/>
          <a:ln/>
        </p:spPr>
        <p:txBody>
          <a:bodyPr wrap="square" lIns="0" tIns="0" rIns="0" bIns="0" rtlCol="0" anchor="t">
            <a:normAutofit/>
          </a:bodyPr>
          <a:lstStyle/>
          <a:p>
            <a:pPr marL="0" indent="0">
              <a:lnSpc>
                <a:spcPct val="95000"/>
              </a:lnSpc>
              <a:buNone/>
            </a:pPr>
            <a:r>
              <a:rPr lang="en-US" sz="1150">
                <a:solidFill>
                  <a:srgbClr val="4F6474"/>
                </a:solidFill>
                <a:latin typeface="Aptos" pitchFamily="34" charset="0"/>
                <a:ea typeface="Aptos" pitchFamily="34" charset="-122"/>
                <a:cs typeface="Aptos" pitchFamily="34" charset="-120"/>
              </a:rPr>
              <a:t>Use the same azure.yaml from the repository.</a:t>
            </a:r>
          </a:p>
          <a:p>
            <a:pPr marL="0" indent="0">
              <a:lnSpc>
                <a:spcPct val="95000"/>
              </a:lnSpc>
              <a:buNone/>
            </a:pPr>
            <a:endParaRPr lang="en-US" sz="1150">
              <a:solidFill>
                <a:srgbClr val="4F6474"/>
              </a:solidFill>
              <a:latin typeface="Aptos" pitchFamily="34" charset="0"/>
              <a:ea typeface="Aptos" pitchFamily="34" charset="-122"/>
              <a:cs typeface="Aptos" pitchFamily="34" charset="-120"/>
            </a:endParaRPr>
          </a:p>
          <a:p>
            <a:pPr marL="0" indent="0">
              <a:lnSpc>
                <a:spcPct val="95000"/>
              </a:lnSpc>
              <a:buNone/>
            </a:pPr>
            <a:r>
              <a:rPr lang="en-US" sz="1150">
                <a:solidFill>
                  <a:srgbClr val="4F6474"/>
                </a:solidFill>
                <a:latin typeface="Aptos" pitchFamily="34" charset="0"/>
                <a:ea typeface="Aptos" pitchFamily="34" charset="-122"/>
                <a:cs typeface="Aptos" pitchFamily="34" charset="-120"/>
              </a:rPr>
              <a:t>Resolve values from the selected azd environment, then deploy one named agent service.</a:t>
            </a:r>
            <a:endParaRPr lang="en-US" sz="1150" dirty="0"/>
          </a:p>
        </p:txBody>
      </p:sp>
      <p:sp>
        <p:nvSpPr>
          <p:cNvPr id="15" name="Shape 11"/>
          <p:cNvSpPr/>
          <p:nvPr/>
        </p:nvSpPr>
        <p:spPr>
          <a:xfrm>
            <a:off x="8623300" y="1917700"/>
            <a:ext cx="2921000" cy="3302000"/>
          </a:xfrm>
          <a:prstGeom prst="roundRect">
            <a:avLst/>
          </a:prstGeom>
          <a:solidFill>
            <a:srgbClr val="102A43"/>
          </a:solidFill>
          <a:ln w="12700">
            <a:solidFill>
              <a:srgbClr val="102A43"/>
            </a:solidFill>
            <a:prstDash val="solid"/>
          </a:ln>
          <a:effectLst>
            <a:outerShdw blurRad="25400" dist="50800" dir="2700000" algn="bl" rotWithShape="0">
              <a:srgbClr val="102A43">
                <a:alpha val="14000"/>
              </a:srgbClr>
            </a:outerShdw>
          </a:effectLst>
        </p:spPr>
        <p:txBody>
          <a:bodyPr/>
          <a:lstStyle/>
          <a:p>
            <a:endParaRPr lang="en-US"/>
          </a:p>
        </p:txBody>
      </p:sp>
      <p:sp>
        <p:nvSpPr>
          <p:cNvPr id="17" name="Text 12"/>
          <p:cNvSpPr/>
          <p:nvPr/>
        </p:nvSpPr>
        <p:spPr>
          <a:xfrm>
            <a:off x="8940800" y="3263900"/>
            <a:ext cx="2286000" cy="50292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Aptos Display" pitchFamily="34" charset="0"/>
                <a:ea typeface="Aptos Display" pitchFamily="34" charset="-122"/>
                <a:cs typeface="Aptos Display" pitchFamily="34" charset="-120"/>
              </a:rPr>
              <a:t>Foundry Agent Service</a:t>
            </a:r>
            <a:endParaRPr lang="en-US" sz="1700" dirty="0"/>
          </a:p>
        </p:txBody>
      </p:sp>
      <p:sp>
        <p:nvSpPr>
          <p:cNvPr id="18" name="Text 13"/>
          <p:cNvSpPr/>
          <p:nvPr/>
        </p:nvSpPr>
        <p:spPr>
          <a:xfrm>
            <a:off x="9123680" y="4178300"/>
            <a:ext cx="1920240" cy="548640"/>
          </a:xfrm>
          <a:prstGeom prst="rect">
            <a:avLst/>
          </a:prstGeom>
          <a:noFill/>
          <a:ln/>
        </p:spPr>
        <p:txBody>
          <a:bodyPr wrap="square" lIns="0" tIns="0" rIns="0" bIns="0" rtlCol="0" anchor="ctr">
            <a:normAutofit/>
          </a:bodyPr>
          <a:lstStyle/>
          <a:p>
            <a:pPr marL="0" indent="0" algn="ctr">
              <a:buNone/>
            </a:pPr>
            <a:r>
              <a:rPr lang="en-US" sz="1050">
                <a:solidFill>
                  <a:srgbClr val="DDEAF2"/>
                </a:solidFill>
                <a:latin typeface="Aptos" pitchFamily="34" charset="0"/>
                <a:ea typeface="Aptos" pitchFamily="34" charset="-122"/>
                <a:cs typeface="Aptos" pitchFamily="34" charset="-120"/>
              </a:rPr>
              <a:t>Single shared target</a:t>
            </a:r>
          </a:p>
          <a:p>
            <a:pPr marL="0" indent="0" algn="ctr">
              <a:buNone/>
            </a:pPr>
            <a:r>
              <a:rPr lang="en-US" sz="1050">
                <a:solidFill>
                  <a:srgbClr val="DDEAF2"/>
                </a:solidFill>
                <a:latin typeface="Aptos" pitchFamily="34" charset="0"/>
                <a:ea typeface="Aptos" pitchFamily="34" charset="-122"/>
                <a:cs typeface="Aptos" pitchFamily="34" charset="-120"/>
              </a:rPr>
              <a:t>Managed compute + sandbox</a:t>
            </a:r>
          </a:p>
          <a:p>
            <a:pPr marL="0" indent="0" algn="ctr">
              <a:buNone/>
            </a:pPr>
            <a:r>
              <a:rPr lang="en-US" sz="1050">
                <a:solidFill>
                  <a:srgbClr val="DDEAF2"/>
                </a:solidFill>
                <a:latin typeface="Aptos" pitchFamily="34" charset="0"/>
                <a:ea typeface="Aptos" pitchFamily="34" charset="-122"/>
                <a:cs typeface="Aptos" pitchFamily="34" charset="-120"/>
              </a:rPr>
              <a:t>Immutable agent version</a:t>
            </a:r>
            <a:endParaRPr lang="en-US" sz="1050" dirty="0"/>
          </a:p>
        </p:txBody>
      </p:sp>
      <p:pic>
        <p:nvPicPr>
          <p:cNvPr id="21"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2960" y="5892800"/>
            <a:ext cx="256032" cy="256032"/>
          </a:xfrm>
          <a:prstGeom prst="rect">
            <a:avLst/>
          </a:prstGeom>
        </p:spPr>
      </p:pic>
      <p:sp>
        <p:nvSpPr>
          <p:cNvPr id="22" name="Text 16"/>
          <p:cNvSpPr/>
          <p:nvPr/>
        </p:nvSpPr>
        <p:spPr>
          <a:xfrm>
            <a:off x="1188720" y="5910580"/>
            <a:ext cx="2240280" cy="201168"/>
          </a:xfrm>
          <a:prstGeom prst="rect">
            <a:avLst/>
          </a:prstGeom>
          <a:noFill/>
          <a:ln/>
        </p:spPr>
        <p:txBody>
          <a:bodyPr wrap="square" lIns="0" tIns="0" rIns="0" bIns="0" rtlCol="0" anchor="ctr">
            <a:normAutofit/>
          </a:bodyPr>
          <a:lstStyle/>
          <a:p>
            <a:pPr marL="0" indent="0">
              <a:buNone/>
            </a:pPr>
            <a:r>
              <a:rPr lang="en-US" sz="920" b="1" dirty="0">
                <a:solidFill>
                  <a:srgbClr val="102A43"/>
                </a:solidFill>
                <a:latin typeface="Aptos" pitchFamily="34" charset="0"/>
                <a:ea typeface="Aptos" pitchFamily="34" charset="-122"/>
                <a:cs typeface="Aptos" pitchFamily="34" charset="-120"/>
              </a:rPr>
              <a:t>Code deployment</a:t>
            </a:r>
            <a:endParaRPr lang="en-US" sz="920" dirty="0"/>
          </a:p>
        </p:txBody>
      </p:sp>
      <p:pic>
        <p:nvPicPr>
          <p:cNvPr id="23" name="Image 4"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57600" y="5892800"/>
            <a:ext cx="256032" cy="256032"/>
          </a:xfrm>
          <a:prstGeom prst="rect">
            <a:avLst/>
          </a:prstGeom>
        </p:spPr>
      </p:pic>
      <p:sp>
        <p:nvSpPr>
          <p:cNvPr id="24" name="Text 17"/>
          <p:cNvSpPr/>
          <p:nvPr/>
        </p:nvSpPr>
        <p:spPr>
          <a:xfrm>
            <a:off x="4023360" y="5910580"/>
            <a:ext cx="2240280" cy="201168"/>
          </a:xfrm>
          <a:prstGeom prst="rect">
            <a:avLst/>
          </a:prstGeom>
          <a:noFill/>
          <a:ln/>
        </p:spPr>
        <p:txBody>
          <a:bodyPr wrap="square" lIns="0" tIns="0" rIns="0" bIns="0" rtlCol="0" anchor="ctr">
            <a:normAutofit/>
          </a:bodyPr>
          <a:lstStyle/>
          <a:p>
            <a:pPr marL="0" indent="0">
              <a:buNone/>
            </a:pPr>
            <a:r>
              <a:rPr lang="en-US" sz="920" b="1" dirty="0">
                <a:solidFill>
                  <a:srgbClr val="102A43"/>
                </a:solidFill>
                <a:latin typeface="Aptos" pitchFamily="34" charset="0"/>
                <a:ea typeface="Aptos" pitchFamily="34" charset="-122"/>
                <a:cs typeface="Aptos" pitchFamily="34" charset="-120"/>
              </a:rPr>
              <a:t>Remote dependency resolution</a:t>
            </a:r>
            <a:endParaRPr lang="en-US" sz="920" dirty="0"/>
          </a:p>
        </p:txBody>
      </p:sp>
      <p:pic>
        <p:nvPicPr>
          <p:cNvPr id="25" name="Image 5"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92240" y="5892800"/>
            <a:ext cx="256032" cy="256032"/>
          </a:xfrm>
          <a:prstGeom prst="rect">
            <a:avLst/>
          </a:prstGeom>
        </p:spPr>
      </p:pic>
      <p:sp>
        <p:nvSpPr>
          <p:cNvPr id="26" name="Text 18"/>
          <p:cNvSpPr/>
          <p:nvPr/>
        </p:nvSpPr>
        <p:spPr>
          <a:xfrm>
            <a:off x="6858000" y="5910580"/>
            <a:ext cx="2240280" cy="201168"/>
          </a:xfrm>
          <a:prstGeom prst="rect">
            <a:avLst/>
          </a:prstGeom>
          <a:noFill/>
          <a:ln/>
        </p:spPr>
        <p:txBody>
          <a:bodyPr wrap="square" lIns="0" tIns="0" rIns="0" bIns="0" rtlCol="0" anchor="ctr">
            <a:normAutofit/>
          </a:bodyPr>
          <a:lstStyle/>
          <a:p>
            <a:pPr marL="0" indent="0">
              <a:buNone/>
            </a:pPr>
            <a:r>
              <a:rPr lang="en-US" sz="920" b="1" dirty="0">
                <a:solidFill>
                  <a:srgbClr val="102A43"/>
                </a:solidFill>
                <a:latin typeface="Aptos" pitchFamily="34" charset="0"/>
                <a:ea typeface="Aptos" pitchFamily="34" charset="-122"/>
                <a:cs typeface="Aptos" pitchFamily="34" charset="-120"/>
              </a:rPr>
              <a:t>No participant-managed ACA or ACR</a:t>
            </a:r>
            <a:endParaRPr lang="en-US" sz="920" dirty="0"/>
          </a:p>
        </p:txBody>
      </p:sp>
      <p:pic>
        <p:nvPicPr>
          <p:cNvPr id="27" name="Image 6"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326880" y="5892800"/>
            <a:ext cx="256032" cy="256032"/>
          </a:xfrm>
          <a:prstGeom prst="rect">
            <a:avLst/>
          </a:prstGeom>
        </p:spPr>
      </p:pic>
      <p:sp>
        <p:nvSpPr>
          <p:cNvPr id="28" name="Text 19"/>
          <p:cNvSpPr/>
          <p:nvPr/>
        </p:nvSpPr>
        <p:spPr>
          <a:xfrm>
            <a:off x="9692640" y="5910580"/>
            <a:ext cx="2240280" cy="201168"/>
          </a:xfrm>
          <a:prstGeom prst="rect">
            <a:avLst/>
          </a:prstGeom>
          <a:noFill/>
          <a:ln/>
        </p:spPr>
        <p:txBody>
          <a:bodyPr wrap="square" lIns="0" tIns="0" rIns="0" bIns="0" rtlCol="0" anchor="ctr">
            <a:normAutofit/>
          </a:bodyPr>
          <a:lstStyle/>
          <a:p>
            <a:pPr marL="0" indent="0">
              <a:buNone/>
            </a:pPr>
            <a:r>
              <a:rPr lang="en-US" sz="920" b="1" dirty="0">
                <a:solidFill>
                  <a:srgbClr val="102A43"/>
                </a:solidFill>
                <a:latin typeface="Aptos" pitchFamily="34" charset="0"/>
                <a:ea typeface="Aptos" pitchFamily="34" charset="-122"/>
                <a:cs typeface="Aptos" pitchFamily="34" charset="-120"/>
              </a:rPr>
              <a:t>No physical infra folder required</a:t>
            </a:r>
            <a:endParaRPr lang="en-US" sz="920" dirty="0"/>
          </a:p>
        </p:txBody>
      </p:sp>
      <p:sp>
        <p:nvSpPr>
          <p:cNvPr id="29" name="Text 20"/>
          <p:cNvSpPr/>
          <p:nvPr/>
        </p:nvSpPr>
        <p:spPr>
          <a:xfrm>
            <a:off x="566928" y="6528816"/>
            <a:ext cx="4389120" cy="146304"/>
          </a:xfrm>
          <a:prstGeom prst="rect">
            <a:avLst/>
          </a:prstGeom>
          <a:noFill/>
          <a:ln/>
        </p:spPr>
        <p:txBody>
          <a:bodyPr wrap="square" lIns="0" tIns="0" rIns="0" bIns="0" rtlCol="0" anchor="ctr"/>
          <a:lstStyle/>
          <a:p>
            <a:pPr marL="0" indent="0">
              <a:buNone/>
            </a:pPr>
            <a:r>
              <a:rPr lang="en-US" sz="750" dirty="0">
                <a:solidFill>
                  <a:srgbClr val="748494"/>
                </a:solidFill>
                <a:latin typeface="Aptos" pitchFamily="34" charset="0"/>
                <a:ea typeface="Aptos" pitchFamily="34" charset="-122"/>
                <a:cs typeface="Aptos" pitchFamily="34" charset="-120"/>
              </a:rPr>
              <a:t>Hosted option: Foundry manages the runtime</a:t>
            </a:r>
            <a:endParaRPr lang="en-US" sz="750" dirty="0"/>
          </a:p>
        </p:txBody>
      </p:sp>
      <p:sp>
        <p:nvSpPr>
          <p:cNvPr id="30" name="Slide Number Placeholder 0"/>
          <p:cNvSpPr>
            <a:spLocks noGrp="1"/>
          </p:cNvSpPr>
          <p:nvPr>
            <p:ph type="sldNum" sz="quarter" idx="4294967295"/>
          </p:nvPr>
        </p:nvSpPr>
        <p:spPr>
          <a:xfrm>
            <a:off x="11109960" y="6510528"/>
            <a:ext cx="548640"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748494"/>
                </a:solidFill>
                <a:latin typeface="Aptos"/>
                <a:ea typeface="Aptos"/>
                <a:cs typeface="Aptos"/>
              </a:defRPr>
            </a:lvl1pPr>
          </a:lstStyle>
          <a:p>
            <a:pPr algn="r"/>
            <a:fld id="{F7021451-1387-4CA6-816F-3879F97B5CBC}" type="slidenum">
              <a:rPr lang="en-US" b="0"/>
              <a:t>13</a:t>
            </a:fld>
            <a:endParaRPr lang="en-US"/>
          </a:p>
        </p:txBody>
      </p:sp>
      <p:sp>
        <p:nvSpPr>
          <p:cNvPr id="31" name="Both Paths Label">
            <a:extLst>
              <a:ext uri="{FF2B5EF4-FFF2-40B4-BE49-F238E27FC236}">
                <a16:creationId xmlns:a16="http://schemas.microsoft.com/office/drawing/2014/main" id="{43FB57FF-6A77-6135-546E-ADC4BED961C8}"/>
              </a:ext>
            </a:extLst>
          </p:cNvPr>
          <p:cNvSpPr txBox="1"/>
          <p:nvPr/>
        </p:nvSpPr>
        <p:spPr>
          <a:xfrm>
            <a:off x="825500" y="5613400"/>
            <a:ext cx="2286000" cy="115416"/>
          </a:xfrm>
          <a:prstGeom prst="rect">
            <a:avLst/>
          </a:prstGeom>
          <a:noFill/>
        </p:spPr>
        <p:txBody>
          <a:bodyPr vert="horz" lIns="0" tIns="0" rIns="0" bIns="0" rtlCol="0">
            <a:spAutoFit/>
          </a:bodyPr>
          <a:lstStyle/>
          <a:p>
            <a:r>
              <a:rPr lang="en-US" sz="750" b="1">
                <a:solidFill>
                  <a:srgbClr val="008B8B"/>
                </a:solidFill>
                <a:latin typeface="Aptos" panose="020B0004020202020204" pitchFamily="34" charset="0"/>
              </a:rPr>
              <a:t>BOTH PATHS INCLUDE</a:t>
            </a:r>
          </a:p>
        </p:txBody>
      </p:sp>
      <p:cxnSp>
        <p:nvCxnSpPr>
          <p:cNvPr id="19" name="Path A Direct Arrow">
            <a:extLst>
              <a:ext uri="{FF2B5EF4-FFF2-40B4-BE49-F238E27FC236}">
                <a16:creationId xmlns:a16="http://schemas.microsoft.com/office/drawing/2014/main" id="{3FAA1174-B7CC-01C1-9A04-872126AFF9F7}"/>
              </a:ext>
            </a:extLst>
          </p:cNvPr>
          <p:cNvCxnSpPr/>
          <p:nvPr/>
        </p:nvCxnSpPr>
        <p:spPr>
          <a:xfrm>
            <a:off x="7388860" y="2580640"/>
            <a:ext cx="1234440" cy="988060"/>
          </a:xfrm>
          <a:prstGeom prst="line">
            <a:avLst/>
          </a:prstGeom>
          <a:ln w="19050">
            <a:solidFill>
              <a:srgbClr val="4F8BEF"/>
            </a:solidFill>
            <a:tailEnd type="triangle"/>
          </a:ln>
        </p:spPr>
        <p:style>
          <a:lnRef idx="1">
            <a:schemeClr val="accent1"/>
          </a:lnRef>
          <a:fillRef idx="0">
            <a:schemeClr val="accent1"/>
          </a:fillRef>
          <a:effectRef idx="0">
            <a:schemeClr val="accent1"/>
          </a:effectRef>
          <a:fontRef idx="minor">
            <a:schemeClr val="tx1"/>
          </a:fontRef>
        </p:style>
      </p:cxnSp>
      <p:cxnSp>
        <p:nvCxnSpPr>
          <p:cNvPr id="20" name="Path B Direct Arrow">
            <a:extLst>
              <a:ext uri="{FF2B5EF4-FFF2-40B4-BE49-F238E27FC236}">
                <a16:creationId xmlns:a16="http://schemas.microsoft.com/office/drawing/2014/main" id="{76947109-DAB5-1AD9-E6BE-91C1D9300453}"/>
              </a:ext>
            </a:extLst>
          </p:cNvPr>
          <p:cNvCxnSpPr/>
          <p:nvPr/>
        </p:nvCxnSpPr>
        <p:spPr>
          <a:xfrm flipV="1">
            <a:off x="7388860" y="3568700"/>
            <a:ext cx="1234440" cy="1085850"/>
          </a:xfrm>
          <a:prstGeom prst="line">
            <a:avLst/>
          </a:prstGeom>
          <a:ln w="19050">
            <a:solidFill>
              <a:srgbClr val="008B8B"/>
            </a:solidFill>
            <a:tailEnd type="triangle"/>
          </a:ln>
        </p:spPr>
        <p:style>
          <a:lnRef idx="1">
            <a:schemeClr val="accent1"/>
          </a:lnRef>
          <a:fillRef idx="0">
            <a:schemeClr val="accent1"/>
          </a:fillRef>
          <a:effectRef idx="0">
            <a:schemeClr val="accent1"/>
          </a:effectRef>
          <a:fontRef idx="minor">
            <a:schemeClr val="tx1"/>
          </a:fontRef>
        </p:style>
      </p:cxnSp>
      <p:pic>
        <p:nvPicPr>
          <p:cNvPr id="33" name="Microsoft Foundry Logo" descr="Microsoft Foundry logo">
            <a:extLst>
              <a:ext uri="{FF2B5EF4-FFF2-40B4-BE49-F238E27FC236}">
                <a16:creationId xmlns:a16="http://schemas.microsoft.com/office/drawing/2014/main" id="{43D4787C-7CE1-4882-EAF0-465DE7DC05EE}"/>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9726930" y="2357120"/>
            <a:ext cx="713232" cy="71323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292608"/>
            <a:ext cx="2926080" cy="201168"/>
          </a:xfrm>
          <a:prstGeom prst="rect">
            <a:avLst/>
          </a:prstGeom>
          <a:noFill/>
          <a:ln/>
        </p:spPr>
        <p:txBody>
          <a:bodyPr wrap="square" lIns="254" tIns="254" rIns="254" bIns="254" rtlCol="0" anchor="ctr"/>
          <a:lstStyle/>
          <a:p>
            <a:pPr marL="0" indent="0">
              <a:buNone/>
            </a:pPr>
            <a:r>
              <a:rPr lang="en-US" sz="900" b="1" kern="0" spc="140" dirty="0">
                <a:solidFill>
                  <a:srgbClr val="0F8B8D"/>
                </a:solidFill>
                <a:latin typeface="Aptos" pitchFamily="34" charset="0"/>
                <a:ea typeface="Aptos" pitchFamily="34" charset="-122"/>
                <a:cs typeface="Aptos" pitchFamily="34" charset="-120"/>
              </a:rPr>
              <a:t> LAB 4 | COMPARE</a:t>
            </a:r>
            <a:endParaRPr lang="en-US" sz="900" dirty="0"/>
          </a:p>
        </p:txBody>
      </p:sp>
      <p:sp>
        <p:nvSpPr>
          <p:cNvPr id="3" name="Text 1"/>
          <p:cNvSpPr/>
          <p:nvPr/>
        </p:nvSpPr>
        <p:spPr>
          <a:xfrm>
            <a:off x="640080" y="548640"/>
            <a:ext cx="10835640" cy="502920"/>
          </a:xfrm>
          <a:prstGeom prst="rect">
            <a:avLst/>
          </a:prstGeom>
          <a:noFill/>
          <a:ln/>
        </p:spPr>
        <p:txBody>
          <a:bodyPr wrap="square" lIns="0" tIns="0" rIns="0" bIns="0" rtlCol="0" anchor="ctr">
            <a:normAutofit/>
          </a:bodyPr>
          <a:lstStyle/>
          <a:p>
            <a:pPr marL="0" indent="0">
              <a:buNone/>
            </a:pPr>
            <a:r>
              <a:rPr lang="en-US" sz="2700" b="1" dirty="0">
                <a:solidFill>
                  <a:srgbClr val="102A43"/>
                </a:solidFill>
                <a:latin typeface="Aptos Display" pitchFamily="34" charset="0"/>
                <a:ea typeface="Aptos Display" pitchFamily="34" charset="-122"/>
                <a:cs typeface="Aptos Display" pitchFamily="34" charset="-120"/>
              </a:rPr>
              <a:t>Use the same MCP tools in two agent experiences</a:t>
            </a:r>
            <a:endParaRPr lang="en-US" sz="2700" dirty="0"/>
          </a:p>
        </p:txBody>
      </p:sp>
      <p:sp>
        <p:nvSpPr>
          <p:cNvPr id="4" name="Text 2"/>
          <p:cNvSpPr/>
          <p:nvPr/>
        </p:nvSpPr>
        <p:spPr>
          <a:xfrm>
            <a:off x="658368" y="1078992"/>
            <a:ext cx="10698480" cy="310896"/>
          </a:xfrm>
          <a:prstGeom prst="rect">
            <a:avLst/>
          </a:prstGeom>
          <a:noFill/>
          <a:ln/>
        </p:spPr>
        <p:txBody>
          <a:bodyPr wrap="square" lIns="254" tIns="254" rIns="254" bIns="254" rtlCol="0" anchor="ctr">
            <a:normAutofit/>
          </a:bodyPr>
          <a:lstStyle/>
          <a:p>
            <a:pPr marL="0" indent="0">
              <a:buNone/>
            </a:pPr>
            <a:r>
              <a:rPr lang="en-US" sz="1250" dirty="0">
                <a:solidFill>
                  <a:srgbClr val="4F6474"/>
                </a:solidFill>
                <a:latin typeface="Aptos" pitchFamily="34" charset="0"/>
                <a:ea typeface="Aptos" pitchFamily="34" charset="-122"/>
                <a:cs typeface="Aptos" pitchFamily="34" charset="-120"/>
              </a:rPr>
              <a:t> The governed tool layer is reusable. The orchestration and maker experience can vary.</a:t>
            </a:r>
            <a:endParaRPr lang="en-US" sz="1250" dirty="0"/>
          </a:p>
        </p:txBody>
      </p:sp>
      <p:sp>
        <p:nvSpPr>
          <p:cNvPr id="6" name="Shape 4"/>
          <p:cNvSpPr/>
          <p:nvPr/>
        </p:nvSpPr>
        <p:spPr>
          <a:xfrm>
            <a:off x="658368" y="1755648"/>
            <a:ext cx="10972800" cy="658368"/>
          </a:xfrm>
          <a:prstGeom prst="rect">
            <a:avLst/>
          </a:prstGeom>
          <a:solidFill>
            <a:srgbClr val="102A43"/>
          </a:solidFill>
          <a:ln w="12700">
            <a:solidFill>
              <a:srgbClr val="102A43"/>
            </a:solidFill>
            <a:prstDash val="solid"/>
          </a:ln>
        </p:spPr>
        <p:txBody>
          <a:bodyPr/>
          <a:lstStyle/>
          <a:p>
            <a:endParaRPr lang="en-US"/>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72000" y="1938528"/>
            <a:ext cx="265176" cy="265176"/>
          </a:xfrm>
          <a:prstGeom prst="rect">
            <a:avLst/>
          </a:prstGeom>
        </p:spPr>
      </p:pic>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9600" y="1938528"/>
            <a:ext cx="265176" cy="265176"/>
          </a:xfrm>
          <a:prstGeom prst="rect">
            <a:avLst/>
          </a:prstGeom>
        </p:spPr>
      </p:pic>
      <p:sp>
        <p:nvSpPr>
          <p:cNvPr id="9" name="Text 5"/>
          <p:cNvSpPr/>
          <p:nvPr/>
        </p:nvSpPr>
        <p:spPr>
          <a:xfrm>
            <a:off x="914400" y="1947672"/>
            <a:ext cx="2011680" cy="219456"/>
          </a:xfrm>
          <a:prstGeom prst="rect">
            <a:avLst/>
          </a:prstGeom>
          <a:noFill/>
          <a:ln/>
        </p:spPr>
        <p:txBody>
          <a:bodyPr wrap="square" lIns="0" tIns="0" rIns="0" bIns="0" rtlCol="0" anchor="ctr"/>
          <a:lstStyle/>
          <a:p>
            <a:pPr marL="0" indent="0">
              <a:buNone/>
            </a:pPr>
            <a:r>
              <a:rPr lang="en-US" sz="1400" b="1" dirty="0">
                <a:solidFill>
                  <a:srgbClr val="FFFFFF"/>
                </a:solidFill>
                <a:latin typeface="Aptos Display" pitchFamily="34" charset="0"/>
                <a:ea typeface="Aptos Display" pitchFamily="34" charset="-122"/>
                <a:cs typeface="Aptos Display" pitchFamily="34" charset="-120"/>
              </a:rPr>
              <a:t>Comparison</a:t>
            </a:r>
            <a:endParaRPr lang="en-US" sz="1400" dirty="0"/>
          </a:p>
        </p:txBody>
      </p:sp>
      <p:sp>
        <p:nvSpPr>
          <p:cNvPr id="10" name="Text 6"/>
          <p:cNvSpPr/>
          <p:nvPr/>
        </p:nvSpPr>
        <p:spPr>
          <a:xfrm>
            <a:off x="4956048" y="1947672"/>
            <a:ext cx="2194560" cy="219456"/>
          </a:xfrm>
          <a:prstGeom prst="rect">
            <a:avLst/>
          </a:prstGeom>
          <a:noFill/>
          <a:ln/>
        </p:spPr>
        <p:txBody>
          <a:bodyPr wrap="square" lIns="0" tIns="0" rIns="0" bIns="0" rtlCol="0" anchor="ctr"/>
          <a:lstStyle/>
          <a:p>
            <a:pPr marL="0" indent="0">
              <a:buNone/>
            </a:pPr>
            <a:r>
              <a:rPr lang="en-US" sz="1300" b="1" dirty="0">
                <a:solidFill>
                  <a:srgbClr val="FFFFFF"/>
                </a:solidFill>
                <a:latin typeface="Aptos Display" pitchFamily="34" charset="0"/>
                <a:ea typeface="Aptos Display" pitchFamily="34" charset="-122"/>
                <a:cs typeface="Aptos Display" pitchFamily="34" charset="-120"/>
              </a:rPr>
              <a:t>Foundry code-first agent</a:t>
            </a:r>
            <a:endParaRPr lang="en-US" sz="1300" dirty="0"/>
          </a:p>
        </p:txBody>
      </p:sp>
      <p:sp>
        <p:nvSpPr>
          <p:cNvPr id="11" name="Text 7"/>
          <p:cNvSpPr/>
          <p:nvPr/>
        </p:nvSpPr>
        <p:spPr>
          <a:xfrm>
            <a:off x="8613648" y="1947672"/>
            <a:ext cx="2011680" cy="219456"/>
          </a:xfrm>
          <a:prstGeom prst="rect">
            <a:avLst/>
          </a:prstGeom>
          <a:noFill/>
          <a:ln/>
        </p:spPr>
        <p:txBody>
          <a:bodyPr wrap="square" lIns="0" tIns="0" rIns="0" bIns="0" rtlCol="0" anchor="ctr"/>
          <a:lstStyle/>
          <a:p>
            <a:pPr marL="0" indent="0">
              <a:buNone/>
            </a:pPr>
            <a:r>
              <a:rPr lang="en-US" sz="1300" b="1" dirty="0">
                <a:solidFill>
                  <a:srgbClr val="FFFFFF"/>
                </a:solidFill>
                <a:latin typeface="Aptos Display" pitchFamily="34" charset="0"/>
                <a:ea typeface="Aptos Display" pitchFamily="34" charset="-122"/>
                <a:cs typeface="Aptos Display" pitchFamily="34" charset="-120"/>
              </a:rPr>
              <a:t>Copilot Studio agent</a:t>
            </a:r>
            <a:endParaRPr lang="en-US" sz="1300" dirty="0"/>
          </a:p>
        </p:txBody>
      </p:sp>
      <p:sp>
        <p:nvSpPr>
          <p:cNvPr id="12" name="Shape 8"/>
          <p:cNvSpPr/>
          <p:nvPr/>
        </p:nvSpPr>
        <p:spPr>
          <a:xfrm>
            <a:off x="658368" y="2414016"/>
            <a:ext cx="10972800" cy="658368"/>
          </a:xfrm>
          <a:prstGeom prst="rect">
            <a:avLst/>
          </a:prstGeom>
          <a:solidFill>
            <a:srgbClr val="FFFFFF"/>
          </a:solidFill>
          <a:ln w="6350">
            <a:solidFill>
              <a:srgbClr val="DDE6EC"/>
            </a:solidFill>
            <a:prstDash val="solid"/>
          </a:ln>
        </p:spPr>
        <p:txBody>
          <a:bodyPr/>
          <a:lstStyle/>
          <a:p>
            <a:endParaRPr lang="en-US"/>
          </a:p>
        </p:txBody>
      </p:sp>
      <p:sp>
        <p:nvSpPr>
          <p:cNvPr id="13" name="Text 9"/>
          <p:cNvSpPr/>
          <p:nvPr/>
        </p:nvSpPr>
        <p:spPr>
          <a:xfrm>
            <a:off x="914400" y="2615184"/>
            <a:ext cx="2468880" cy="182880"/>
          </a:xfrm>
          <a:prstGeom prst="rect">
            <a:avLst/>
          </a:prstGeom>
          <a:noFill/>
          <a:ln/>
        </p:spPr>
        <p:txBody>
          <a:bodyPr wrap="square" lIns="0" tIns="0" rIns="0" bIns="0" rtlCol="0" anchor="ctr"/>
          <a:lstStyle/>
          <a:p>
            <a:pPr marL="0" indent="0">
              <a:buNone/>
            </a:pPr>
            <a:r>
              <a:rPr lang="en-US" sz="1000" b="1" dirty="0">
                <a:solidFill>
                  <a:srgbClr val="102A43"/>
                </a:solidFill>
                <a:latin typeface="Aptos" pitchFamily="34" charset="0"/>
                <a:ea typeface="Aptos" pitchFamily="34" charset="-122"/>
                <a:cs typeface="Aptos" pitchFamily="34" charset="-120"/>
              </a:rPr>
              <a:t>Primary audience</a:t>
            </a:r>
            <a:endParaRPr lang="en-US" sz="1000" dirty="0"/>
          </a:p>
        </p:txBody>
      </p:sp>
      <p:sp>
        <p:nvSpPr>
          <p:cNvPr id="14" name="Text 10"/>
          <p:cNvSpPr/>
          <p:nvPr/>
        </p:nvSpPr>
        <p:spPr>
          <a:xfrm>
            <a:off x="4526280" y="2615184"/>
            <a:ext cx="2697480" cy="182880"/>
          </a:xfrm>
          <a:prstGeom prst="rect">
            <a:avLst/>
          </a:prstGeom>
          <a:noFill/>
          <a:ln/>
        </p:spPr>
        <p:txBody>
          <a:bodyPr wrap="square" lIns="0" tIns="0" rIns="0" bIns="0" rtlCol="0" anchor="ctr"/>
          <a:lstStyle/>
          <a:p>
            <a:pPr marL="0" indent="0">
              <a:buNone/>
            </a:pPr>
            <a:r>
              <a:rPr lang="en-US" sz="1000" dirty="0">
                <a:solidFill>
                  <a:srgbClr val="4F6474"/>
                </a:solidFill>
                <a:latin typeface="Aptos" pitchFamily="34" charset="0"/>
                <a:ea typeface="Aptos" pitchFamily="34" charset="-122"/>
                <a:cs typeface="Aptos" pitchFamily="34" charset="-120"/>
              </a:rPr>
              <a:t>Developers</a:t>
            </a:r>
            <a:endParaRPr lang="en-US" sz="1000" dirty="0"/>
          </a:p>
        </p:txBody>
      </p:sp>
      <p:sp>
        <p:nvSpPr>
          <p:cNvPr id="15" name="Text 11"/>
          <p:cNvSpPr/>
          <p:nvPr/>
        </p:nvSpPr>
        <p:spPr>
          <a:xfrm>
            <a:off x="8183880" y="2615184"/>
            <a:ext cx="2697480" cy="182880"/>
          </a:xfrm>
          <a:prstGeom prst="rect">
            <a:avLst/>
          </a:prstGeom>
          <a:noFill/>
          <a:ln/>
        </p:spPr>
        <p:txBody>
          <a:bodyPr wrap="square" lIns="0" tIns="0" rIns="0" bIns="0" rtlCol="0" anchor="ctr"/>
          <a:lstStyle/>
          <a:p>
            <a:pPr marL="0" indent="0">
              <a:buNone/>
            </a:pPr>
            <a:r>
              <a:rPr lang="en-US" sz="1000" dirty="0">
                <a:solidFill>
                  <a:srgbClr val="4F6474"/>
                </a:solidFill>
                <a:latin typeface="Aptos" pitchFamily="34" charset="0"/>
                <a:ea typeface="Aptos" pitchFamily="34" charset="-122"/>
                <a:cs typeface="Aptos" pitchFamily="34" charset="-120"/>
              </a:rPr>
              <a:t>Makers and fusion teams</a:t>
            </a:r>
            <a:endParaRPr lang="en-US" sz="1000" dirty="0"/>
          </a:p>
        </p:txBody>
      </p:sp>
      <p:sp>
        <p:nvSpPr>
          <p:cNvPr id="16" name="Shape 12"/>
          <p:cNvSpPr/>
          <p:nvPr/>
        </p:nvSpPr>
        <p:spPr>
          <a:xfrm>
            <a:off x="658368" y="3072384"/>
            <a:ext cx="10972800" cy="658368"/>
          </a:xfrm>
          <a:prstGeom prst="rect">
            <a:avLst/>
          </a:prstGeom>
          <a:solidFill>
            <a:srgbClr val="EDF2F5"/>
          </a:solidFill>
          <a:ln w="6350">
            <a:solidFill>
              <a:srgbClr val="DDE6EC"/>
            </a:solidFill>
            <a:prstDash val="solid"/>
          </a:ln>
        </p:spPr>
        <p:txBody>
          <a:bodyPr/>
          <a:lstStyle/>
          <a:p>
            <a:endParaRPr lang="en-US"/>
          </a:p>
        </p:txBody>
      </p:sp>
      <p:sp>
        <p:nvSpPr>
          <p:cNvPr id="17" name="Text 13"/>
          <p:cNvSpPr/>
          <p:nvPr/>
        </p:nvSpPr>
        <p:spPr>
          <a:xfrm>
            <a:off x="914400" y="3273552"/>
            <a:ext cx="2468880" cy="182880"/>
          </a:xfrm>
          <a:prstGeom prst="rect">
            <a:avLst/>
          </a:prstGeom>
          <a:noFill/>
          <a:ln/>
        </p:spPr>
        <p:txBody>
          <a:bodyPr wrap="square" lIns="0" tIns="0" rIns="0" bIns="0" rtlCol="0" anchor="ctr"/>
          <a:lstStyle/>
          <a:p>
            <a:pPr marL="0" indent="0">
              <a:buNone/>
            </a:pPr>
            <a:r>
              <a:rPr lang="en-US" sz="1000" b="1" dirty="0">
                <a:solidFill>
                  <a:srgbClr val="102A43"/>
                </a:solidFill>
                <a:latin typeface="Aptos" pitchFamily="34" charset="0"/>
                <a:ea typeface="Aptos" pitchFamily="34" charset="-122"/>
                <a:cs typeface="Aptos" pitchFamily="34" charset="-120"/>
              </a:rPr>
              <a:t>Control surface</a:t>
            </a:r>
            <a:endParaRPr lang="en-US" sz="1000" dirty="0"/>
          </a:p>
        </p:txBody>
      </p:sp>
      <p:sp>
        <p:nvSpPr>
          <p:cNvPr id="18" name="Text 14"/>
          <p:cNvSpPr/>
          <p:nvPr/>
        </p:nvSpPr>
        <p:spPr>
          <a:xfrm>
            <a:off x="4526280" y="3273552"/>
            <a:ext cx="2697480" cy="182880"/>
          </a:xfrm>
          <a:prstGeom prst="rect">
            <a:avLst/>
          </a:prstGeom>
          <a:noFill/>
          <a:ln/>
        </p:spPr>
        <p:txBody>
          <a:bodyPr wrap="square" lIns="0" tIns="0" rIns="0" bIns="0" rtlCol="0" anchor="ctr"/>
          <a:lstStyle/>
          <a:p>
            <a:pPr marL="0" indent="0">
              <a:buNone/>
            </a:pPr>
            <a:r>
              <a:rPr lang="en-US" sz="1000" dirty="0">
                <a:solidFill>
                  <a:srgbClr val="4F6474"/>
                </a:solidFill>
                <a:latin typeface="Aptos" pitchFamily="34" charset="0"/>
                <a:ea typeface="Aptos" pitchFamily="34" charset="-122"/>
                <a:cs typeface="Aptos" pitchFamily="34" charset="-120"/>
              </a:rPr>
              <a:t>Code, config, SDKs</a:t>
            </a:r>
            <a:endParaRPr lang="en-US" sz="1000" dirty="0"/>
          </a:p>
        </p:txBody>
      </p:sp>
      <p:sp>
        <p:nvSpPr>
          <p:cNvPr id="19" name="Text 15"/>
          <p:cNvSpPr/>
          <p:nvPr/>
        </p:nvSpPr>
        <p:spPr>
          <a:xfrm>
            <a:off x="8183880" y="3273552"/>
            <a:ext cx="2697480" cy="182880"/>
          </a:xfrm>
          <a:prstGeom prst="rect">
            <a:avLst/>
          </a:prstGeom>
          <a:noFill/>
          <a:ln/>
        </p:spPr>
        <p:txBody>
          <a:bodyPr wrap="square" lIns="0" tIns="0" rIns="0" bIns="0" rtlCol="0" anchor="ctr"/>
          <a:lstStyle/>
          <a:p>
            <a:pPr marL="0" indent="0">
              <a:buNone/>
            </a:pPr>
            <a:r>
              <a:rPr lang="en-US" sz="1000" dirty="0">
                <a:solidFill>
                  <a:srgbClr val="4F6474"/>
                </a:solidFill>
                <a:latin typeface="Aptos" pitchFamily="34" charset="0"/>
                <a:ea typeface="Aptos" pitchFamily="34" charset="-122"/>
                <a:cs typeface="Aptos" pitchFamily="34" charset="-120"/>
              </a:rPr>
              <a:t>Visual authoring and connectors</a:t>
            </a:r>
            <a:endParaRPr lang="en-US" sz="1000" dirty="0"/>
          </a:p>
        </p:txBody>
      </p:sp>
      <p:sp>
        <p:nvSpPr>
          <p:cNvPr id="20" name="Shape 16"/>
          <p:cNvSpPr/>
          <p:nvPr/>
        </p:nvSpPr>
        <p:spPr>
          <a:xfrm>
            <a:off x="658368" y="3730752"/>
            <a:ext cx="10972800" cy="658368"/>
          </a:xfrm>
          <a:prstGeom prst="rect">
            <a:avLst/>
          </a:prstGeom>
          <a:solidFill>
            <a:srgbClr val="FFFFFF"/>
          </a:solidFill>
          <a:ln w="6350">
            <a:solidFill>
              <a:srgbClr val="DDE6EC"/>
            </a:solidFill>
            <a:prstDash val="solid"/>
          </a:ln>
        </p:spPr>
        <p:txBody>
          <a:bodyPr/>
          <a:lstStyle/>
          <a:p>
            <a:endParaRPr lang="en-US"/>
          </a:p>
        </p:txBody>
      </p:sp>
      <p:sp>
        <p:nvSpPr>
          <p:cNvPr id="21" name="Text 17"/>
          <p:cNvSpPr/>
          <p:nvPr/>
        </p:nvSpPr>
        <p:spPr>
          <a:xfrm>
            <a:off x="914400" y="3931920"/>
            <a:ext cx="2468880" cy="182880"/>
          </a:xfrm>
          <a:prstGeom prst="rect">
            <a:avLst/>
          </a:prstGeom>
          <a:noFill/>
          <a:ln/>
        </p:spPr>
        <p:txBody>
          <a:bodyPr wrap="square" lIns="0" tIns="0" rIns="0" bIns="0" rtlCol="0" anchor="ctr"/>
          <a:lstStyle/>
          <a:p>
            <a:pPr marL="0" indent="0">
              <a:buNone/>
            </a:pPr>
            <a:r>
              <a:rPr lang="en-US" sz="1000" b="1" dirty="0">
                <a:solidFill>
                  <a:srgbClr val="102A43"/>
                </a:solidFill>
                <a:latin typeface="Aptos" pitchFamily="34" charset="0"/>
                <a:ea typeface="Aptos" pitchFamily="34" charset="-122"/>
                <a:cs typeface="Aptos" pitchFamily="34" charset="-120"/>
              </a:rPr>
              <a:t>Deployment</a:t>
            </a:r>
            <a:endParaRPr lang="en-US" sz="1000" dirty="0"/>
          </a:p>
        </p:txBody>
      </p:sp>
      <p:sp>
        <p:nvSpPr>
          <p:cNvPr id="22" name="Text 18"/>
          <p:cNvSpPr/>
          <p:nvPr/>
        </p:nvSpPr>
        <p:spPr>
          <a:xfrm>
            <a:off x="4526280" y="3931920"/>
            <a:ext cx="2697480" cy="182880"/>
          </a:xfrm>
          <a:prstGeom prst="rect">
            <a:avLst/>
          </a:prstGeom>
          <a:noFill/>
          <a:ln/>
        </p:spPr>
        <p:txBody>
          <a:bodyPr wrap="square" lIns="0" tIns="0" rIns="0" bIns="0" rtlCol="0" anchor="ctr"/>
          <a:lstStyle/>
          <a:p>
            <a:pPr marL="0" indent="0">
              <a:buNone/>
            </a:pPr>
            <a:r>
              <a:rPr lang="en-US" sz="1000" dirty="0">
                <a:solidFill>
                  <a:srgbClr val="4F6474"/>
                </a:solidFill>
                <a:latin typeface="Aptos" pitchFamily="34" charset="0"/>
                <a:ea typeface="Aptos" pitchFamily="34" charset="-122"/>
                <a:cs typeface="Aptos" pitchFamily="34" charset="-120"/>
              </a:rPr>
              <a:t>Foundry Agent Service</a:t>
            </a:r>
            <a:endParaRPr lang="en-US" sz="1000" dirty="0"/>
          </a:p>
        </p:txBody>
      </p:sp>
      <p:sp>
        <p:nvSpPr>
          <p:cNvPr id="23" name="Text 19"/>
          <p:cNvSpPr/>
          <p:nvPr/>
        </p:nvSpPr>
        <p:spPr>
          <a:xfrm>
            <a:off x="8183880" y="3931920"/>
            <a:ext cx="2697480" cy="182880"/>
          </a:xfrm>
          <a:prstGeom prst="rect">
            <a:avLst/>
          </a:prstGeom>
          <a:noFill/>
          <a:ln/>
        </p:spPr>
        <p:txBody>
          <a:bodyPr wrap="square" lIns="0" tIns="0" rIns="0" bIns="0" rtlCol="0" anchor="ctr"/>
          <a:lstStyle/>
          <a:p>
            <a:pPr marL="0" indent="0">
              <a:buNone/>
            </a:pPr>
            <a:r>
              <a:rPr lang="en-US" sz="1000" dirty="0">
                <a:solidFill>
                  <a:srgbClr val="4F6474"/>
                </a:solidFill>
                <a:latin typeface="Aptos" pitchFamily="34" charset="0"/>
                <a:ea typeface="Aptos" pitchFamily="34" charset="-122"/>
                <a:cs typeface="Aptos" pitchFamily="34" charset="-120"/>
              </a:rPr>
              <a:t>Copilot Studio environment</a:t>
            </a:r>
            <a:endParaRPr lang="en-US" sz="1000" dirty="0"/>
          </a:p>
        </p:txBody>
      </p:sp>
      <p:sp>
        <p:nvSpPr>
          <p:cNvPr id="24" name="Shape 20"/>
          <p:cNvSpPr/>
          <p:nvPr/>
        </p:nvSpPr>
        <p:spPr>
          <a:xfrm>
            <a:off x="658368" y="4389120"/>
            <a:ext cx="10972800" cy="658368"/>
          </a:xfrm>
          <a:prstGeom prst="rect">
            <a:avLst/>
          </a:prstGeom>
          <a:solidFill>
            <a:srgbClr val="EDF2F5"/>
          </a:solidFill>
          <a:ln w="6350">
            <a:solidFill>
              <a:srgbClr val="DDE6EC"/>
            </a:solidFill>
            <a:prstDash val="solid"/>
          </a:ln>
        </p:spPr>
        <p:txBody>
          <a:bodyPr/>
          <a:lstStyle/>
          <a:p>
            <a:endParaRPr lang="en-US"/>
          </a:p>
        </p:txBody>
      </p:sp>
      <p:sp>
        <p:nvSpPr>
          <p:cNvPr id="25" name="Text 21"/>
          <p:cNvSpPr/>
          <p:nvPr/>
        </p:nvSpPr>
        <p:spPr>
          <a:xfrm>
            <a:off x="914400" y="4590288"/>
            <a:ext cx="2468880" cy="182880"/>
          </a:xfrm>
          <a:prstGeom prst="rect">
            <a:avLst/>
          </a:prstGeom>
          <a:noFill/>
          <a:ln/>
        </p:spPr>
        <p:txBody>
          <a:bodyPr wrap="square" lIns="0" tIns="0" rIns="0" bIns="0" rtlCol="0" anchor="ctr"/>
          <a:lstStyle/>
          <a:p>
            <a:pPr marL="0" indent="0">
              <a:buNone/>
            </a:pPr>
            <a:r>
              <a:rPr lang="en-US" sz="1000" b="1" dirty="0">
                <a:solidFill>
                  <a:srgbClr val="102A43"/>
                </a:solidFill>
                <a:latin typeface="Aptos" pitchFamily="34" charset="0"/>
                <a:ea typeface="Aptos" pitchFamily="34" charset="-122"/>
                <a:cs typeface="Aptos" pitchFamily="34" charset="-120"/>
              </a:rPr>
              <a:t>Approval UX</a:t>
            </a:r>
            <a:endParaRPr lang="en-US" sz="1000" dirty="0"/>
          </a:p>
        </p:txBody>
      </p:sp>
      <p:sp>
        <p:nvSpPr>
          <p:cNvPr id="26" name="Text 22"/>
          <p:cNvSpPr/>
          <p:nvPr/>
        </p:nvSpPr>
        <p:spPr>
          <a:xfrm>
            <a:off x="4526280" y="4590288"/>
            <a:ext cx="2697480" cy="182880"/>
          </a:xfrm>
          <a:prstGeom prst="rect">
            <a:avLst/>
          </a:prstGeom>
          <a:noFill/>
          <a:ln/>
        </p:spPr>
        <p:txBody>
          <a:bodyPr wrap="square" lIns="0" tIns="0" rIns="0" bIns="0" rtlCol="0" anchor="ctr"/>
          <a:lstStyle/>
          <a:p>
            <a:pPr marL="0" indent="0">
              <a:buNone/>
            </a:pPr>
            <a:r>
              <a:rPr lang="en-US" sz="1000" dirty="0">
                <a:solidFill>
                  <a:srgbClr val="4F6474"/>
                </a:solidFill>
                <a:latin typeface="Aptos" pitchFamily="34" charset="0"/>
                <a:ea typeface="Aptos" pitchFamily="34" charset="-122"/>
                <a:cs typeface="Aptos" pitchFamily="34" charset="-120"/>
              </a:rPr>
              <a:t>Application-defined</a:t>
            </a:r>
            <a:endParaRPr lang="en-US" sz="1000" dirty="0"/>
          </a:p>
        </p:txBody>
      </p:sp>
      <p:sp>
        <p:nvSpPr>
          <p:cNvPr id="27" name="Text 23"/>
          <p:cNvSpPr/>
          <p:nvPr/>
        </p:nvSpPr>
        <p:spPr>
          <a:xfrm>
            <a:off x="8183880" y="4590288"/>
            <a:ext cx="2697480" cy="182880"/>
          </a:xfrm>
          <a:prstGeom prst="rect">
            <a:avLst/>
          </a:prstGeom>
          <a:noFill/>
          <a:ln/>
        </p:spPr>
        <p:txBody>
          <a:bodyPr wrap="square" lIns="0" tIns="0" rIns="0" bIns="0" rtlCol="0" anchor="ctr"/>
          <a:lstStyle/>
          <a:p>
            <a:pPr marL="0" indent="0">
              <a:buNone/>
            </a:pPr>
            <a:r>
              <a:rPr lang="en-US" sz="1000" dirty="0">
                <a:solidFill>
                  <a:srgbClr val="4F6474"/>
                </a:solidFill>
                <a:latin typeface="Aptos" pitchFamily="34" charset="0"/>
                <a:ea typeface="Aptos" pitchFamily="34" charset="-122"/>
                <a:cs typeface="Aptos" pitchFamily="34" charset="-120"/>
              </a:rPr>
              <a:t>Platform and flow dependent</a:t>
            </a:r>
            <a:endParaRPr lang="en-US" sz="1000" dirty="0"/>
          </a:p>
        </p:txBody>
      </p:sp>
      <p:sp>
        <p:nvSpPr>
          <p:cNvPr id="28" name="Shape 24"/>
          <p:cNvSpPr/>
          <p:nvPr/>
        </p:nvSpPr>
        <p:spPr>
          <a:xfrm>
            <a:off x="658368" y="5047488"/>
            <a:ext cx="10972800" cy="658368"/>
          </a:xfrm>
          <a:prstGeom prst="rect">
            <a:avLst/>
          </a:prstGeom>
          <a:solidFill>
            <a:srgbClr val="FFFFFF"/>
          </a:solidFill>
          <a:ln w="6350">
            <a:solidFill>
              <a:srgbClr val="DDE6EC"/>
            </a:solidFill>
            <a:prstDash val="solid"/>
          </a:ln>
        </p:spPr>
        <p:txBody>
          <a:bodyPr/>
          <a:lstStyle/>
          <a:p>
            <a:endParaRPr lang="en-US"/>
          </a:p>
        </p:txBody>
      </p:sp>
      <p:sp>
        <p:nvSpPr>
          <p:cNvPr id="29" name="Text 25"/>
          <p:cNvSpPr/>
          <p:nvPr/>
        </p:nvSpPr>
        <p:spPr>
          <a:xfrm>
            <a:off x="914400" y="5248656"/>
            <a:ext cx="2468880" cy="182880"/>
          </a:xfrm>
          <a:prstGeom prst="rect">
            <a:avLst/>
          </a:prstGeom>
          <a:noFill/>
          <a:ln/>
        </p:spPr>
        <p:txBody>
          <a:bodyPr wrap="square" lIns="0" tIns="0" rIns="0" bIns="0" rtlCol="0" anchor="ctr"/>
          <a:lstStyle/>
          <a:p>
            <a:pPr marL="0" indent="0">
              <a:buNone/>
            </a:pPr>
            <a:r>
              <a:rPr lang="en-US" sz="1000" b="1" dirty="0">
                <a:solidFill>
                  <a:srgbClr val="102A43"/>
                </a:solidFill>
                <a:latin typeface="Aptos" pitchFamily="34" charset="0"/>
                <a:ea typeface="Aptos" pitchFamily="34" charset="-122"/>
                <a:cs typeface="Aptos" pitchFamily="34" charset="-120"/>
              </a:rPr>
              <a:t>Best fit</a:t>
            </a:r>
            <a:endParaRPr lang="en-US" sz="1000" dirty="0"/>
          </a:p>
        </p:txBody>
      </p:sp>
      <p:sp>
        <p:nvSpPr>
          <p:cNvPr id="30" name="Text 26"/>
          <p:cNvSpPr/>
          <p:nvPr/>
        </p:nvSpPr>
        <p:spPr>
          <a:xfrm>
            <a:off x="4526280" y="5248656"/>
            <a:ext cx="2697480" cy="182880"/>
          </a:xfrm>
          <a:prstGeom prst="rect">
            <a:avLst/>
          </a:prstGeom>
          <a:noFill/>
          <a:ln/>
        </p:spPr>
        <p:txBody>
          <a:bodyPr wrap="square" lIns="0" tIns="0" rIns="0" bIns="0" rtlCol="0" anchor="ctr"/>
          <a:lstStyle/>
          <a:p>
            <a:pPr marL="0" indent="0">
              <a:buNone/>
            </a:pPr>
            <a:r>
              <a:rPr lang="en-US" sz="1000" dirty="0">
                <a:solidFill>
                  <a:srgbClr val="4F6474"/>
                </a:solidFill>
                <a:latin typeface="Aptos" pitchFamily="34" charset="0"/>
                <a:ea typeface="Aptos" pitchFamily="34" charset="-122"/>
                <a:cs typeface="Aptos" pitchFamily="34" charset="-120"/>
              </a:rPr>
              <a:t>Custom runtime behavior</a:t>
            </a:r>
            <a:endParaRPr lang="en-US" sz="1000" dirty="0"/>
          </a:p>
        </p:txBody>
      </p:sp>
      <p:sp>
        <p:nvSpPr>
          <p:cNvPr id="31" name="Text 27"/>
          <p:cNvSpPr/>
          <p:nvPr/>
        </p:nvSpPr>
        <p:spPr>
          <a:xfrm>
            <a:off x="8183880" y="5248656"/>
            <a:ext cx="2697480" cy="182880"/>
          </a:xfrm>
          <a:prstGeom prst="rect">
            <a:avLst/>
          </a:prstGeom>
          <a:noFill/>
          <a:ln/>
        </p:spPr>
        <p:txBody>
          <a:bodyPr wrap="square" lIns="0" tIns="0" rIns="0" bIns="0" rtlCol="0" anchor="ctr"/>
          <a:lstStyle/>
          <a:p>
            <a:pPr marL="0" indent="0">
              <a:buNone/>
            </a:pPr>
            <a:r>
              <a:rPr lang="en-US" sz="1000" dirty="0">
                <a:solidFill>
                  <a:srgbClr val="4F6474"/>
                </a:solidFill>
                <a:latin typeface="Aptos" pitchFamily="34" charset="0"/>
                <a:ea typeface="Aptos" pitchFamily="34" charset="-122"/>
                <a:cs typeface="Aptos" pitchFamily="34" charset="-120"/>
              </a:rPr>
              <a:t>Rapid business workflow iteration</a:t>
            </a:r>
            <a:endParaRPr lang="en-US" sz="1000" dirty="0"/>
          </a:p>
        </p:txBody>
      </p:sp>
      <p:sp>
        <p:nvSpPr>
          <p:cNvPr id="32" name="Shape 28"/>
          <p:cNvSpPr/>
          <p:nvPr/>
        </p:nvSpPr>
        <p:spPr>
          <a:xfrm>
            <a:off x="3063240" y="5879592"/>
            <a:ext cx="6053328" cy="384048"/>
          </a:xfrm>
          <a:prstGeom prst="roundRect">
            <a:avLst/>
          </a:prstGeom>
          <a:solidFill>
            <a:srgbClr val="DFF7F2"/>
          </a:solidFill>
          <a:ln w="12700">
            <a:solidFill>
              <a:srgbClr val="0F8B8D"/>
            </a:solidFill>
            <a:prstDash val="solid"/>
          </a:ln>
        </p:spPr>
        <p:txBody>
          <a:bodyPr/>
          <a:lstStyle/>
          <a:p>
            <a:endParaRPr lang="en-US"/>
          </a:p>
        </p:txBody>
      </p:sp>
      <p:sp>
        <p:nvSpPr>
          <p:cNvPr id="33" name="Text 29"/>
          <p:cNvSpPr/>
          <p:nvPr/>
        </p:nvSpPr>
        <p:spPr>
          <a:xfrm>
            <a:off x="3291840" y="5980176"/>
            <a:ext cx="5596128" cy="164592"/>
          </a:xfrm>
          <a:prstGeom prst="rect">
            <a:avLst/>
          </a:prstGeom>
          <a:noFill/>
          <a:ln/>
        </p:spPr>
        <p:txBody>
          <a:bodyPr wrap="square" lIns="0" tIns="0" rIns="0" bIns="0" rtlCol="0" anchor="ctr"/>
          <a:lstStyle/>
          <a:p>
            <a:pPr marL="0" indent="0" algn="ctr">
              <a:buNone/>
            </a:pPr>
            <a:r>
              <a:rPr lang="en-US" sz="980" b="1" dirty="0">
                <a:solidFill>
                  <a:srgbClr val="102A43"/>
                </a:solidFill>
                <a:latin typeface="Aptos" pitchFamily="34" charset="0"/>
                <a:ea typeface="Aptos" pitchFamily="34" charset="-122"/>
                <a:cs typeface="Aptos" pitchFamily="34" charset="-120"/>
              </a:rPr>
              <a:t>Choose the agent experience by workflow and operating model, not by tool access.</a:t>
            </a:r>
            <a:endParaRPr lang="en-US" sz="980" dirty="0"/>
          </a:p>
        </p:txBody>
      </p:sp>
      <p:sp>
        <p:nvSpPr>
          <p:cNvPr id="34" name="Text 30"/>
          <p:cNvSpPr/>
          <p:nvPr/>
        </p:nvSpPr>
        <p:spPr>
          <a:xfrm>
            <a:off x="566928" y="6528816"/>
            <a:ext cx="4389120" cy="146304"/>
          </a:xfrm>
          <a:prstGeom prst="rect">
            <a:avLst/>
          </a:prstGeom>
          <a:noFill/>
          <a:ln/>
        </p:spPr>
        <p:txBody>
          <a:bodyPr wrap="square" lIns="0" tIns="0" rIns="0" bIns="0" rtlCol="0" anchor="ctr"/>
          <a:lstStyle/>
          <a:p>
            <a:pPr marL="0" indent="0">
              <a:buNone/>
            </a:pPr>
            <a:r>
              <a:rPr lang="en-US" sz="750" dirty="0">
                <a:solidFill>
                  <a:srgbClr val="748494"/>
                </a:solidFill>
                <a:latin typeface="Aptos" pitchFamily="34" charset="0"/>
                <a:ea typeface="Aptos" pitchFamily="34" charset="-122"/>
                <a:cs typeface="Aptos" pitchFamily="34" charset="-120"/>
              </a:rPr>
              <a:t>Lab 4 output: low-code path using the same tools</a:t>
            </a:r>
            <a:endParaRPr lang="en-US" sz="750" dirty="0"/>
          </a:p>
        </p:txBody>
      </p:sp>
      <p:sp>
        <p:nvSpPr>
          <p:cNvPr id="35" name="Slide Number Placeholder 0"/>
          <p:cNvSpPr>
            <a:spLocks noGrp="1"/>
          </p:cNvSpPr>
          <p:nvPr>
            <p:ph type="sldNum" sz="quarter" idx="4294967295"/>
          </p:nvPr>
        </p:nvSpPr>
        <p:spPr>
          <a:xfrm>
            <a:off x="11109960" y="6510528"/>
            <a:ext cx="548640"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748494"/>
                </a:solidFill>
                <a:latin typeface="Aptos"/>
                <a:ea typeface="Aptos"/>
                <a:cs typeface="Aptos"/>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6" name="Agent 365 Governance Plane">
            <a:extLst>
              <a:ext uri="{FF2B5EF4-FFF2-40B4-BE49-F238E27FC236}">
                <a16:creationId xmlns:a16="http://schemas.microsoft.com/office/drawing/2014/main" id="{10E64F1C-3642-248B-50DC-BD5AEFE18076}"/>
              </a:ext>
            </a:extLst>
          </p:cNvPr>
          <p:cNvSpPr/>
          <p:nvPr/>
        </p:nvSpPr>
        <p:spPr>
          <a:xfrm>
            <a:off x="736600" y="1600200"/>
            <a:ext cx="10718800" cy="3771900"/>
          </a:xfrm>
          <a:prstGeom prst="roundRect">
            <a:avLst/>
          </a:prstGeom>
          <a:noFill/>
          <a:ln w="22225" cap="flat" cmpd="sng" algn="ctr">
            <a:solidFill>
              <a:srgbClr val="7B5FA3"/>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640080" y="292608"/>
            <a:ext cx="2926080" cy="201168"/>
          </a:xfrm>
          <a:prstGeom prst="rect">
            <a:avLst/>
          </a:prstGeom>
          <a:noFill/>
          <a:ln/>
        </p:spPr>
        <p:txBody>
          <a:bodyPr wrap="square" lIns="254" tIns="254" rIns="254" bIns="254" rtlCol="0" anchor="ctr"/>
          <a:lstStyle/>
          <a:p>
            <a:pPr marL="0" indent="0">
              <a:buNone/>
            </a:pPr>
            <a:r>
              <a:rPr lang="en-US" sz="900" b="1" kern="0" spc="140" dirty="0">
                <a:solidFill>
                  <a:srgbClr val="0F8B8D"/>
                </a:solidFill>
                <a:latin typeface="Aptos" pitchFamily="34" charset="0"/>
                <a:ea typeface="Aptos" pitchFamily="34" charset="-122"/>
                <a:cs typeface="Aptos" pitchFamily="34" charset="-120"/>
              </a:rPr>
              <a:t> LAB 5 | GOVERN</a:t>
            </a:r>
            <a:endParaRPr lang="en-US" sz="900" dirty="0"/>
          </a:p>
        </p:txBody>
      </p:sp>
      <p:sp>
        <p:nvSpPr>
          <p:cNvPr id="3" name="Text 1"/>
          <p:cNvSpPr/>
          <p:nvPr/>
        </p:nvSpPr>
        <p:spPr>
          <a:xfrm>
            <a:off x="640080" y="548640"/>
            <a:ext cx="10835640" cy="502920"/>
          </a:xfrm>
          <a:prstGeom prst="rect">
            <a:avLst/>
          </a:prstGeom>
          <a:noFill/>
          <a:ln/>
        </p:spPr>
        <p:txBody>
          <a:bodyPr wrap="square" lIns="0" tIns="0" rIns="0" bIns="0" rtlCol="0" anchor="ctr">
            <a:normAutofit/>
          </a:bodyPr>
          <a:lstStyle/>
          <a:p>
            <a:pPr marL="0" indent="0">
              <a:buNone/>
            </a:pPr>
            <a:r>
              <a:rPr lang="en-US" sz="2700" b="1" dirty="0">
                <a:solidFill>
                  <a:srgbClr val="102A43"/>
                </a:solidFill>
                <a:latin typeface="Aptos Display" pitchFamily="34" charset="0"/>
                <a:ea typeface="Aptos Display" pitchFamily="34" charset="-122"/>
                <a:cs typeface="Aptos Display" pitchFamily="34" charset="-120"/>
              </a:rPr>
              <a:t>Layer controls across identity, APIM, agents, and operations</a:t>
            </a:r>
            <a:endParaRPr lang="en-US" sz="2700" dirty="0"/>
          </a:p>
        </p:txBody>
      </p:sp>
      <p:sp>
        <p:nvSpPr>
          <p:cNvPr id="4" name="Text 2"/>
          <p:cNvSpPr/>
          <p:nvPr/>
        </p:nvSpPr>
        <p:spPr>
          <a:xfrm>
            <a:off x="658368" y="1078992"/>
            <a:ext cx="10698480" cy="310896"/>
          </a:xfrm>
          <a:prstGeom prst="rect">
            <a:avLst/>
          </a:prstGeom>
          <a:noFill/>
          <a:ln/>
        </p:spPr>
        <p:txBody>
          <a:bodyPr wrap="square" lIns="254" tIns="254" rIns="254" bIns="254" rtlCol="0" anchor="ctr">
            <a:normAutofit/>
          </a:bodyPr>
          <a:lstStyle/>
          <a:p>
            <a:pPr marL="0" indent="0">
              <a:buNone/>
            </a:pPr>
            <a:r>
              <a:rPr lang="en-US" sz="1250">
                <a:solidFill>
                  <a:srgbClr val="4F6474"/>
                </a:solidFill>
                <a:latin typeface="Aptos" pitchFamily="34" charset="0"/>
                <a:ea typeface="Aptos" pitchFamily="34" charset="-122"/>
                <a:cs typeface="Aptos" pitchFamily="34" charset="-120"/>
              </a:rPr>
              <a:t>Use defense in depth. When enabled, </a:t>
            </a:r>
            <a:r>
              <a:rPr lang="en-US" sz="1250" b="1">
                <a:solidFill>
                  <a:srgbClr val="7B5FA3"/>
                </a:solidFill>
                <a:latin typeface="Aptos" pitchFamily="34" charset="0"/>
                <a:ea typeface="Aptos" pitchFamily="34" charset="-122"/>
                <a:cs typeface="Aptos" pitchFamily="34" charset="-120"/>
              </a:rPr>
              <a:t>Agent 365</a:t>
            </a:r>
            <a:r>
              <a:rPr lang="en-US" sz="1250">
                <a:solidFill>
                  <a:srgbClr val="4F6474"/>
                </a:solidFill>
                <a:latin typeface="Aptos" pitchFamily="34" charset="0"/>
                <a:ea typeface="Aptos" pitchFamily="34" charset="-122"/>
                <a:cs typeface="Aptos" pitchFamily="34" charset="-120"/>
              </a:rPr>
              <a:t> adds an enterprise governance plane around these runtime controls.</a:t>
            </a:r>
            <a:endParaRPr lang="en-US" sz="1250" dirty="0"/>
          </a:p>
        </p:txBody>
      </p:sp>
      <p:sp>
        <p:nvSpPr>
          <p:cNvPr id="5" name="Shape 3"/>
          <p:cNvSpPr/>
          <p:nvPr/>
        </p:nvSpPr>
        <p:spPr>
          <a:xfrm>
            <a:off x="883768" y="1851660"/>
            <a:ext cx="10424160" cy="713232"/>
          </a:xfrm>
          <a:prstGeom prst="roundRect">
            <a:avLst/>
          </a:prstGeom>
          <a:solidFill>
            <a:srgbClr val="4F8EF7"/>
          </a:solidFill>
          <a:ln w="12700">
            <a:solidFill>
              <a:srgbClr val="4F8EF7"/>
            </a:solidFill>
            <a:prstDash val="solid"/>
          </a:ln>
          <a:effectLst>
            <a:outerShdw blurRad="25400" dist="50800" dir="2700000" algn="bl" rotWithShape="0">
              <a:srgbClr val="102A43">
                <a:alpha val="14000"/>
              </a:srgbClr>
            </a:outerShdw>
          </a:effectLst>
        </p:spPr>
        <p:txBody>
          <a:bodyPr/>
          <a:lstStyle/>
          <a:p>
            <a:endParaRPr lang="en-US"/>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1512" y="2052828"/>
            <a:ext cx="292608" cy="292608"/>
          </a:xfrm>
          <a:prstGeom prst="rect">
            <a:avLst/>
          </a:prstGeom>
        </p:spPr>
      </p:pic>
      <p:sp>
        <p:nvSpPr>
          <p:cNvPr id="7" name="Text 4"/>
          <p:cNvSpPr/>
          <p:nvPr/>
        </p:nvSpPr>
        <p:spPr>
          <a:xfrm>
            <a:off x="1569568" y="1979676"/>
            <a:ext cx="2286000" cy="210312"/>
          </a:xfrm>
          <a:prstGeom prst="rect">
            <a:avLst/>
          </a:prstGeom>
          <a:noFill/>
          <a:ln/>
        </p:spPr>
        <p:txBody>
          <a:bodyPr wrap="square" lIns="0" tIns="0" rIns="0" bIns="0" rtlCol="0" anchor="ctr"/>
          <a:lstStyle/>
          <a:p>
            <a:pPr marL="0" indent="0">
              <a:buNone/>
            </a:pPr>
            <a:r>
              <a:rPr lang="en-US" sz="1350" b="1" dirty="0">
                <a:solidFill>
                  <a:srgbClr val="FFFFFF"/>
                </a:solidFill>
                <a:latin typeface="Aptos Display" pitchFamily="34" charset="0"/>
                <a:ea typeface="Aptos Display" pitchFamily="34" charset="-122"/>
                <a:cs typeface="Aptos Display" pitchFamily="34" charset="-120"/>
              </a:rPr>
              <a:t>Identity and access</a:t>
            </a:r>
            <a:endParaRPr lang="en-US" sz="1350" dirty="0"/>
          </a:p>
        </p:txBody>
      </p:sp>
      <p:sp>
        <p:nvSpPr>
          <p:cNvPr id="8" name="Text 5"/>
          <p:cNvSpPr/>
          <p:nvPr/>
        </p:nvSpPr>
        <p:spPr>
          <a:xfrm>
            <a:off x="3791560" y="2007108"/>
            <a:ext cx="7242048" cy="292608"/>
          </a:xfrm>
          <a:prstGeom prst="rect">
            <a:avLst/>
          </a:prstGeom>
          <a:noFill/>
          <a:ln/>
        </p:spPr>
        <p:txBody>
          <a:bodyPr wrap="square" lIns="0" tIns="0" rIns="0" bIns="0" rtlCol="0" anchor="ctr">
            <a:normAutofit/>
          </a:bodyPr>
          <a:lstStyle/>
          <a:p>
            <a:pPr marL="0" indent="0">
              <a:buNone/>
            </a:pPr>
            <a:r>
              <a:rPr lang="en-US" sz="930" dirty="0">
                <a:solidFill>
                  <a:srgbClr val="FFFFFF"/>
                </a:solidFill>
                <a:latin typeface="Aptos" pitchFamily="34" charset="0"/>
                <a:ea typeface="Aptos" pitchFamily="34" charset="-122"/>
                <a:cs typeface="Aptos" pitchFamily="34" charset="-120"/>
              </a:rPr>
              <a:t>Who can connect? Which tenant, application, user, or workload identity is trusted?</a:t>
            </a:r>
            <a:endParaRPr lang="en-US" sz="930" dirty="0"/>
          </a:p>
        </p:txBody>
      </p:sp>
      <p:sp>
        <p:nvSpPr>
          <p:cNvPr id="9" name="Shape 6"/>
          <p:cNvSpPr/>
          <p:nvPr/>
        </p:nvSpPr>
        <p:spPr>
          <a:xfrm>
            <a:off x="1432408" y="2720340"/>
            <a:ext cx="9326880" cy="713232"/>
          </a:xfrm>
          <a:prstGeom prst="roundRect">
            <a:avLst/>
          </a:prstGeom>
          <a:solidFill>
            <a:srgbClr val="0F8B8D"/>
          </a:solidFill>
          <a:ln w="12700">
            <a:solidFill>
              <a:srgbClr val="0F8B8D"/>
            </a:solidFill>
            <a:prstDash val="solid"/>
          </a:ln>
          <a:effectLst>
            <a:outerShdw blurRad="25400" dist="50800" dir="2700000" algn="bl" rotWithShape="0">
              <a:srgbClr val="102A43">
                <a:alpha val="14000"/>
              </a:srgbClr>
            </a:outerShdw>
          </a:effectLst>
        </p:spPr>
        <p:txBody>
          <a:bodyPr/>
          <a:lstStyle/>
          <a:p>
            <a:endParaRPr lang="en-US"/>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70152" y="2921508"/>
            <a:ext cx="292608" cy="292608"/>
          </a:xfrm>
          <a:prstGeom prst="rect">
            <a:avLst/>
          </a:prstGeom>
        </p:spPr>
      </p:pic>
      <p:sp>
        <p:nvSpPr>
          <p:cNvPr id="11" name="Text 7"/>
          <p:cNvSpPr/>
          <p:nvPr/>
        </p:nvSpPr>
        <p:spPr>
          <a:xfrm>
            <a:off x="2118208" y="2848356"/>
            <a:ext cx="2286000" cy="210312"/>
          </a:xfrm>
          <a:prstGeom prst="rect">
            <a:avLst/>
          </a:prstGeom>
          <a:noFill/>
          <a:ln/>
        </p:spPr>
        <p:txBody>
          <a:bodyPr wrap="square" lIns="0" tIns="0" rIns="0" bIns="0" rtlCol="0" anchor="ctr"/>
          <a:lstStyle/>
          <a:p>
            <a:pPr marL="0" indent="0">
              <a:buNone/>
            </a:pPr>
            <a:r>
              <a:rPr lang="en-US" sz="1350" b="1" dirty="0">
                <a:solidFill>
                  <a:srgbClr val="FFFFFF"/>
                </a:solidFill>
                <a:latin typeface="Aptos Display" pitchFamily="34" charset="0"/>
                <a:ea typeface="Aptos Display" pitchFamily="34" charset="-122"/>
                <a:cs typeface="Aptos Display" pitchFamily="34" charset="-120"/>
              </a:rPr>
              <a:t>APIM gateway policy</a:t>
            </a:r>
            <a:endParaRPr lang="en-US" sz="1350" dirty="0"/>
          </a:p>
        </p:txBody>
      </p:sp>
      <p:sp>
        <p:nvSpPr>
          <p:cNvPr id="12" name="Text 8"/>
          <p:cNvSpPr/>
          <p:nvPr/>
        </p:nvSpPr>
        <p:spPr>
          <a:xfrm>
            <a:off x="4340200" y="2875788"/>
            <a:ext cx="6144768" cy="292608"/>
          </a:xfrm>
          <a:prstGeom prst="rect">
            <a:avLst/>
          </a:prstGeom>
          <a:noFill/>
          <a:ln/>
        </p:spPr>
        <p:txBody>
          <a:bodyPr wrap="square" lIns="0" tIns="0" rIns="0" bIns="0" rtlCol="0" anchor="ctr">
            <a:normAutofit/>
          </a:bodyPr>
          <a:lstStyle/>
          <a:p>
            <a:pPr marL="0" indent="0">
              <a:buNone/>
            </a:pPr>
            <a:r>
              <a:rPr lang="en-US" sz="930" dirty="0">
                <a:solidFill>
                  <a:srgbClr val="FFFFFF"/>
                </a:solidFill>
                <a:latin typeface="Aptos" pitchFamily="34" charset="0"/>
                <a:ea typeface="Aptos" pitchFamily="34" charset="-122"/>
                <a:cs typeface="Aptos" pitchFamily="34" charset="-120"/>
              </a:rPr>
              <a:t>Validate tokens, limit rates, add correlation, protect backends, and shape audit evidence.</a:t>
            </a:r>
            <a:endParaRPr lang="en-US" sz="930" dirty="0"/>
          </a:p>
        </p:txBody>
      </p:sp>
      <p:sp>
        <p:nvSpPr>
          <p:cNvPr id="13" name="Shape 9"/>
          <p:cNvSpPr/>
          <p:nvPr/>
        </p:nvSpPr>
        <p:spPr>
          <a:xfrm>
            <a:off x="1981048" y="3589020"/>
            <a:ext cx="8229600" cy="713232"/>
          </a:xfrm>
          <a:prstGeom prst="roundRect">
            <a:avLst/>
          </a:prstGeom>
          <a:solidFill>
            <a:srgbClr val="775DA6"/>
          </a:solidFill>
          <a:ln w="12700">
            <a:solidFill>
              <a:srgbClr val="775DA6"/>
            </a:solidFill>
            <a:prstDash val="solid"/>
          </a:ln>
          <a:effectLst>
            <a:outerShdw blurRad="25400" dist="50800" dir="2700000" algn="bl" rotWithShape="0">
              <a:srgbClr val="102A43">
                <a:alpha val="14000"/>
              </a:srgbClr>
            </a:outerShdw>
          </a:effectLst>
        </p:spPr>
        <p:txBody>
          <a:bodyPr/>
          <a:lstStyle/>
          <a:p>
            <a:endParaRPr lang="en-US"/>
          </a:p>
        </p:txBody>
      </p:sp>
      <p:pic>
        <p:nvPicPr>
          <p:cNvPr id="1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218792" y="3790188"/>
            <a:ext cx="292608" cy="292608"/>
          </a:xfrm>
          <a:prstGeom prst="rect">
            <a:avLst/>
          </a:prstGeom>
        </p:spPr>
      </p:pic>
      <p:sp>
        <p:nvSpPr>
          <p:cNvPr id="15" name="Text 10"/>
          <p:cNvSpPr/>
          <p:nvPr/>
        </p:nvSpPr>
        <p:spPr>
          <a:xfrm>
            <a:off x="2666848" y="3717036"/>
            <a:ext cx="2286000" cy="210312"/>
          </a:xfrm>
          <a:prstGeom prst="rect">
            <a:avLst/>
          </a:prstGeom>
          <a:noFill/>
          <a:ln/>
        </p:spPr>
        <p:txBody>
          <a:bodyPr wrap="square" lIns="0" tIns="0" rIns="0" bIns="0" rtlCol="0" anchor="ctr"/>
          <a:lstStyle/>
          <a:p>
            <a:pPr marL="0" indent="0">
              <a:buNone/>
            </a:pPr>
            <a:r>
              <a:rPr lang="en-US" sz="1350" b="1" dirty="0">
                <a:solidFill>
                  <a:srgbClr val="FFFFFF"/>
                </a:solidFill>
                <a:latin typeface="Aptos Display" pitchFamily="34" charset="0"/>
                <a:ea typeface="Aptos Display" pitchFamily="34" charset="-122"/>
                <a:cs typeface="Aptos Display" pitchFamily="34" charset="-120"/>
              </a:rPr>
              <a:t>Agent tool policy</a:t>
            </a:r>
            <a:endParaRPr lang="en-US" sz="1350" dirty="0"/>
          </a:p>
        </p:txBody>
      </p:sp>
      <p:sp>
        <p:nvSpPr>
          <p:cNvPr id="16" name="Text 11"/>
          <p:cNvSpPr/>
          <p:nvPr/>
        </p:nvSpPr>
        <p:spPr>
          <a:xfrm>
            <a:off x="4888840" y="3744468"/>
            <a:ext cx="5047488" cy="292608"/>
          </a:xfrm>
          <a:prstGeom prst="rect">
            <a:avLst/>
          </a:prstGeom>
          <a:noFill/>
          <a:ln/>
        </p:spPr>
        <p:txBody>
          <a:bodyPr wrap="square" lIns="0" tIns="0" rIns="0" bIns="0" rtlCol="0" anchor="ctr">
            <a:normAutofit/>
          </a:bodyPr>
          <a:lstStyle/>
          <a:p>
            <a:pPr marL="0" indent="0">
              <a:buNone/>
            </a:pPr>
            <a:r>
              <a:rPr lang="en-US" sz="930" dirty="0">
                <a:solidFill>
                  <a:srgbClr val="FFFFFF"/>
                </a:solidFill>
                <a:latin typeface="Aptos" pitchFamily="34" charset="0"/>
                <a:ea typeface="Aptos" pitchFamily="34" charset="-122"/>
                <a:cs typeface="Aptos" pitchFamily="34" charset="-120"/>
              </a:rPr>
              <a:t>Allowlist tools, define approvals, and constrain the agent's action surface.</a:t>
            </a:r>
            <a:endParaRPr lang="en-US" sz="930" dirty="0"/>
          </a:p>
        </p:txBody>
      </p:sp>
      <p:sp>
        <p:nvSpPr>
          <p:cNvPr id="17" name="Shape 12"/>
          <p:cNvSpPr/>
          <p:nvPr/>
        </p:nvSpPr>
        <p:spPr>
          <a:xfrm>
            <a:off x="2529688" y="4457700"/>
            <a:ext cx="7132320" cy="713232"/>
          </a:xfrm>
          <a:prstGeom prst="roundRect">
            <a:avLst/>
          </a:prstGeom>
          <a:solidFill>
            <a:srgbClr val="FF7A59"/>
          </a:solidFill>
          <a:ln w="12700">
            <a:solidFill>
              <a:srgbClr val="FF7A59"/>
            </a:solidFill>
            <a:prstDash val="solid"/>
          </a:ln>
          <a:effectLst>
            <a:outerShdw blurRad="25400" dist="50800" dir="2700000" algn="bl" rotWithShape="0">
              <a:srgbClr val="102A43">
                <a:alpha val="14000"/>
              </a:srgbClr>
            </a:outerShdw>
          </a:effectLst>
        </p:spPr>
        <p:txBody>
          <a:bodyPr/>
          <a:lstStyle/>
          <a:p>
            <a:endParaRPr lang="en-US"/>
          </a:p>
        </p:txBody>
      </p:sp>
      <p:pic>
        <p:nvPicPr>
          <p:cNvPr id="1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767432" y="4658868"/>
            <a:ext cx="292608" cy="292608"/>
          </a:xfrm>
          <a:prstGeom prst="rect">
            <a:avLst/>
          </a:prstGeom>
        </p:spPr>
      </p:pic>
      <p:sp>
        <p:nvSpPr>
          <p:cNvPr id="19" name="Text 13"/>
          <p:cNvSpPr/>
          <p:nvPr/>
        </p:nvSpPr>
        <p:spPr>
          <a:xfrm>
            <a:off x="3215488" y="4585716"/>
            <a:ext cx="2286000" cy="210312"/>
          </a:xfrm>
          <a:prstGeom prst="rect">
            <a:avLst/>
          </a:prstGeom>
          <a:noFill/>
          <a:ln/>
        </p:spPr>
        <p:txBody>
          <a:bodyPr wrap="square" lIns="0" tIns="0" rIns="0" bIns="0" rtlCol="0" anchor="ctr"/>
          <a:lstStyle/>
          <a:p>
            <a:pPr marL="0" indent="0">
              <a:buNone/>
            </a:pPr>
            <a:r>
              <a:rPr lang="en-US" sz="1350" b="1">
                <a:solidFill>
                  <a:srgbClr val="102A43"/>
                </a:solidFill>
                <a:latin typeface="Aptos Display" pitchFamily="34" charset="0"/>
                <a:ea typeface="Aptos Display" pitchFamily="34" charset="-122"/>
                <a:cs typeface="Aptos Display" pitchFamily="34" charset="-120"/>
              </a:rPr>
              <a:t>Monitoring and response</a:t>
            </a:r>
            <a:endParaRPr lang="en-US" sz="1350" dirty="0"/>
          </a:p>
        </p:txBody>
      </p:sp>
      <p:sp>
        <p:nvSpPr>
          <p:cNvPr id="20" name="Text 14"/>
          <p:cNvSpPr/>
          <p:nvPr/>
        </p:nvSpPr>
        <p:spPr>
          <a:xfrm>
            <a:off x="5437480" y="4613148"/>
            <a:ext cx="3950208" cy="292608"/>
          </a:xfrm>
          <a:prstGeom prst="rect">
            <a:avLst/>
          </a:prstGeom>
          <a:noFill/>
          <a:ln/>
        </p:spPr>
        <p:txBody>
          <a:bodyPr wrap="square" lIns="0" tIns="0" rIns="0" bIns="0" rtlCol="0" anchor="ctr">
            <a:noAutofit/>
          </a:bodyPr>
          <a:lstStyle/>
          <a:p>
            <a:pPr marL="0" indent="0">
              <a:buNone/>
            </a:pPr>
            <a:r>
              <a:rPr lang="en-US" sz="930">
                <a:solidFill>
                  <a:srgbClr val="102A43"/>
                </a:solidFill>
                <a:latin typeface="Aptos" pitchFamily="34" charset="0"/>
                <a:ea typeface="Aptos" pitchFamily="34" charset="-122"/>
                <a:cs typeface="Aptos" pitchFamily="34" charset="-120"/>
              </a:rPr>
              <a:t>Observe latency, failures, usage, and material actions. Define escalation and support.</a:t>
            </a:r>
            <a:endParaRPr lang="en-US" sz="930" dirty="0"/>
          </a:p>
        </p:txBody>
      </p:sp>
      <p:sp>
        <p:nvSpPr>
          <p:cNvPr id="21" name="Shape 15"/>
          <p:cNvSpPr/>
          <p:nvPr/>
        </p:nvSpPr>
        <p:spPr>
          <a:xfrm>
            <a:off x="6098540" y="5372100"/>
            <a:ext cx="0" cy="254000"/>
          </a:xfrm>
          <a:prstGeom prst="line">
            <a:avLst/>
          </a:prstGeom>
          <a:noFill/>
          <a:ln w="19050">
            <a:solidFill>
              <a:srgbClr val="12304A"/>
            </a:solidFill>
            <a:prstDash val="solid"/>
            <a:headEnd type="none"/>
            <a:tailEnd type="arrow"/>
          </a:ln>
        </p:spPr>
        <p:txBody>
          <a:bodyPr/>
          <a:lstStyle/>
          <a:p>
            <a:endParaRPr lang="en-US"/>
          </a:p>
        </p:txBody>
      </p:sp>
      <p:sp>
        <p:nvSpPr>
          <p:cNvPr id="22" name="Shape 16"/>
          <p:cNvSpPr/>
          <p:nvPr/>
        </p:nvSpPr>
        <p:spPr>
          <a:xfrm>
            <a:off x="5193792" y="5626100"/>
            <a:ext cx="1810512" cy="558800"/>
          </a:xfrm>
          <a:prstGeom prst="ellipse">
            <a:avLst/>
          </a:prstGeom>
          <a:solidFill>
            <a:srgbClr val="102A43"/>
          </a:solidFill>
          <a:ln w="12700">
            <a:solidFill>
              <a:srgbClr val="102A43"/>
            </a:solidFill>
            <a:prstDash val="solid"/>
          </a:ln>
        </p:spPr>
        <p:txBody>
          <a:bodyPr/>
          <a:lstStyle/>
          <a:p>
            <a:endParaRPr lang="en-US"/>
          </a:p>
        </p:txBody>
      </p:sp>
      <p:sp>
        <p:nvSpPr>
          <p:cNvPr id="23" name="Text 17"/>
          <p:cNvSpPr/>
          <p:nvPr/>
        </p:nvSpPr>
        <p:spPr>
          <a:xfrm>
            <a:off x="5330952" y="5791200"/>
            <a:ext cx="1536192" cy="165100"/>
          </a:xfrm>
          <a:prstGeom prst="rect">
            <a:avLst/>
          </a:prstGeom>
          <a:noFill/>
          <a:ln/>
        </p:spPr>
        <p:txBody>
          <a:bodyPr wrap="square" lIns="0" tIns="0" rIns="0" bIns="0" rtlCol="0" anchor="ctr"/>
          <a:lstStyle/>
          <a:p>
            <a:pPr marL="0" indent="0" algn="ctr">
              <a:buNone/>
            </a:pPr>
            <a:r>
              <a:rPr lang="en-US" sz="1150" b="1" dirty="0">
                <a:solidFill>
                  <a:srgbClr val="5BD6C5"/>
                </a:solidFill>
                <a:latin typeface="Aptos Display" pitchFamily="34" charset="0"/>
                <a:ea typeface="Aptos Display" pitchFamily="34" charset="-122"/>
                <a:cs typeface="Aptos Display" pitchFamily="34" charset="-120"/>
              </a:rPr>
              <a:t>Governed action</a:t>
            </a:r>
            <a:endParaRPr lang="en-US" sz="1150" dirty="0"/>
          </a:p>
        </p:txBody>
      </p:sp>
      <p:sp>
        <p:nvSpPr>
          <p:cNvPr id="24" name="Text 18"/>
          <p:cNvSpPr/>
          <p:nvPr/>
        </p:nvSpPr>
        <p:spPr>
          <a:xfrm>
            <a:off x="566928" y="6528816"/>
            <a:ext cx="4389120" cy="146304"/>
          </a:xfrm>
          <a:prstGeom prst="rect">
            <a:avLst/>
          </a:prstGeom>
          <a:noFill/>
          <a:ln/>
        </p:spPr>
        <p:txBody>
          <a:bodyPr wrap="square" lIns="0" tIns="0" rIns="0" bIns="0" rtlCol="0" anchor="ctr"/>
          <a:lstStyle/>
          <a:p>
            <a:pPr marL="0" indent="0">
              <a:buNone/>
            </a:pPr>
            <a:r>
              <a:rPr lang="en-US" sz="750">
                <a:solidFill>
                  <a:srgbClr val="748494"/>
                </a:solidFill>
                <a:latin typeface="Aptos" pitchFamily="34" charset="0"/>
                <a:ea typeface="Aptos" pitchFamily="34" charset="-122"/>
                <a:cs typeface="Aptos" pitchFamily="34" charset="-120"/>
              </a:rPr>
              <a:t>Lab 5 output: governed sandbox design</a:t>
            </a:r>
            <a:endParaRPr lang="en-US" sz="750" dirty="0"/>
          </a:p>
        </p:txBody>
      </p:sp>
      <p:sp>
        <p:nvSpPr>
          <p:cNvPr id="25" name="Slide Number Placeholder 0"/>
          <p:cNvSpPr>
            <a:spLocks noGrp="1"/>
          </p:cNvSpPr>
          <p:nvPr>
            <p:ph type="sldNum" sz="quarter" idx="4294967295"/>
          </p:nvPr>
        </p:nvSpPr>
        <p:spPr>
          <a:xfrm>
            <a:off x="11109960" y="6510528"/>
            <a:ext cx="548640"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748494"/>
                </a:solidFill>
                <a:latin typeface="Aptos"/>
                <a:ea typeface="Aptos"/>
                <a:cs typeface="Aptos"/>
              </a:defRPr>
            </a:lvl1pPr>
          </a:lstStyle>
          <a:p>
            <a:pPr algn="r"/>
            <a:fld id="{F7021451-1387-4CA6-816F-3879F97B5CBC}" type="slidenum">
              <a:rPr lang="en-US" b="0"/>
              <a:t>15</a:t>
            </a:fld>
            <a:endParaRPr lang="en-US"/>
          </a:p>
        </p:txBody>
      </p:sp>
      <p:sp>
        <p:nvSpPr>
          <p:cNvPr id="27" name="Agent 365 Governance Label">
            <a:extLst>
              <a:ext uri="{FF2B5EF4-FFF2-40B4-BE49-F238E27FC236}">
                <a16:creationId xmlns:a16="http://schemas.microsoft.com/office/drawing/2014/main" id="{FEF5108F-78D9-4AE1-EB21-75FB3C72645D}"/>
              </a:ext>
            </a:extLst>
          </p:cNvPr>
          <p:cNvSpPr/>
          <p:nvPr/>
        </p:nvSpPr>
        <p:spPr>
          <a:xfrm>
            <a:off x="8255000" y="1460500"/>
            <a:ext cx="3048000" cy="279400"/>
          </a:xfrm>
          <a:prstGeom prst="roundRect">
            <a:avLst/>
          </a:prstGeom>
          <a:solidFill>
            <a:srgbClr val="7B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en-US" sz="850" b="1">
                <a:solidFill>
                  <a:srgbClr val="FFFFFF"/>
                </a:solidFill>
                <a:latin typeface="Aptos" panose="020B0004020202020204" pitchFamily="34" charset="0"/>
              </a:rPr>
              <a:t>AGENT 365 ENTERPRISE GOVERNANCE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40080" y="292608"/>
            <a:ext cx="2926080" cy="201168"/>
          </a:xfrm>
          <a:prstGeom prst="rect">
            <a:avLst/>
          </a:prstGeom>
          <a:noFill/>
          <a:ln/>
        </p:spPr>
        <p:txBody>
          <a:bodyPr wrap="square" lIns="254" tIns="254" rIns="254" bIns="254" rtlCol="0" anchor="ctr"/>
          <a:lstStyle/>
          <a:p>
            <a:pPr marL="0" indent="0">
              <a:buNone/>
            </a:pPr>
            <a:r>
              <a:rPr lang="en-US" sz="900" b="1" kern="0" spc="140">
                <a:solidFill>
                  <a:srgbClr val="0F8B8D"/>
                </a:solidFill>
                <a:latin typeface="Aptos" pitchFamily="34" charset="0"/>
                <a:ea typeface="Aptos" pitchFamily="34" charset="-122"/>
                <a:cs typeface="Aptos" pitchFamily="34" charset="-120"/>
              </a:rPr>
              <a:t>LAB 5 | IDENTITY EXTENSION</a:t>
            </a:r>
            <a:endParaRPr lang="en-US" sz="900" dirty="0"/>
          </a:p>
        </p:txBody>
      </p:sp>
      <p:sp>
        <p:nvSpPr>
          <p:cNvPr id="3" name="Text 1"/>
          <p:cNvSpPr/>
          <p:nvPr/>
        </p:nvSpPr>
        <p:spPr>
          <a:xfrm>
            <a:off x="640080" y="548640"/>
            <a:ext cx="10835640" cy="502920"/>
          </a:xfrm>
          <a:prstGeom prst="rect">
            <a:avLst/>
          </a:prstGeom>
          <a:noFill/>
          <a:ln/>
        </p:spPr>
        <p:txBody>
          <a:bodyPr wrap="square" lIns="0" tIns="0" rIns="0" bIns="0" rtlCol="0" anchor="ctr">
            <a:normAutofit/>
          </a:bodyPr>
          <a:lstStyle/>
          <a:p>
            <a:pPr marL="0" indent="0">
              <a:buNone/>
            </a:pPr>
            <a:r>
              <a:rPr lang="en-US" sz="2700" b="1">
                <a:solidFill>
                  <a:srgbClr val="102A43"/>
                </a:solidFill>
                <a:latin typeface="Aptos Display" pitchFamily="34" charset="0"/>
                <a:ea typeface="Aptos Display" pitchFamily="34" charset="-122"/>
                <a:cs typeface="Aptos Display" pitchFamily="34" charset="-120"/>
              </a:rPr>
              <a:t>Choose the Lab 5 access path</a:t>
            </a:r>
            <a:endParaRPr lang="en-US" sz="2700" dirty="0"/>
          </a:p>
        </p:txBody>
      </p:sp>
      <p:sp>
        <p:nvSpPr>
          <p:cNvPr id="4" name="Text 2"/>
          <p:cNvSpPr/>
          <p:nvPr/>
        </p:nvSpPr>
        <p:spPr>
          <a:xfrm>
            <a:off x="658368" y="1078992"/>
            <a:ext cx="10698480" cy="310896"/>
          </a:xfrm>
          <a:prstGeom prst="rect">
            <a:avLst/>
          </a:prstGeom>
          <a:noFill/>
          <a:ln/>
        </p:spPr>
        <p:txBody>
          <a:bodyPr wrap="square" lIns="254" tIns="254" rIns="254" bIns="254" rtlCol="0" anchor="ctr">
            <a:normAutofit/>
          </a:bodyPr>
          <a:lstStyle/>
          <a:p>
            <a:pPr marL="0" indent="0">
              <a:buNone/>
            </a:pPr>
            <a:r>
              <a:rPr lang="en-US" sz="1250">
                <a:solidFill>
                  <a:srgbClr val="4F6474"/>
                </a:solidFill>
                <a:latin typeface="Aptos" pitchFamily="34" charset="0"/>
                <a:ea typeface="Aptos" pitchFamily="34" charset="-122"/>
                <a:cs typeface="Aptos" pitchFamily="34" charset="-120"/>
              </a:rPr>
              <a:t>Start with the anonymous sandbox. The optional identity extension uses the same bearer token, supplied manually or acquired through OAuth + PKCE.</a:t>
            </a:r>
            <a:endParaRPr lang="en-US" sz="1250" dirty="0"/>
          </a:p>
        </p:txBody>
      </p:sp>
      <p:sp>
        <p:nvSpPr>
          <p:cNvPr id="5" name="Shape 3"/>
          <p:cNvSpPr/>
          <p:nvPr/>
        </p:nvSpPr>
        <p:spPr>
          <a:xfrm>
            <a:off x="658368" y="1828800"/>
            <a:ext cx="3429000" cy="3456432"/>
          </a:xfrm>
          <a:prstGeom prst="roundRect">
            <a:avLst>
              <a:gd name="adj" fmla="val 2133"/>
            </a:avLst>
          </a:prstGeom>
          <a:solidFill>
            <a:srgbClr val="FFFFFF"/>
          </a:solidFill>
          <a:ln w="12700">
            <a:solidFill>
              <a:srgbClr val="DDE6EC"/>
            </a:solidFill>
            <a:prstDash val="solid"/>
          </a:ln>
          <a:effectLst>
            <a:outerShdw blurRad="25400" dist="50800" dir="2700000" algn="bl" rotWithShape="0">
              <a:srgbClr val="102A43">
                <a:alpha val="14000"/>
              </a:srgbClr>
            </a:outerShdw>
          </a:effectLst>
        </p:spPr>
        <p:txBody>
          <a:bodyPr/>
          <a:lstStyle/>
          <a:p>
            <a:endParaRPr lang="en-US"/>
          </a:p>
        </p:txBody>
      </p:sp>
      <p:sp>
        <p:nvSpPr>
          <p:cNvPr id="6" name="Shape 4"/>
          <p:cNvSpPr/>
          <p:nvPr/>
        </p:nvSpPr>
        <p:spPr>
          <a:xfrm>
            <a:off x="658368" y="1828800"/>
            <a:ext cx="73152" cy="3456432"/>
          </a:xfrm>
          <a:prstGeom prst="rect">
            <a:avLst/>
          </a:prstGeom>
          <a:solidFill>
            <a:srgbClr val="F4B942"/>
          </a:solidFill>
          <a:ln w="12700">
            <a:solidFill>
              <a:srgbClr val="F4B942"/>
            </a:solidFill>
            <a:prstDash val="solid"/>
          </a:ln>
        </p:spPr>
        <p:txBody>
          <a:bodyPr/>
          <a:lstStyle/>
          <a:p>
            <a:endParaRPr lang="en-US"/>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9536" y="2011680"/>
            <a:ext cx="347472" cy="347472"/>
          </a:xfrm>
          <a:prstGeom prst="rect">
            <a:avLst/>
          </a:prstGeom>
        </p:spPr>
      </p:pic>
      <p:sp>
        <p:nvSpPr>
          <p:cNvPr id="8" name="Text 5"/>
          <p:cNvSpPr/>
          <p:nvPr/>
        </p:nvSpPr>
        <p:spPr>
          <a:xfrm>
            <a:off x="1353312" y="2002536"/>
            <a:ext cx="2532888" cy="292608"/>
          </a:xfrm>
          <a:prstGeom prst="rect">
            <a:avLst/>
          </a:prstGeom>
          <a:noFill/>
          <a:ln/>
        </p:spPr>
        <p:txBody>
          <a:bodyPr wrap="square" lIns="0" tIns="0" rIns="0" bIns="0" rtlCol="0" anchor="ctr">
            <a:normAutofit/>
          </a:bodyPr>
          <a:lstStyle/>
          <a:p>
            <a:pPr marL="0" indent="0">
              <a:buNone/>
            </a:pPr>
            <a:r>
              <a:rPr lang="en-US" sz="1500" b="1" dirty="0">
                <a:solidFill>
                  <a:srgbClr val="102A43"/>
                </a:solidFill>
                <a:latin typeface="Aptos Display" pitchFamily="34" charset="0"/>
                <a:ea typeface="Aptos Display" pitchFamily="34" charset="-122"/>
                <a:cs typeface="Aptos Display" pitchFamily="34" charset="-120"/>
              </a:rPr>
              <a:t>Anonymous sandbox</a:t>
            </a:r>
            <a:endParaRPr lang="en-US" sz="1500" dirty="0"/>
          </a:p>
        </p:txBody>
      </p:sp>
      <p:sp>
        <p:nvSpPr>
          <p:cNvPr id="9" name="Text 6"/>
          <p:cNvSpPr/>
          <p:nvPr/>
        </p:nvSpPr>
        <p:spPr>
          <a:xfrm>
            <a:off x="877824" y="2450592"/>
            <a:ext cx="2990088" cy="2651760"/>
          </a:xfrm>
          <a:prstGeom prst="rect">
            <a:avLst/>
          </a:prstGeom>
          <a:noFill/>
          <a:ln/>
        </p:spPr>
        <p:txBody>
          <a:bodyPr wrap="square" lIns="0" tIns="0" rIns="0" bIns="0" rtlCol="0" anchor="t">
            <a:normAutofit/>
          </a:bodyPr>
          <a:lstStyle/>
          <a:p>
            <a:pPr marL="0" indent="0">
              <a:lnSpc>
                <a:spcPct val="95000"/>
              </a:lnSpc>
              <a:buNone/>
            </a:pPr>
            <a:r>
              <a:rPr lang="en-US" sz="1050">
                <a:solidFill>
                  <a:srgbClr val="4F6474"/>
                </a:solidFill>
                <a:latin typeface="Aptos" pitchFamily="34" charset="0"/>
                <a:ea typeface="Aptos" pitchFamily="34" charset="-122"/>
                <a:cs typeface="Aptos" pitchFamily="34" charset="-120"/>
              </a:rPr>
              <a:t>No access token or user identity.</a:t>
            </a:r>
          </a:p>
          <a:p>
            <a:pPr marL="0" indent="0">
              <a:lnSpc>
                <a:spcPct val="95000"/>
              </a:lnSpc>
              <a:buNone/>
            </a:pPr>
            <a:endParaRPr lang="en-US" sz="1050">
              <a:solidFill>
                <a:srgbClr val="4F6474"/>
              </a:solidFill>
              <a:latin typeface="Aptos" pitchFamily="34" charset="0"/>
              <a:ea typeface="Aptos" pitchFamily="34" charset="-122"/>
              <a:cs typeface="Aptos" pitchFamily="34" charset="-120"/>
            </a:endParaRPr>
          </a:p>
          <a:p>
            <a:pPr marL="0" indent="0">
              <a:lnSpc>
                <a:spcPct val="95000"/>
              </a:lnSpc>
              <a:buNone/>
            </a:pPr>
            <a:r>
              <a:rPr lang="en-US" sz="1050">
                <a:solidFill>
                  <a:srgbClr val="4F6474"/>
                </a:solidFill>
                <a:latin typeface="Aptos" pitchFamily="34" charset="0"/>
                <a:ea typeface="Aptos" pitchFamily="34" charset="-122"/>
                <a:cs typeface="Aptos" pitchFamily="34" charset="-120"/>
              </a:rPr>
              <a:t>Fastest workshop path.</a:t>
            </a:r>
          </a:p>
          <a:p>
            <a:pPr marL="0" indent="0">
              <a:lnSpc>
                <a:spcPct val="95000"/>
              </a:lnSpc>
              <a:buNone/>
            </a:pPr>
            <a:endParaRPr lang="en-US" sz="1050">
              <a:solidFill>
                <a:srgbClr val="4F6474"/>
              </a:solidFill>
              <a:latin typeface="Aptos" pitchFamily="34" charset="0"/>
              <a:ea typeface="Aptos" pitchFamily="34" charset="-122"/>
              <a:cs typeface="Aptos" pitchFamily="34" charset="-120"/>
            </a:endParaRPr>
          </a:p>
          <a:p>
            <a:pPr marL="0" indent="0">
              <a:lnSpc>
                <a:spcPct val="95000"/>
              </a:lnSpc>
              <a:buNone/>
            </a:pPr>
            <a:r>
              <a:rPr lang="en-US" sz="1050">
                <a:solidFill>
                  <a:srgbClr val="4F6474"/>
                </a:solidFill>
                <a:latin typeface="Aptos" pitchFamily="34" charset="0"/>
                <a:ea typeface="Aptos" pitchFamily="34" charset="-122"/>
                <a:cs typeface="Aptos" pitchFamily="34" charset="-120"/>
              </a:rPr>
              <a:t>Use correlation, rate limiting, tracing, and a controlled network boundary.</a:t>
            </a:r>
          </a:p>
          <a:p>
            <a:pPr marL="0" indent="0">
              <a:lnSpc>
                <a:spcPct val="95000"/>
              </a:lnSpc>
              <a:buNone/>
            </a:pPr>
            <a:endParaRPr lang="en-US" sz="1050">
              <a:solidFill>
                <a:srgbClr val="4F6474"/>
              </a:solidFill>
              <a:latin typeface="Aptos" pitchFamily="34" charset="0"/>
              <a:ea typeface="Aptos" pitchFamily="34" charset="-122"/>
              <a:cs typeface="Aptos" pitchFamily="34" charset="-120"/>
            </a:endParaRPr>
          </a:p>
          <a:p>
            <a:pPr marL="0" indent="0">
              <a:lnSpc>
                <a:spcPct val="95000"/>
              </a:lnSpc>
              <a:buNone/>
            </a:pPr>
            <a:r>
              <a:rPr lang="en-US" sz="1050">
                <a:solidFill>
                  <a:srgbClr val="4F6474"/>
                </a:solidFill>
                <a:latin typeface="Aptos" pitchFamily="34" charset="0"/>
                <a:ea typeface="Aptos" pitchFamily="34" charset="-122"/>
                <a:cs typeface="Aptos" pitchFamily="34" charset="-120"/>
              </a:rPr>
              <a:t>Do not mistake policy controls for authentication.</a:t>
            </a:r>
            <a:endParaRPr lang="en-US" sz="1050" dirty="0"/>
          </a:p>
        </p:txBody>
      </p:sp>
      <p:sp>
        <p:nvSpPr>
          <p:cNvPr id="10" name="Shape 7"/>
          <p:cNvSpPr/>
          <p:nvPr/>
        </p:nvSpPr>
        <p:spPr>
          <a:xfrm>
            <a:off x="4389120" y="1828800"/>
            <a:ext cx="3429000" cy="3456432"/>
          </a:xfrm>
          <a:prstGeom prst="roundRect">
            <a:avLst>
              <a:gd name="adj" fmla="val 2133"/>
            </a:avLst>
          </a:prstGeom>
          <a:solidFill>
            <a:srgbClr val="FFFFFF"/>
          </a:solidFill>
          <a:ln w="12700">
            <a:solidFill>
              <a:srgbClr val="DDE6EC"/>
            </a:solidFill>
            <a:prstDash val="solid"/>
          </a:ln>
          <a:effectLst>
            <a:outerShdw blurRad="25400" dist="50800" dir="2700000" algn="bl" rotWithShape="0">
              <a:srgbClr val="102A43">
                <a:alpha val="14000"/>
              </a:srgbClr>
            </a:outerShdw>
          </a:effectLst>
        </p:spPr>
        <p:txBody>
          <a:bodyPr/>
          <a:lstStyle/>
          <a:p>
            <a:endParaRPr lang="en-US"/>
          </a:p>
        </p:txBody>
      </p:sp>
      <p:sp>
        <p:nvSpPr>
          <p:cNvPr id="11" name="Shape 8"/>
          <p:cNvSpPr/>
          <p:nvPr/>
        </p:nvSpPr>
        <p:spPr>
          <a:xfrm>
            <a:off x="4389120" y="1828800"/>
            <a:ext cx="73152" cy="3456432"/>
          </a:xfrm>
          <a:prstGeom prst="rect">
            <a:avLst/>
          </a:prstGeom>
          <a:solidFill>
            <a:srgbClr val="4F8EF7"/>
          </a:solidFill>
          <a:ln w="12700">
            <a:solidFill>
              <a:srgbClr val="4F8EF7"/>
            </a:solidFill>
            <a:prstDash val="solid"/>
          </a:ln>
        </p:spPr>
        <p:txBody>
          <a:bodyPr/>
          <a:lstStyle/>
          <a:p>
            <a:endParaRPr lang="en-US"/>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90288" y="2011680"/>
            <a:ext cx="347472" cy="347472"/>
          </a:xfrm>
          <a:prstGeom prst="rect">
            <a:avLst/>
          </a:prstGeom>
        </p:spPr>
      </p:pic>
      <p:sp>
        <p:nvSpPr>
          <p:cNvPr id="13" name="Text 9"/>
          <p:cNvSpPr/>
          <p:nvPr/>
        </p:nvSpPr>
        <p:spPr>
          <a:xfrm>
            <a:off x="5084064" y="2002536"/>
            <a:ext cx="2532888" cy="292608"/>
          </a:xfrm>
          <a:prstGeom prst="rect">
            <a:avLst/>
          </a:prstGeom>
          <a:noFill/>
          <a:ln/>
        </p:spPr>
        <p:txBody>
          <a:bodyPr wrap="square" lIns="0" tIns="0" rIns="0" bIns="0" rtlCol="0" anchor="ctr">
            <a:normAutofit/>
          </a:bodyPr>
          <a:lstStyle/>
          <a:p>
            <a:pPr marL="0" indent="0">
              <a:buNone/>
            </a:pPr>
            <a:r>
              <a:rPr lang="en-US" sz="1500" b="1">
                <a:solidFill>
                  <a:srgbClr val="102A43"/>
                </a:solidFill>
                <a:latin typeface="Aptos Display" pitchFamily="34" charset="0"/>
                <a:ea typeface="Aptos Display" pitchFamily="34" charset="-122"/>
                <a:cs typeface="Aptos Display" pitchFamily="34" charset="-120"/>
              </a:rPr>
              <a:t>Manual token injection</a:t>
            </a:r>
            <a:endParaRPr lang="en-US" sz="1500" dirty="0"/>
          </a:p>
        </p:txBody>
      </p:sp>
      <p:sp>
        <p:nvSpPr>
          <p:cNvPr id="14" name="Text 10"/>
          <p:cNvSpPr/>
          <p:nvPr/>
        </p:nvSpPr>
        <p:spPr>
          <a:xfrm>
            <a:off x="4608576" y="2450592"/>
            <a:ext cx="2990088" cy="2651760"/>
          </a:xfrm>
          <a:prstGeom prst="rect">
            <a:avLst/>
          </a:prstGeom>
          <a:noFill/>
          <a:ln/>
        </p:spPr>
        <p:txBody>
          <a:bodyPr wrap="square" lIns="0" tIns="0" rIns="0" bIns="0" rtlCol="0" anchor="t">
            <a:normAutofit/>
          </a:bodyPr>
          <a:lstStyle/>
          <a:p>
            <a:pPr marL="0" indent="0">
              <a:lnSpc>
                <a:spcPct val="95000"/>
              </a:lnSpc>
              <a:buNone/>
            </a:pPr>
            <a:r>
              <a:rPr lang="en-US" sz="1050">
                <a:solidFill>
                  <a:srgbClr val="4F6474"/>
                </a:solidFill>
                <a:latin typeface="Aptos" pitchFamily="34" charset="0"/>
                <a:ea typeface="Aptos" pitchFamily="34" charset="-122"/>
                <a:cs typeface="Aptos" pitchFamily="34" charset="-120"/>
              </a:rPr>
              <a:t>Acquire a delegated access token outside the MCP client.</a:t>
            </a:r>
          </a:p>
          <a:p>
            <a:pPr marL="0" indent="0">
              <a:lnSpc>
                <a:spcPct val="95000"/>
              </a:lnSpc>
              <a:buNone/>
            </a:pPr>
            <a:endParaRPr lang="en-US" sz="1050">
              <a:solidFill>
                <a:srgbClr val="4F6474"/>
              </a:solidFill>
              <a:latin typeface="Aptos" pitchFamily="34" charset="0"/>
              <a:ea typeface="Aptos" pitchFamily="34" charset="-122"/>
              <a:cs typeface="Aptos" pitchFamily="34" charset="-120"/>
            </a:endParaRPr>
          </a:p>
          <a:p>
            <a:pPr marL="0" indent="0">
              <a:lnSpc>
                <a:spcPct val="95000"/>
              </a:lnSpc>
              <a:buNone/>
            </a:pPr>
            <a:r>
              <a:rPr lang="en-US" sz="1050">
                <a:solidFill>
                  <a:srgbClr val="4F6474"/>
                </a:solidFill>
                <a:latin typeface="Aptos" pitchFamily="34" charset="0"/>
                <a:ea typeface="Aptos" pitchFamily="34" charset="-122"/>
                <a:cs typeface="Aptos" pitchFamily="34" charset="-120"/>
              </a:rPr>
              <a:t>Send Authorization: Bearer &lt;access-token&gt;.</a:t>
            </a:r>
          </a:p>
          <a:p>
            <a:pPr marL="0" indent="0">
              <a:lnSpc>
                <a:spcPct val="95000"/>
              </a:lnSpc>
              <a:buNone/>
            </a:pPr>
            <a:endParaRPr lang="en-US" sz="1050">
              <a:solidFill>
                <a:srgbClr val="4F6474"/>
              </a:solidFill>
              <a:latin typeface="Aptos" pitchFamily="34" charset="0"/>
              <a:ea typeface="Aptos" pitchFamily="34" charset="-122"/>
              <a:cs typeface="Aptos" pitchFamily="34" charset="-120"/>
            </a:endParaRPr>
          </a:p>
          <a:p>
            <a:pPr marL="0" indent="0">
              <a:lnSpc>
                <a:spcPct val="95000"/>
              </a:lnSpc>
              <a:buNone/>
            </a:pPr>
            <a:r>
              <a:rPr lang="en-US" sz="1050">
                <a:solidFill>
                  <a:srgbClr val="4F6474"/>
                </a:solidFill>
                <a:latin typeface="Aptos" pitchFamily="34" charset="0"/>
                <a:ea typeface="Aptos" pitchFamily="34" charset="-122"/>
                <a:cs typeface="Aptos" pitchFamily="34" charset="-120"/>
              </a:rPr>
              <a:t>Useful for one-time validation, not a production sign-in experience.</a:t>
            </a:r>
            <a:endParaRPr lang="en-US" sz="1050" dirty="0"/>
          </a:p>
        </p:txBody>
      </p:sp>
      <p:sp>
        <p:nvSpPr>
          <p:cNvPr id="15" name="Shape 11"/>
          <p:cNvSpPr/>
          <p:nvPr/>
        </p:nvSpPr>
        <p:spPr>
          <a:xfrm>
            <a:off x="8119872" y="1828800"/>
            <a:ext cx="3429000" cy="3456432"/>
          </a:xfrm>
          <a:prstGeom prst="roundRect">
            <a:avLst>
              <a:gd name="adj" fmla="val 2133"/>
            </a:avLst>
          </a:prstGeom>
          <a:solidFill>
            <a:srgbClr val="FFFFFF"/>
          </a:solidFill>
          <a:ln w="12700">
            <a:solidFill>
              <a:srgbClr val="DDE6EC"/>
            </a:solidFill>
            <a:prstDash val="solid"/>
          </a:ln>
          <a:effectLst>
            <a:outerShdw blurRad="25400" dist="50800" dir="2700000" algn="bl" rotWithShape="0">
              <a:srgbClr val="102A43">
                <a:alpha val="14000"/>
              </a:srgbClr>
            </a:outerShdw>
          </a:effectLst>
        </p:spPr>
        <p:txBody>
          <a:bodyPr/>
          <a:lstStyle/>
          <a:p>
            <a:endParaRPr lang="en-US"/>
          </a:p>
        </p:txBody>
      </p:sp>
      <p:sp>
        <p:nvSpPr>
          <p:cNvPr id="16" name="Shape 12"/>
          <p:cNvSpPr/>
          <p:nvPr/>
        </p:nvSpPr>
        <p:spPr>
          <a:xfrm>
            <a:off x="8119872" y="1828800"/>
            <a:ext cx="73152" cy="3456432"/>
          </a:xfrm>
          <a:prstGeom prst="rect">
            <a:avLst/>
          </a:prstGeom>
          <a:solidFill>
            <a:srgbClr val="775DA6"/>
          </a:solidFill>
          <a:ln w="12700">
            <a:solidFill>
              <a:srgbClr val="775DA6"/>
            </a:solidFill>
            <a:prstDash val="solid"/>
          </a:ln>
        </p:spPr>
        <p:txBody>
          <a:bodyPr/>
          <a:lstStyle/>
          <a:p>
            <a:endParaRPr lang="en-US"/>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21040" y="2011680"/>
            <a:ext cx="347472" cy="347472"/>
          </a:xfrm>
          <a:prstGeom prst="rect">
            <a:avLst/>
          </a:prstGeom>
        </p:spPr>
      </p:pic>
      <p:sp>
        <p:nvSpPr>
          <p:cNvPr id="18" name="Text 13"/>
          <p:cNvSpPr/>
          <p:nvPr/>
        </p:nvSpPr>
        <p:spPr>
          <a:xfrm>
            <a:off x="8814816" y="2002536"/>
            <a:ext cx="2532888" cy="292608"/>
          </a:xfrm>
          <a:prstGeom prst="rect">
            <a:avLst/>
          </a:prstGeom>
          <a:noFill/>
          <a:ln/>
        </p:spPr>
        <p:txBody>
          <a:bodyPr wrap="square" lIns="0" tIns="0" rIns="0" bIns="0" rtlCol="0" anchor="ctr">
            <a:normAutofit/>
          </a:bodyPr>
          <a:lstStyle/>
          <a:p>
            <a:pPr marL="0" indent="0">
              <a:buNone/>
            </a:pPr>
            <a:r>
              <a:rPr lang="en-US" sz="1500" b="1">
                <a:solidFill>
                  <a:srgbClr val="102A43"/>
                </a:solidFill>
                <a:latin typeface="Aptos Display" pitchFamily="34" charset="0"/>
                <a:ea typeface="Aptos Display" pitchFamily="34" charset="-122"/>
                <a:cs typeface="Aptos Display" pitchFamily="34" charset="-120"/>
              </a:rPr>
              <a:t>Client-managed OAuth</a:t>
            </a:r>
            <a:endParaRPr lang="en-US" sz="1500" dirty="0"/>
          </a:p>
        </p:txBody>
      </p:sp>
      <p:sp>
        <p:nvSpPr>
          <p:cNvPr id="19" name="Text 14"/>
          <p:cNvSpPr/>
          <p:nvPr/>
        </p:nvSpPr>
        <p:spPr>
          <a:xfrm>
            <a:off x="8339328" y="2450592"/>
            <a:ext cx="2990088" cy="2651760"/>
          </a:xfrm>
          <a:prstGeom prst="rect">
            <a:avLst/>
          </a:prstGeom>
          <a:noFill/>
          <a:ln/>
        </p:spPr>
        <p:txBody>
          <a:bodyPr wrap="square" lIns="0" tIns="0" rIns="0" bIns="0" rtlCol="0" anchor="t">
            <a:normAutofit/>
          </a:bodyPr>
          <a:lstStyle/>
          <a:p>
            <a:pPr marL="0" indent="0">
              <a:lnSpc>
                <a:spcPct val="95000"/>
              </a:lnSpc>
              <a:buNone/>
            </a:pPr>
            <a:r>
              <a:rPr lang="en-US" sz="1050">
                <a:solidFill>
                  <a:srgbClr val="4F6474"/>
                </a:solidFill>
                <a:latin typeface="Aptos" pitchFamily="34" charset="0"/>
                <a:ea typeface="Aptos" pitchFamily="34" charset="-122"/>
                <a:cs typeface="Aptos" pitchFamily="34" charset="-120"/>
              </a:rPr>
              <a:t>Discover the protected resource and authorization server.</a:t>
            </a:r>
          </a:p>
          <a:p>
            <a:pPr marL="0" indent="0">
              <a:lnSpc>
                <a:spcPct val="95000"/>
              </a:lnSpc>
              <a:buNone/>
            </a:pPr>
            <a:endParaRPr lang="en-US" sz="1050">
              <a:solidFill>
                <a:srgbClr val="4F6474"/>
              </a:solidFill>
              <a:latin typeface="Aptos" pitchFamily="34" charset="0"/>
              <a:ea typeface="Aptos" pitchFamily="34" charset="-122"/>
              <a:cs typeface="Aptos" pitchFamily="34" charset="-120"/>
            </a:endParaRPr>
          </a:p>
          <a:p>
            <a:pPr marL="0" indent="0">
              <a:lnSpc>
                <a:spcPct val="95000"/>
              </a:lnSpc>
              <a:buNone/>
            </a:pPr>
            <a:r>
              <a:rPr lang="en-US" sz="1050">
                <a:solidFill>
                  <a:srgbClr val="4F6474"/>
                </a:solidFill>
                <a:latin typeface="Aptos" pitchFamily="34" charset="0"/>
                <a:ea typeface="Aptos" pitchFamily="34" charset="-122"/>
                <a:cs typeface="Aptos" pitchFamily="34" charset="-120"/>
              </a:rPr>
              <a:t>Run interactive sign-in and consent with Authorization Code + PKCE.</a:t>
            </a:r>
          </a:p>
          <a:p>
            <a:pPr marL="0" indent="0">
              <a:lnSpc>
                <a:spcPct val="95000"/>
              </a:lnSpc>
              <a:buNone/>
            </a:pPr>
            <a:endParaRPr lang="en-US" sz="1050">
              <a:solidFill>
                <a:srgbClr val="4F6474"/>
              </a:solidFill>
              <a:latin typeface="Aptos" pitchFamily="34" charset="0"/>
              <a:ea typeface="Aptos" pitchFamily="34" charset="-122"/>
              <a:cs typeface="Aptos" pitchFamily="34" charset="-120"/>
            </a:endParaRPr>
          </a:p>
          <a:p>
            <a:pPr marL="0" indent="0">
              <a:lnSpc>
                <a:spcPct val="95000"/>
              </a:lnSpc>
              <a:buNone/>
            </a:pPr>
            <a:r>
              <a:rPr lang="en-US" sz="1050">
                <a:solidFill>
                  <a:srgbClr val="4F6474"/>
                </a:solidFill>
                <a:latin typeface="Aptos" pitchFamily="34" charset="0"/>
                <a:ea typeface="Aptos" pitchFamily="34" charset="-122"/>
                <a:cs typeface="Aptos" pitchFamily="34" charset="-120"/>
              </a:rPr>
              <a:t>Cache and refresh tokens in the client.</a:t>
            </a:r>
            <a:endParaRPr lang="en-US" sz="1050" dirty="0"/>
          </a:p>
        </p:txBody>
      </p:sp>
      <p:sp>
        <p:nvSpPr>
          <p:cNvPr id="20" name="Shape 15"/>
          <p:cNvSpPr/>
          <p:nvPr/>
        </p:nvSpPr>
        <p:spPr>
          <a:xfrm>
            <a:off x="1965960" y="5468112"/>
            <a:ext cx="8275320" cy="448056"/>
          </a:xfrm>
          <a:prstGeom prst="roundRect">
            <a:avLst/>
          </a:prstGeom>
          <a:solidFill>
            <a:srgbClr val="FFE9E3"/>
          </a:solidFill>
          <a:ln w="12700">
            <a:solidFill>
              <a:srgbClr val="FF7A59"/>
            </a:solidFill>
            <a:prstDash val="solid"/>
          </a:ln>
        </p:spPr>
        <p:txBody>
          <a:bodyPr/>
          <a:lstStyle/>
          <a:p>
            <a:endParaRPr lang="en-US"/>
          </a:p>
        </p:txBody>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176272" y="5577840"/>
            <a:ext cx="219456" cy="219456"/>
          </a:xfrm>
          <a:prstGeom prst="rect">
            <a:avLst/>
          </a:prstGeom>
        </p:spPr>
      </p:pic>
      <p:sp>
        <p:nvSpPr>
          <p:cNvPr id="22" name="Text 16"/>
          <p:cNvSpPr/>
          <p:nvPr/>
        </p:nvSpPr>
        <p:spPr>
          <a:xfrm>
            <a:off x="2560320" y="5586984"/>
            <a:ext cx="7370064" cy="164592"/>
          </a:xfrm>
          <a:prstGeom prst="rect">
            <a:avLst/>
          </a:prstGeom>
          <a:noFill/>
          <a:ln/>
        </p:spPr>
        <p:txBody>
          <a:bodyPr wrap="square" lIns="0" tIns="0" rIns="0" bIns="0" rtlCol="0" anchor="ctr">
            <a:normAutofit/>
          </a:bodyPr>
          <a:lstStyle/>
          <a:p>
            <a:pPr marL="0" indent="0">
              <a:buNone/>
            </a:pPr>
            <a:r>
              <a:rPr lang="en-US" sz="980" b="1">
                <a:solidFill>
                  <a:srgbClr val="102A43"/>
                </a:solidFill>
                <a:latin typeface="Aptos" pitchFamily="34" charset="0"/>
                <a:ea typeface="Aptos" pitchFamily="34" charset="-122"/>
                <a:cs typeface="Aptos" pitchFamily="34" charset="-120"/>
              </a:rPr>
              <a:t>Same bearer token reaches APIM. Only token acquisition, discovery, and lifecycle differ.</a:t>
            </a:r>
            <a:endParaRPr lang="en-US" sz="980" dirty="0"/>
          </a:p>
        </p:txBody>
      </p:sp>
      <p:sp>
        <p:nvSpPr>
          <p:cNvPr id="23" name="Text 17"/>
          <p:cNvSpPr/>
          <p:nvPr/>
        </p:nvSpPr>
        <p:spPr>
          <a:xfrm>
            <a:off x="566928" y="6528816"/>
            <a:ext cx="4389120" cy="146304"/>
          </a:xfrm>
          <a:prstGeom prst="rect">
            <a:avLst/>
          </a:prstGeom>
          <a:noFill/>
          <a:ln/>
        </p:spPr>
        <p:txBody>
          <a:bodyPr wrap="square" lIns="0" tIns="0" rIns="0" bIns="0" rtlCol="0" anchor="ctr"/>
          <a:lstStyle/>
          <a:p>
            <a:pPr marL="0" indent="0">
              <a:buNone/>
            </a:pPr>
            <a:r>
              <a:rPr lang="en-US" sz="750">
                <a:solidFill>
                  <a:srgbClr val="748494"/>
                </a:solidFill>
                <a:latin typeface="Aptos" pitchFamily="34" charset="0"/>
                <a:ea typeface="Aptos" pitchFamily="34" charset="-122"/>
                <a:cs typeface="Aptos" pitchFamily="34" charset="-120"/>
              </a:rPr>
              <a:t>Lab 5 optional extension: delegated Microsoft Entra OAuth</a:t>
            </a:r>
            <a:endParaRPr lang="en-US" sz="750" dirty="0"/>
          </a:p>
        </p:txBody>
      </p:sp>
      <p:sp>
        <p:nvSpPr>
          <p:cNvPr id="25" name="Slide Number Placeholder 0"/>
          <p:cNvSpPr>
            <a:spLocks noGrp="1"/>
          </p:cNvSpPr>
          <p:nvPr>
            <p:ph type="sldNum" sz="quarter" idx="4294967295"/>
          </p:nvPr>
        </p:nvSpPr>
        <p:spPr>
          <a:xfrm>
            <a:off x="11109960" y="6510528"/>
            <a:ext cx="548640"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748494"/>
                </a:solidFill>
                <a:latin typeface="Aptos"/>
                <a:ea typeface="Aptos"/>
                <a:cs typeface="Aptos"/>
              </a:defRPr>
            </a:lvl1pPr>
          </a:lstStyle>
          <a:p>
            <a:pPr algn="r"/>
            <a:fld id="{F7021451-1387-4CA6-816F-3879F97B5CBC}" type="slidenum">
              <a:rPr lang="en-US" b="0"/>
              <a:t>16</a:t>
            </a:fld>
            <a:endParaRPr lang="en-US"/>
          </a:p>
        </p:txBody>
      </p:sp>
      <p:sp>
        <p:nvSpPr>
          <p:cNvPr id="24" name="OAuth Path Tag 1">
            <a:extLst>
              <a:ext uri="{FF2B5EF4-FFF2-40B4-BE49-F238E27FC236}">
                <a16:creationId xmlns:a16="http://schemas.microsoft.com/office/drawing/2014/main" id="{C7B78730-4FDE-1D1C-57F2-3305EDDD9BEF}"/>
              </a:ext>
            </a:extLst>
          </p:cNvPr>
          <p:cNvSpPr/>
          <p:nvPr/>
        </p:nvSpPr>
        <p:spPr>
          <a:xfrm>
            <a:off x="877570" y="4800600"/>
            <a:ext cx="1333500" cy="228600"/>
          </a:xfrm>
          <a:prstGeom prst="roundRect">
            <a:avLst/>
          </a:prstGeom>
          <a:solidFill>
            <a:srgbClr val="F7B33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12700" rIns="38100" bIns="12700" rtlCol="0" anchor="ctr"/>
          <a:lstStyle/>
          <a:p>
            <a:pPr algn="ctr"/>
            <a:r>
              <a:rPr lang="en-US" sz="750" b="1">
                <a:solidFill>
                  <a:srgbClr val="FFFFFF"/>
                </a:solidFill>
                <a:latin typeface="Aptos" panose="020B0004020202020204" pitchFamily="34" charset="0"/>
              </a:rPr>
              <a:t>UNAUTHENTICATED</a:t>
            </a:r>
          </a:p>
        </p:txBody>
      </p:sp>
      <p:sp>
        <p:nvSpPr>
          <p:cNvPr id="26" name="OAuth Path Tag 2">
            <a:extLst>
              <a:ext uri="{FF2B5EF4-FFF2-40B4-BE49-F238E27FC236}">
                <a16:creationId xmlns:a16="http://schemas.microsoft.com/office/drawing/2014/main" id="{86006F59-85CC-BF77-14D8-C5DD4D4CE45D}"/>
              </a:ext>
            </a:extLst>
          </p:cNvPr>
          <p:cNvSpPr/>
          <p:nvPr/>
        </p:nvSpPr>
        <p:spPr>
          <a:xfrm>
            <a:off x="4608830" y="4800600"/>
            <a:ext cx="1117600" cy="228600"/>
          </a:xfrm>
          <a:prstGeom prst="roundRect">
            <a:avLst/>
          </a:prstGeom>
          <a:solidFill>
            <a:srgbClr val="4F8B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12700" rIns="38100" bIns="12700" rtlCol="0" anchor="ctr"/>
          <a:lstStyle/>
          <a:p>
            <a:pPr algn="ctr"/>
            <a:r>
              <a:rPr lang="en-US" sz="750" b="1">
                <a:solidFill>
                  <a:srgbClr val="FFFFFF"/>
                </a:solidFill>
                <a:latin typeface="Aptos" panose="020B0004020202020204" pitchFamily="34" charset="0"/>
              </a:rPr>
              <a:t>MANUAL TEST</a:t>
            </a:r>
          </a:p>
        </p:txBody>
      </p:sp>
      <p:sp>
        <p:nvSpPr>
          <p:cNvPr id="27" name="OAuth Path Tag 3">
            <a:extLst>
              <a:ext uri="{FF2B5EF4-FFF2-40B4-BE49-F238E27FC236}">
                <a16:creationId xmlns:a16="http://schemas.microsoft.com/office/drawing/2014/main" id="{1C4CBE42-02A0-ED14-0DC1-5D5FAACA7E1F}"/>
              </a:ext>
            </a:extLst>
          </p:cNvPr>
          <p:cNvSpPr/>
          <p:nvPr/>
        </p:nvSpPr>
        <p:spPr>
          <a:xfrm>
            <a:off x="8338820" y="4800600"/>
            <a:ext cx="1320800" cy="228600"/>
          </a:xfrm>
          <a:prstGeom prst="roundRect">
            <a:avLst/>
          </a:prstGeom>
          <a:solidFill>
            <a:srgbClr val="7B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12700" rIns="38100" bIns="12700" rtlCol="0" anchor="ctr"/>
          <a:lstStyle/>
          <a:p>
            <a:pPr algn="ctr"/>
            <a:r>
              <a:rPr lang="en-US" sz="750" b="1">
                <a:solidFill>
                  <a:srgbClr val="FFFFFF"/>
                </a:solidFill>
                <a:latin typeface="Aptos" panose="020B0004020202020204" pitchFamily="34" charset="0"/>
              </a:rPr>
              <a:t>CLIENT-MANAGED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40080" y="292608"/>
            <a:ext cx="2926080" cy="201168"/>
          </a:xfrm>
          <a:prstGeom prst="rect">
            <a:avLst/>
          </a:prstGeom>
          <a:noFill/>
          <a:ln/>
        </p:spPr>
        <p:txBody>
          <a:bodyPr wrap="square" lIns="254" tIns="254" rIns="254" bIns="254" rtlCol="0" anchor="ctr"/>
          <a:lstStyle/>
          <a:p>
            <a:pPr marL="0" indent="0">
              <a:buNone/>
            </a:pPr>
            <a:r>
              <a:rPr lang="en-US" sz="900" b="1" kern="0" spc="140">
                <a:solidFill>
                  <a:srgbClr val="0F8B8D"/>
                </a:solidFill>
                <a:latin typeface="Aptos" pitchFamily="34" charset="0"/>
                <a:ea typeface="Aptos" pitchFamily="34" charset="-122"/>
                <a:cs typeface="Aptos" pitchFamily="34" charset="-120"/>
              </a:rPr>
              <a:t>LAB 5 | MONITOR</a:t>
            </a:r>
            <a:endParaRPr lang="en-US" sz="900" dirty="0"/>
          </a:p>
        </p:txBody>
      </p:sp>
      <p:sp>
        <p:nvSpPr>
          <p:cNvPr id="3" name="Text 1"/>
          <p:cNvSpPr/>
          <p:nvPr/>
        </p:nvSpPr>
        <p:spPr>
          <a:xfrm>
            <a:off x="640080" y="548640"/>
            <a:ext cx="10835640" cy="502920"/>
          </a:xfrm>
          <a:prstGeom prst="rect">
            <a:avLst/>
          </a:prstGeom>
          <a:noFill/>
          <a:ln/>
        </p:spPr>
        <p:txBody>
          <a:bodyPr wrap="square" lIns="0" tIns="0" rIns="0" bIns="0" rtlCol="0" anchor="ctr">
            <a:normAutofit/>
          </a:bodyPr>
          <a:lstStyle/>
          <a:p>
            <a:pPr marL="0" indent="0">
              <a:buNone/>
            </a:pPr>
            <a:r>
              <a:rPr lang="en-US" sz="2700" b="1">
                <a:solidFill>
                  <a:srgbClr val="102A43"/>
                </a:solidFill>
                <a:latin typeface="Aptos Display" pitchFamily="34" charset="0"/>
                <a:ea typeface="Aptos Display" pitchFamily="34" charset="-122"/>
                <a:cs typeface="Aptos Display" pitchFamily="34" charset="-120"/>
              </a:rPr>
              <a:t>Verify Lab 5 correlation from APIM to the backend</a:t>
            </a:r>
            <a:endParaRPr lang="en-US" sz="2700" dirty="0"/>
          </a:p>
        </p:txBody>
      </p:sp>
      <p:sp>
        <p:nvSpPr>
          <p:cNvPr id="4" name="Text 2"/>
          <p:cNvSpPr/>
          <p:nvPr/>
        </p:nvSpPr>
        <p:spPr>
          <a:xfrm>
            <a:off x="658368" y="1078992"/>
            <a:ext cx="10698480" cy="310896"/>
          </a:xfrm>
          <a:prstGeom prst="rect">
            <a:avLst/>
          </a:prstGeom>
          <a:noFill/>
          <a:ln/>
        </p:spPr>
        <p:txBody>
          <a:bodyPr wrap="square" lIns="254" tIns="254" rIns="254" bIns="254" rtlCol="0" anchor="ctr">
            <a:normAutofit/>
          </a:bodyPr>
          <a:lstStyle/>
          <a:p>
            <a:pPr marL="0" indent="0">
              <a:buNone/>
            </a:pPr>
            <a:r>
              <a:rPr lang="en-US" sz="1250">
                <a:solidFill>
                  <a:srgbClr val="4F6474"/>
                </a:solidFill>
                <a:latin typeface="Aptos" pitchFamily="34" charset="0"/>
                <a:ea typeface="Aptos" pitchFamily="34" charset="-122"/>
                <a:cs typeface="Aptos" pitchFamily="34" charset="-120"/>
              </a:rPr>
              <a:t>Correlation identifies the request path; JWT identifies the caller. APIM creates or preserves x-correlation-id.</a:t>
            </a:r>
            <a:endParaRPr lang="en-US" sz="1250" dirty="0"/>
          </a:p>
        </p:txBody>
      </p:sp>
      <p:sp>
        <p:nvSpPr>
          <p:cNvPr id="5" name="Shape 3"/>
          <p:cNvSpPr/>
          <p:nvPr/>
        </p:nvSpPr>
        <p:spPr>
          <a:xfrm>
            <a:off x="658368" y="1874520"/>
            <a:ext cx="1691640" cy="1298448"/>
          </a:xfrm>
          <a:prstGeom prst="roundRect">
            <a:avLst/>
          </a:prstGeom>
          <a:solidFill>
            <a:srgbClr val="FFFFFF"/>
          </a:solidFill>
          <a:ln w="16510">
            <a:solidFill>
              <a:srgbClr val="4F8EF7"/>
            </a:solidFill>
            <a:prstDash val="solid"/>
          </a:ln>
          <a:effectLst>
            <a:outerShdw blurRad="25400" dist="50800" dir="2700000" algn="bl" rotWithShape="0">
              <a:srgbClr val="102A43">
                <a:alpha val="14000"/>
              </a:srgbClr>
            </a:outerShdw>
          </a:effectLst>
        </p:spPr>
        <p:txBody>
          <a:bodyPr/>
          <a:lstStyle/>
          <a:p>
            <a:endParaRPr lang="en-US"/>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2728" y="2157984"/>
            <a:ext cx="475488" cy="475488"/>
          </a:xfrm>
          <a:prstGeom prst="rect">
            <a:avLst/>
          </a:prstGeom>
        </p:spPr>
      </p:pic>
      <p:sp>
        <p:nvSpPr>
          <p:cNvPr id="7" name="Text 4"/>
          <p:cNvSpPr/>
          <p:nvPr/>
        </p:nvSpPr>
        <p:spPr>
          <a:xfrm>
            <a:off x="822960" y="2761488"/>
            <a:ext cx="1362456" cy="201168"/>
          </a:xfrm>
          <a:prstGeom prst="rect">
            <a:avLst/>
          </a:prstGeom>
          <a:noFill/>
          <a:ln/>
        </p:spPr>
        <p:txBody>
          <a:bodyPr wrap="square" lIns="0" tIns="0" rIns="0" bIns="0" rtlCol="0" anchor="ctr"/>
          <a:lstStyle/>
          <a:p>
            <a:pPr marL="0" indent="0" algn="ctr">
              <a:buNone/>
            </a:pPr>
            <a:r>
              <a:rPr lang="en-US" sz="1250" b="1" dirty="0">
                <a:solidFill>
                  <a:srgbClr val="102A43"/>
                </a:solidFill>
                <a:latin typeface="Aptos Display" pitchFamily="34" charset="0"/>
                <a:ea typeface="Aptos Display" pitchFamily="34" charset="-122"/>
                <a:cs typeface="Aptos Display" pitchFamily="34" charset="-120"/>
              </a:rPr>
              <a:t>Client</a:t>
            </a:r>
            <a:endParaRPr lang="en-US" sz="1250" dirty="0"/>
          </a:p>
        </p:txBody>
      </p:sp>
      <p:sp>
        <p:nvSpPr>
          <p:cNvPr id="8" name="Shape 5"/>
          <p:cNvSpPr/>
          <p:nvPr/>
        </p:nvSpPr>
        <p:spPr>
          <a:xfrm>
            <a:off x="2377440" y="2523744"/>
            <a:ext cx="530352" cy="0"/>
          </a:xfrm>
          <a:prstGeom prst="line">
            <a:avLst/>
          </a:prstGeom>
          <a:noFill/>
          <a:ln w="20320">
            <a:solidFill>
              <a:srgbClr val="748494"/>
            </a:solidFill>
            <a:prstDash val="solid"/>
            <a:tailEnd type="triangle"/>
          </a:ln>
        </p:spPr>
        <p:txBody>
          <a:bodyPr/>
          <a:lstStyle/>
          <a:p>
            <a:endParaRPr lang="en-US"/>
          </a:p>
        </p:txBody>
      </p:sp>
      <p:sp>
        <p:nvSpPr>
          <p:cNvPr id="9" name="Shape 6"/>
          <p:cNvSpPr/>
          <p:nvPr/>
        </p:nvSpPr>
        <p:spPr>
          <a:xfrm>
            <a:off x="2944368" y="1874520"/>
            <a:ext cx="1691640" cy="1298448"/>
          </a:xfrm>
          <a:prstGeom prst="roundRect">
            <a:avLst/>
          </a:prstGeom>
          <a:solidFill>
            <a:srgbClr val="FFFFFF"/>
          </a:solidFill>
          <a:ln w="16510">
            <a:solidFill>
              <a:srgbClr val="775DA6"/>
            </a:solidFill>
            <a:prstDash val="solid"/>
          </a:ln>
          <a:effectLst>
            <a:outerShdw blurRad="25400" dist="50800" dir="2700000" algn="bl" rotWithShape="0">
              <a:srgbClr val="102A43">
                <a:alpha val="14000"/>
              </a:srgbClr>
            </a:outerShdw>
          </a:effectLst>
        </p:spPr>
        <p:txBody>
          <a:bodyPr/>
          <a:lstStyle/>
          <a:p>
            <a:endParaRPr lang="en-US"/>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38728" y="2157984"/>
            <a:ext cx="475488" cy="475488"/>
          </a:xfrm>
          <a:prstGeom prst="rect">
            <a:avLst/>
          </a:prstGeom>
        </p:spPr>
      </p:pic>
      <p:sp>
        <p:nvSpPr>
          <p:cNvPr id="11" name="Text 7"/>
          <p:cNvSpPr/>
          <p:nvPr/>
        </p:nvSpPr>
        <p:spPr>
          <a:xfrm>
            <a:off x="3108960" y="2761488"/>
            <a:ext cx="1362456" cy="201168"/>
          </a:xfrm>
          <a:prstGeom prst="rect">
            <a:avLst/>
          </a:prstGeom>
          <a:noFill/>
          <a:ln/>
        </p:spPr>
        <p:txBody>
          <a:bodyPr wrap="square" lIns="0" tIns="0" rIns="0" bIns="0" rtlCol="0" anchor="ctr"/>
          <a:lstStyle/>
          <a:p>
            <a:pPr marL="0" indent="0" algn="ctr">
              <a:buNone/>
            </a:pPr>
            <a:r>
              <a:rPr lang="en-US" sz="1250" b="1" dirty="0">
                <a:solidFill>
                  <a:srgbClr val="102A43"/>
                </a:solidFill>
                <a:latin typeface="Aptos Display" pitchFamily="34" charset="0"/>
                <a:ea typeface="Aptos Display" pitchFamily="34" charset="-122"/>
                <a:cs typeface="Aptos Display" pitchFamily="34" charset="-120"/>
              </a:rPr>
              <a:t>Agent</a:t>
            </a:r>
            <a:endParaRPr lang="en-US" sz="1250" dirty="0"/>
          </a:p>
        </p:txBody>
      </p:sp>
      <p:sp>
        <p:nvSpPr>
          <p:cNvPr id="12" name="Shape 8"/>
          <p:cNvSpPr/>
          <p:nvPr/>
        </p:nvSpPr>
        <p:spPr>
          <a:xfrm>
            <a:off x="4663440" y="2523744"/>
            <a:ext cx="530352" cy="0"/>
          </a:xfrm>
          <a:prstGeom prst="line">
            <a:avLst/>
          </a:prstGeom>
          <a:noFill/>
          <a:ln w="20320">
            <a:solidFill>
              <a:srgbClr val="748494"/>
            </a:solidFill>
            <a:prstDash val="solid"/>
            <a:tailEnd type="triangle"/>
          </a:ln>
        </p:spPr>
        <p:txBody>
          <a:bodyPr/>
          <a:lstStyle/>
          <a:p>
            <a:endParaRPr lang="en-US"/>
          </a:p>
        </p:txBody>
      </p:sp>
      <p:sp>
        <p:nvSpPr>
          <p:cNvPr id="13" name="Shape 9"/>
          <p:cNvSpPr/>
          <p:nvPr/>
        </p:nvSpPr>
        <p:spPr>
          <a:xfrm>
            <a:off x="5230368" y="1874520"/>
            <a:ext cx="1691640" cy="1298448"/>
          </a:xfrm>
          <a:prstGeom prst="roundRect">
            <a:avLst/>
          </a:prstGeom>
          <a:solidFill>
            <a:srgbClr val="FFFFFF"/>
          </a:solidFill>
          <a:ln w="16510">
            <a:solidFill>
              <a:srgbClr val="0F8B8D"/>
            </a:solidFill>
            <a:prstDash val="solid"/>
          </a:ln>
          <a:effectLst>
            <a:outerShdw blurRad="25400" dist="50800" dir="2700000" algn="bl" rotWithShape="0">
              <a:srgbClr val="102A43">
                <a:alpha val="14000"/>
              </a:srgbClr>
            </a:outerShdw>
          </a:effectLst>
        </p:spPr>
        <p:txBody>
          <a:bodyPr/>
          <a:lstStyle/>
          <a:p>
            <a:endParaRPr lang="en-US"/>
          </a:p>
        </p:txBody>
      </p:sp>
      <p:pic>
        <p:nvPicPr>
          <p:cNvPr id="1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24728" y="2157984"/>
            <a:ext cx="475488" cy="475488"/>
          </a:xfrm>
          <a:prstGeom prst="rect">
            <a:avLst/>
          </a:prstGeom>
        </p:spPr>
      </p:pic>
      <p:sp>
        <p:nvSpPr>
          <p:cNvPr id="15" name="Text 10"/>
          <p:cNvSpPr/>
          <p:nvPr/>
        </p:nvSpPr>
        <p:spPr>
          <a:xfrm>
            <a:off x="5394960" y="2761488"/>
            <a:ext cx="1362456" cy="201168"/>
          </a:xfrm>
          <a:prstGeom prst="rect">
            <a:avLst/>
          </a:prstGeom>
          <a:noFill/>
          <a:ln/>
        </p:spPr>
        <p:txBody>
          <a:bodyPr wrap="square" lIns="0" tIns="0" rIns="0" bIns="0" rtlCol="0" anchor="ctr"/>
          <a:lstStyle/>
          <a:p>
            <a:pPr marL="0" indent="0" algn="ctr">
              <a:buNone/>
            </a:pPr>
            <a:r>
              <a:rPr lang="en-US" sz="1250" b="1" dirty="0">
                <a:solidFill>
                  <a:srgbClr val="102A43"/>
                </a:solidFill>
                <a:latin typeface="Aptos Display" pitchFamily="34" charset="0"/>
                <a:ea typeface="Aptos Display" pitchFamily="34" charset="-122"/>
                <a:cs typeface="Aptos Display" pitchFamily="34" charset="-120"/>
              </a:rPr>
              <a:t>APIM MCP</a:t>
            </a:r>
            <a:endParaRPr lang="en-US" sz="1250" dirty="0"/>
          </a:p>
        </p:txBody>
      </p:sp>
      <p:sp>
        <p:nvSpPr>
          <p:cNvPr id="16" name="Shape 11"/>
          <p:cNvSpPr/>
          <p:nvPr/>
        </p:nvSpPr>
        <p:spPr>
          <a:xfrm>
            <a:off x="6949440" y="2523744"/>
            <a:ext cx="530352" cy="0"/>
          </a:xfrm>
          <a:prstGeom prst="line">
            <a:avLst/>
          </a:prstGeom>
          <a:noFill/>
          <a:ln w="20320">
            <a:solidFill>
              <a:srgbClr val="748494"/>
            </a:solidFill>
            <a:prstDash val="solid"/>
            <a:tailEnd type="triangle"/>
          </a:ln>
        </p:spPr>
        <p:txBody>
          <a:bodyPr/>
          <a:lstStyle/>
          <a:p>
            <a:endParaRPr lang="en-US"/>
          </a:p>
        </p:txBody>
      </p:sp>
      <p:sp>
        <p:nvSpPr>
          <p:cNvPr id="17" name="Shape 12"/>
          <p:cNvSpPr/>
          <p:nvPr/>
        </p:nvSpPr>
        <p:spPr>
          <a:xfrm>
            <a:off x="7516368" y="1874520"/>
            <a:ext cx="1691640" cy="1298448"/>
          </a:xfrm>
          <a:prstGeom prst="roundRect">
            <a:avLst/>
          </a:prstGeom>
          <a:solidFill>
            <a:srgbClr val="FFFFFF"/>
          </a:solidFill>
          <a:ln w="16510">
            <a:solidFill>
              <a:srgbClr val="4F8EF7"/>
            </a:solidFill>
            <a:prstDash val="solid"/>
          </a:ln>
          <a:effectLst>
            <a:outerShdw blurRad="25400" dist="50800" dir="2700000" algn="bl" rotWithShape="0">
              <a:srgbClr val="102A43">
                <a:alpha val="14000"/>
              </a:srgbClr>
            </a:outerShdw>
          </a:effectLst>
        </p:spPr>
        <p:txBody>
          <a:bodyPr/>
          <a:lstStyle/>
          <a:p>
            <a:endParaRPr lang="en-US"/>
          </a:p>
        </p:txBody>
      </p:sp>
      <p:pic>
        <p:nvPicPr>
          <p:cNvPr id="1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110728" y="2157984"/>
            <a:ext cx="475488" cy="475488"/>
          </a:xfrm>
          <a:prstGeom prst="rect">
            <a:avLst/>
          </a:prstGeom>
        </p:spPr>
      </p:pic>
      <p:sp>
        <p:nvSpPr>
          <p:cNvPr id="19" name="Text 13"/>
          <p:cNvSpPr/>
          <p:nvPr/>
        </p:nvSpPr>
        <p:spPr>
          <a:xfrm>
            <a:off x="7680960" y="2761488"/>
            <a:ext cx="1362456" cy="201168"/>
          </a:xfrm>
          <a:prstGeom prst="rect">
            <a:avLst/>
          </a:prstGeom>
          <a:noFill/>
          <a:ln/>
        </p:spPr>
        <p:txBody>
          <a:bodyPr wrap="square" lIns="0" tIns="0" rIns="0" bIns="0" rtlCol="0" anchor="ctr"/>
          <a:lstStyle/>
          <a:p>
            <a:pPr marL="0" indent="0" algn="ctr">
              <a:buNone/>
            </a:pPr>
            <a:r>
              <a:rPr lang="en-US" sz="1250" b="1" dirty="0">
                <a:solidFill>
                  <a:srgbClr val="102A43"/>
                </a:solidFill>
                <a:latin typeface="Aptos Display" pitchFamily="34" charset="0"/>
                <a:ea typeface="Aptos Display" pitchFamily="34" charset="-122"/>
                <a:cs typeface="Aptos Display" pitchFamily="34" charset="-120"/>
              </a:rPr>
              <a:t>REST API</a:t>
            </a:r>
            <a:endParaRPr lang="en-US" sz="1250" dirty="0"/>
          </a:p>
        </p:txBody>
      </p:sp>
      <p:sp>
        <p:nvSpPr>
          <p:cNvPr id="20" name="Shape 14"/>
          <p:cNvSpPr/>
          <p:nvPr/>
        </p:nvSpPr>
        <p:spPr>
          <a:xfrm>
            <a:off x="9235440" y="2523744"/>
            <a:ext cx="530352" cy="0"/>
          </a:xfrm>
          <a:prstGeom prst="line">
            <a:avLst/>
          </a:prstGeom>
          <a:noFill/>
          <a:ln w="20320">
            <a:solidFill>
              <a:srgbClr val="748494"/>
            </a:solidFill>
            <a:prstDash val="solid"/>
            <a:tailEnd type="triangle"/>
          </a:ln>
        </p:spPr>
        <p:txBody>
          <a:bodyPr/>
          <a:lstStyle/>
          <a:p>
            <a:endParaRPr lang="en-US"/>
          </a:p>
        </p:txBody>
      </p:sp>
      <p:sp>
        <p:nvSpPr>
          <p:cNvPr id="21" name="Shape 15"/>
          <p:cNvSpPr/>
          <p:nvPr/>
        </p:nvSpPr>
        <p:spPr>
          <a:xfrm>
            <a:off x="9802368" y="1874520"/>
            <a:ext cx="1691640" cy="1298448"/>
          </a:xfrm>
          <a:prstGeom prst="roundRect">
            <a:avLst/>
          </a:prstGeom>
          <a:solidFill>
            <a:srgbClr val="FFFFFF"/>
          </a:solidFill>
          <a:ln w="16510">
            <a:solidFill>
              <a:srgbClr val="F4B942"/>
            </a:solidFill>
            <a:prstDash val="solid"/>
          </a:ln>
          <a:effectLst>
            <a:outerShdw blurRad="25400" dist="50800" dir="2700000" algn="bl" rotWithShape="0">
              <a:srgbClr val="102A43">
                <a:alpha val="14000"/>
              </a:srgbClr>
            </a:outerShdw>
          </a:effectLst>
        </p:spPr>
        <p:txBody>
          <a:bodyPr/>
          <a:lstStyle/>
          <a:p>
            <a:endParaRPr lang="en-US"/>
          </a:p>
        </p:txBody>
      </p:sp>
      <p:pic>
        <p:nvPicPr>
          <p:cNvPr id="22"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396728" y="2157984"/>
            <a:ext cx="475488" cy="475488"/>
          </a:xfrm>
          <a:prstGeom prst="rect">
            <a:avLst/>
          </a:prstGeom>
        </p:spPr>
      </p:pic>
      <p:sp>
        <p:nvSpPr>
          <p:cNvPr id="23" name="Text 16"/>
          <p:cNvSpPr/>
          <p:nvPr/>
        </p:nvSpPr>
        <p:spPr>
          <a:xfrm>
            <a:off x="9966960" y="2761488"/>
            <a:ext cx="1362456" cy="201168"/>
          </a:xfrm>
          <a:prstGeom prst="rect">
            <a:avLst/>
          </a:prstGeom>
          <a:noFill/>
          <a:ln/>
        </p:spPr>
        <p:txBody>
          <a:bodyPr wrap="square" lIns="0" tIns="0" rIns="0" bIns="0" rtlCol="0" anchor="ctr"/>
          <a:lstStyle/>
          <a:p>
            <a:pPr marL="0" indent="0" algn="ctr">
              <a:buNone/>
            </a:pPr>
            <a:r>
              <a:rPr lang="en-US" sz="1250" b="1" dirty="0">
                <a:solidFill>
                  <a:srgbClr val="102A43"/>
                </a:solidFill>
                <a:latin typeface="Aptos Display" pitchFamily="34" charset="0"/>
                <a:ea typeface="Aptos Display" pitchFamily="34" charset="-122"/>
                <a:cs typeface="Aptos Display" pitchFamily="34" charset="-120"/>
              </a:rPr>
              <a:t>Backend</a:t>
            </a:r>
            <a:endParaRPr lang="en-US" sz="1250" dirty="0"/>
          </a:p>
        </p:txBody>
      </p:sp>
      <p:sp>
        <p:nvSpPr>
          <p:cNvPr id="24" name="Shape 17"/>
          <p:cNvSpPr/>
          <p:nvPr/>
        </p:nvSpPr>
        <p:spPr>
          <a:xfrm>
            <a:off x="5229860" y="3611880"/>
            <a:ext cx="6108700" cy="0"/>
          </a:xfrm>
          <a:prstGeom prst="line">
            <a:avLst/>
          </a:prstGeom>
          <a:noFill/>
          <a:ln w="25400">
            <a:solidFill>
              <a:srgbClr val="FF7A59"/>
            </a:solidFill>
            <a:prstDash val="solid"/>
            <a:tailEnd type="triangle"/>
          </a:ln>
        </p:spPr>
        <p:txBody>
          <a:bodyPr/>
          <a:lstStyle/>
          <a:p>
            <a:endParaRPr lang="en-US"/>
          </a:p>
        </p:txBody>
      </p:sp>
      <p:sp>
        <p:nvSpPr>
          <p:cNvPr id="25" name="Text 18"/>
          <p:cNvSpPr/>
          <p:nvPr/>
        </p:nvSpPr>
        <p:spPr>
          <a:xfrm>
            <a:off x="6731000" y="3365500"/>
            <a:ext cx="3810000" cy="164592"/>
          </a:xfrm>
          <a:prstGeom prst="rect">
            <a:avLst/>
          </a:prstGeom>
          <a:noFill/>
          <a:ln/>
        </p:spPr>
        <p:txBody>
          <a:bodyPr wrap="square" lIns="0" tIns="0" rIns="0" bIns="0" rtlCol="0" anchor="ctr"/>
          <a:lstStyle/>
          <a:p>
            <a:pPr marL="0" indent="0" algn="ctr">
              <a:buNone/>
            </a:pPr>
            <a:r>
              <a:rPr lang="en-US" sz="1000" b="1">
                <a:solidFill>
                  <a:srgbClr val="D95B3E"/>
                </a:solidFill>
                <a:latin typeface="Consolas" pitchFamily="34" charset="0"/>
                <a:ea typeface="Consolas" pitchFamily="34" charset="-122"/>
                <a:cs typeface="Consolas" pitchFamily="34" charset="-120"/>
              </a:rPr>
              <a:t>LAB 5: x-correlation-id + trace metadata</a:t>
            </a:r>
            <a:endParaRPr lang="en-US" sz="1000" dirty="0"/>
          </a:p>
        </p:txBody>
      </p:sp>
      <p:sp>
        <p:nvSpPr>
          <p:cNvPr id="26" name="Shape 19"/>
          <p:cNvSpPr/>
          <p:nvPr/>
        </p:nvSpPr>
        <p:spPr>
          <a:xfrm>
            <a:off x="822960" y="4160520"/>
            <a:ext cx="2487168" cy="1152144"/>
          </a:xfrm>
          <a:prstGeom prst="roundRect">
            <a:avLst/>
          </a:prstGeom>
          <a:solidFill>
            <a:srgbClr val="EDF2F5"/>
          </a:solidFill>
          <a:ln w="12700">
            <a:solidFill>
              <a:srgbClr val="DDE6EC"/>
            </a:solidFill>
            <a:prstDash val="solid"/>
          </a:ln>
        </p:spPr>
        <p:txBody>
          <a:bodyPr/>
          <a:lstStyle/>
          <a:p>
            <a:endParaRPr lang="en-US"/>
          </a:p>
        </p:txBody>
      </p:sp>
      <p:pic>
        <p:nvPicPr>
          <p:cNvPr id="27"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24128" y="4443984"/>
            <a:ext cx="292608" cy="292608"/>
          </a:xfrm>
          <a:prstGeom prst="rect">
            <a:avLst/>
          </a:prstGeom>
        </p:spPr>
      </p:pic>
      <p:sp>
        <p:nvSpPr>
          <p:cNvPr id="28" name="Text 20"/>
          <p:cNvSpPr/>
          <p:nvPr/>
        </p:nvSpPr>
        <p:spPr>
          <a:xfrm>
            <a:off x="1481328" y="4297680"/>
            <a:ext cx="1508760" cy="210312"/>
          </a:xfrm>
          <a:prstGeom prst="rect">
            <a:avLst/>
          </a:prstGeom>
          <a:noFill/>
          <a:ln/>
        </p:spPr>
        <p:txBody>
          <a:bodyPr wrap="square" lIns="0" tIns="0" rIns="0" bIns="0" rtlCol="0" anchor="ctr"/>
          <a:lstStyle/>
          <a:p>
            <a:pPr marL="0" indent="0">
              <a:buNone/>
            </a:pPr>
            <a:r>
              <a:rPr lang="en-US" sz="1250" b="1" dirty="0">
                <a:solidFill>
                  <a:srgbClr val="102A43"/>
                </a:solidFill>
                <a:latin typeface="Aptos Display" pitchFamily="34" charset="0"/>
                <a:ea typeface="Aptos Display" pitchFamily="34" charset="-122"/>
                <a:cs typeface="Aptos Display" pitchFamily="34" charset="-120"/>
              </a:rPr>
              <a:t>Latency</a:t>
            </a:r>
            <a:endParaRPr lang="en-US" sz="1250" dirty="0"/>
          </a:p>
        </p:txBody>
      </p:sp>
      <p:sp>
        <p:nvSpPr>
          <p:cNvPr id="29" name="Text 21"/>
          <p:cNvSpPr/>
          <p:nvPr/>
        </p:nvSpPr>
        <p:spPr>
          <a:xfrm>
            <a:off x="1481328" y="4645152"/>
            <a:ext cx="1572768" cy="320040"/>
          </a:xfrm>
          <a:prstGeom prst="rect">
            <a:avLst/>
          </a:prstGeom>
          <a:noFill/>
          <a:ln/>
        </p:spPr>
        <p:txBody>
          <a:bodyPr wrap="square" lIns="0" tIns="0" rIns="0" bIns="0" rtlCol="0" anchor="ctr">
            <a:normAutofit/>
          </a:bodyPr>
          <a:lstStyle/>
          <a:p>
            <a:pPr marL="0" indent="0">
              <a:buNone/>
            </a:pPr>
            <a:r>
              <a:rPr lang="en-US" sz="880" dirty="0">
                <a:solidFill>
                  <a:srgbClr val="4F6474"/>
                </a:solidFill>
                <a:latin typeface="Aptos" pitchFamily="34" charset="0"/>
                <a:ea typeface="Aptos" pitchFamily="34" charset="-122"/>
                <a:cs typeface="Aptos" pitchFamily="34" charset="-120"/>
              </a:rPr>
              <a:t>Model, tool, API, backend</a:t>
            </a:r>
            <a:endParaRPr lang="en-US" sz="880" dirty="0"/>
          </a:p>
        </p:txBody>
      </p:sp>
      <p:sp>
        <p:nvSpPr>
          <p:cNvPr id="30" name="Shape 22"/>
          <p:cNvSpPr/>
          <p:nvPr/>
        </p:nvSpPr>
        <p:spPr>
          <a:xfrm>
            <a:off x="3657600" y="4160520"/>
            <a:ext cx="2487168" cy="1152144"/>
          </a:xfrm>
          <a:prstGeom prst="roundRect">
            <a:avLst/>
          </a:prstGeom>
          <a:solidFill>
            <a:srgbClr val="FFFFFF"/>
          </a:solidFill>
          <a:ln w="12700">
            <a:solidFill>
              <a:srgbClr val="DDE6EC"/>
            </a:solidFill>
            <a:prstDash val="solid"/>
          </a:ln>
        </p:spPr>
        <p:txBody>
          <a:bodyPr/>
          <a:lstStyle/>
          <a:p>
            <a:endParaRPr lang="en-US"/>
          </a:p>
        </p:txBody>
      </p:sp>
      <p:pic>
        <p:nvPicPr>
          <p:cNvPr id="31"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858768" y="4443984"/>
            <a:ext cx="292608" cy="292608"/>
          </a:xfrm>
          <a:prstGeom prst="rect">
            <a:avLst/>
          </a:prstGeom>
        </p:spPr>
      </p:pic>
      <p:sp>
        <p:nvSpPr>
          <p:cNvPr id="32" name="Text 23"/>
          <p:cNvSpPr/>
          <p:nvPr/>
        </p:nvSpPr>
        <p:spPr>
          <a:xfrm>
            <a:off x="4315968" y="4297680"/>
            <a:ext cx="1508760" cy="210312"/>
          </a:xfrm>
          <a:prstGeom prst="rect">
            <a:avLst/>
          </a:prstGeom>
          <a:noFill/>
          <a:ln/>
        </p:spPr>
        <p:txBody>
          <a:bodyPr wrap="square" lIns="0" tIns="0" rIns="0" bIns="0" rtlCol="0" anchor="ctr"/>
          <a:lstStyle/>
          <a:p>
            <a:pPr marL="0" indent="0">
              <a:buNone/>
            </a:pPr>
            <a:r>
              <a:rPr lang="en-US" sz="1250" b="1" dirty="0">
                <a:solidFill>
                  <a:srgbClr val="102A43"/>
                </a:solidFill>
                <a:latin typeface="Aptos Display" pitchFamily="34" charset="0"/>
                <a:ea typeface="Aptos Display" pitchFamily="34" charset="-122"/>
                <a:cs typeface="Aptos Display" pitchFamily="34" charset="-120"/>
              </a:rPr>
              <a:t>Failures</a:t>
            </a:r>
            <a:endParaRPr lang="en-US" sz="1250" dirty="0"/>
          </a:p>
        </p:txBody>
      </p:sp>
      <p:sp>
        <p:nvSpPr>
          <p:cNvPr id="33" name="Text 24"/>
          <p:cNvSpPr/>
          <p:nvPr/>
        </p:nvSpPr>
        <p:spPr>
          <a:xfrm>
            <a:off x="4315968" y="4645152"/>
            <a:ext cx="1572768" cy="320040"/>
          </a:xfrm>
          <a:prstGeom prst="rect">
            <a:avLst/>
          </a:prstGeom>
          <a:noFill/>
          <a:ln/>
        </p:spPr>
        <p:txBody>
          <a:bodyPr wrap="square" lIns="0" tIns="0" rIns="0" bIns="0" rtlCol="0" anchor="ctr">
            <a:normAutofit/>
          </a:bodyPr>
          <a:lstStyle/>
          <a:p>
            <a:pPr marL="0" indent="0">
              <a:buNone/>
            </a:pPr>
            <a:r>
              <a:rPr lang="en-US" sz="880" dirty="0">
                <a:solidFill>
                  <a:srgbClr val="4F6474"/>
                </a:solidFill>
                <a:latin typeface="Aptos" pitchFamily="34" charset="0"/>
                <a:ea typeface="Aptos" pitchFamily="34" charset="-122"/>
                <a:cs typeface="Aptos" pitchFamily="34" charset="-120"/>
              </a:rPr>
              <a:t>Auth, schema, streaming, backend</a:t>
            </a:r>
            <a:endParaRPr lang="en-US" sz="880" dirty="0"/>
          </a:p>
        </p:txBody>
      </p:sp>
      <p:sp>
        <p:nvSpPr>
          <p:cNvPr id="34" name="Shape 25"/>
          <p:cNvSpPr/>
          <p:nvPr/>
        </p:nvSpPr>
        <p:spPr>
          <a:xfrm>
            <a:off x="6492240" y="4160520"/>
            <a:ext cx="2487168" cy="1152144"/>
          </a:xfrm>
          <a:prstGeom prst="roundRect">
            <a:avLst/>
          </a:prstGeom>
          <a:solidFill>
            <a:srgbClr val="EDF2F5"/>
          </a:solidFill>
          <a:ln w="12700">
            <a:solidFill>
              <a:srgbClr val="DDE6EC"/>
            </a:solidFill>
            <a:prstDash val="solid"/>
          </a:ln>
        </p:spPr>
        <p:txBody>
          <a:bodyPr/>
          <a:lstStyle/>
          <a:p>
            <a:endParaRPr lang="en-US"/>
          </a:p>
        </p:txBody>
      </p:sp>
      <p:pic>
        <p:nvPicPr>
          <p:cNvPr id="35"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693408" y="4443984"/>
            <a:ext cx="292608" cy="292608"/>
          </a:xfrm>
          <a:prstGeom prst="rect">
            <a:avLst/>
          </a:prstGeom>
        </p:spPr>
      </p:pic>
      <p:sp>
        <p:nvSpPr>
          <p:cNvPr id="36" name="Text 26"/>
          <p:cNvSpPr/>
          <p:nvPr/>
        </p:nvSpPr>
        <p:spPr>
          <a:xfrm>
            <a:off x="7150608" y="4297680"/>
            <a:ext cx="1508760" cy="210312"/>
          </a:xfrm>
          <a:prstGeom prst="rect">
            <a:avLst/>
          </a:prstGeom>
          <a:noFill/>
          <a:ln/>
        </p:spPr>
        <p:txBody>
          <a:bodyPr wrap="square" lIns="0" tIns="0" rIns="0" bIns="0" rtlCol="0" anchor="ctr"/>
          <a:lstStyle/>
          <a:p>
            <a:pPr marL="0" indent="0">
              <a:buNone/>
            </a:pPr>
            <a:r>
              <a:rPr lang="en-US" sz="1250" b="1" dirty="0">
                <a:solidFill>
                  <a:srgbClr val="102A43"/>
                </a:solidFill>
                <a:latin typeface="Aptos Display" pitchFamily="34" charset="0"/>
                <a:ea typeface="Aptos Display" pitchFamily="34" charset="-122"/>
                <a:cs typeface="Aptos Display" pitchFamily="34" charset="-120"/>
              </a:rPr>
              <a:t>Usage</a:t>
            </a:r>
            <a:endParaRPr lang="en-US" sz="1250" dirty="0"/>
          </a:p>
        </p:txBody>
      </p:sp>
      <p:sp>
        <p:nvSpPr>
          <p:cNvPr id="37" name="Text 27"/>
          <p:cNvSpPr/>
          <p:nvPr/>
        </p:nvSpPr>
        <p:spPr>
          <a:xfrm>
            <a:off x="7150608" y="4645152"/>
            <a:ext cx="1572768" cy="320040"/>
          </a:xfrm>
          <a:prstGeom prst="rect">
            <a:avLst/>
          </a:prstGeom>
          <a:noFill/>
          <a:ln/>
        </p:spPr>
        <p:txBody>
          <a:bodyPr wrap="square" lIns="0" tIns="0" rIns="0" bIns="0" rtlCol="0" anchor="ctr">
            <a:normAutofit/>
          </a:bodyPr>
          <a:lstStyle/>
          <a:p>
            <a:pPr marL="0" indent="0">
              <a:buNone/>
            </a:pPr>
            <a:r>
              <a:rPr lang="en-US" sz="880" dirty="0">
                <a:solidFill>
                  <a:srgbClr val="4F6474"/>
                </a:solidFill>
                <a:latin typeface="Aptos" pitchFamily="34" charset="0"/>
                <a:ea typeface="Aptos" pitchFamily="34" charset="-122"/>
                <a:cs typeface="Aptos" pitchFamily="34" charset="-120"/>
              </a:rPr>
              <a:t>Requests, tools, tokens, users</a:t>
            </a:r>
            <a:endParaRPr lang="en-US" sz="880" dirty="0"/>
          </a:p>
        </p:txBody>
      </p:sp>
      <p:sp>
        <p:nvSpPr>
          <p:cNvPr id="38" name="Shape 28"/>
          <p:cNvSpPr/>
          <p:nvPr/>
        </p:nvSpPr>
        <p:spPr>
          <a:xfrm>
            <a:off x="9326880" y="4160520"/>
            <a:ext cx="2487168" cy="1152144"/>
          </a:xfrm>
          <a:prstGeom prst="roundRect">
            <a:avLst/>
          </a:prstGeom>
          <a:solidFill>
            <a:srgbClr val="FFFFFF"/>
          </a:solidFill>
          <a:ln w="12700">
            <a:solidFill>
              <a:srgbClr val="DDE6EC"/>
            </a:solidFill>
            <a:prstDash val="solid"/>
          </a:ln>
        </p:spPr>
        <p:txBody>
          <a:bodyPr/>
          <a:lstStyle/>
          <a:p>
            <a:endParaRPr lang="en-US"/>
          </a:p>
        </p:txBody>
      </p:sp>
      <p:pic>
        <p:nvPicPr>
          <p:cNvPr id="39"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528048" y="4443984"/>
            <a:ext cx="292608" cy="292608"/>
          </a:xfrm>
          <a:prstGeom prst="rect">
            <a:avLst/>
          </a:prstGeom>
        </p:spPr>
      </p:pic>
      <p:sp>
        <p:nvSpPr>
          <p:cNvPr id="40" name="Text 29"/>
          <p:cNvSpPr/>
          <p:nvPr/>
        </p:nvSpPr>
        <p:spPr>
          <a:xfrm>
            <a:off x="9985248" y="4297680"/>
            <a:ext cx="1508760" cy="210312"/>
          </a:xfrm>
          <a:prstGeom prst="rect">
            <a:avLst/>
          </a:prstGeom>
          <a:noFill/>
          <a:ln/>
        </p:spPr>
        <p:txBody>
          <a:bodyPr wrap="square" lIns="0" tIns="0" rIns="0" bIns="0" rtlCol="0" anchor="ctr"/>
          <a:lstStyle/>
          <a:p>
            <a:pPr marL="0" indent="0">
              <a:buNone/>
            </a:pPr>
            <a:r>
              <a:rPr lang="en-US" sz="1250" b="1" dirty="0">
                <a:solidFill>
                  <a:srgbClr val="102A43"/>
                </a:solidFill>
                <a:latin typeface="Aptos Display" pitchFamily="34" charset="0"/>
                <a:ea typeface="Aptos Display" pitchFamily="34" charset="-122"/>
                <a:cs typeface="Aptos Display" pitchFamily="34" charset="-120"/>
              </a:rPr>
              <a:t>Audit</a:t>
            </a:r>
            <a:endParaRPr lang="en-US" sz="1250" dirty="0"/>
          </a:p>
        </p:txBody>
      </p:sp>
      <p:sp>
        <p:nvSpPr>
          <p:cNvPr id="41" name="Text 30"/>
          <p:cNvSpPr/>
          <p:nvPr/>
        </p:nvSpPr>
        <p:spPr>
          <a:xfrm>
            <a:off x="9985248" y="4645152"/>
            <a:ext cx="1572768" cy="320040"/>
          </a:xfrm>
          <a:prstGeom prst="rect">
            <a:avLst/>
          </a:prstGeom>
          <a:noFill/>
          <a:ln/>
        </p:spPr>
        <p:txBody>
          <a:bodyPr wrap="square" lIns="0" tIns="0" rIns="0" bIns="0" rtlCol="0" anchor="ctr">
            <a:normAutofit/>
          </a:bodyPr>
          <a:lstStyle/>
          <a:p>
            <a:pPr marL="0" indent="0">
              <a:buNone/>
            </a:pPr>
            <a:r>
              <a:rPr lang="en-US" sz="880" dirty="0">
                <a:solidFill>
                  <a:srgbClr val="4F6474"/>
                </a:solidFill>
                <a:latin typeface="Aptos" pitchFamily="34" charset="0"/>
                <a:ea typeface="Aptos" pitchFamily="34" charset="-122"/>
                <a:cs typeface="Aptos" pitchFamily="34" charset="-120"/>
              </a:rPr>
              <a:t>Approvals and material actions</a:t>
            </a:r>
            <a:endParaRPr lang="en-US" sz="880" dirty="0"/>
          </a:p>
        </p:txBody>
      </p:sp>
      <p:sp>
        <p:nvSpPr>
          <p:cNvPr id="42" name="Text 31"/>
          <p:cNvSpPr/>
          <p:nvPr/>
        </p:nvSpPr>
        <p:spPr>
          <a:xfrm>
            <a:off x="566928" y="6528816"/>
            <a:ext cx="4389120" cy="146304"/>
          </a:xfrm>
          <a:prstGeom prst="rect">
            <a:avLst/>
          </a:prstGeom>
          <a:noFill/>
          <a:ln/>
        </p:spPr>
        <p:txBody>
          <a:bodyPr wrap="square" lIns="0" tIns="0" rIns="0" bIns="0" rtlCol="0" anchor="ctr"/>
          <a:lstStyle/>
          <a:p>
            <a:pPr marL="0" indent="0">
              <a:buNone/>
            </a:pPr>
            <a:r>
              <a:rPr lang="en-US" sz="750">
                <a:solidFill>
                  <a:srgbClr val="748494"/>
                </a:solidFill>
                <a:latin typeface="Aptos" pitchFamily="34" charset="0"/>
                <a:ea typeface="Aptos" pitchFamily="34" charset="-122"/>
                <a:cs typeface="Aptos" pitchFamily="34" charset="-120"/>
              </a:rPr>
              <a:t>Lab 5 verification: gateway correlation and diagnostics</a:t>
            </a:r>
            <a:endParaRPr lang="en-US" sz="750" dirty="0"/>
          </a:p>
        </p:txBody>
      </p:sp>
      <p:sp>
        <p:nvSpPr>
          <p:cNvPr id="43" name="Slide Number Placeholder 0"/>
          <p:cNvSpPr>
            <a:spLocks noGrp="1"/>
          </p:cNvSpPr>
          <p:nvPr>
            <p:ph type="sldNum" sz="quarter" idx="4294967295"/>
          </p:nvPr>
        </p:nvSpPr>
        <p:spPr>
          <a:xfrm>
            <a:off x="11109960" y="6510528"/>
            <a:ext cx="548640"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748494"/>
                </a:solidFill>
                <a:latin typeface="Aptos"/>
                <a:ea typeface="Aptos"/>
                <a:cs typeface="Aptos"/>
              </a:defRPr>
            </a:lvl1pPr>
          </a:lstStyle>
          <a:p>
            <a:pPr algn="r"/>
            <a:fld id="{F7021451-1387-4CA6-816F-3879F97B5CBC}" type="slidenum">
              <a:rPr lang="en-US" b="0"/>
              <a:t>17</a:t>
            </a:fld>
            <a:endParaRPr lang="en-US"/>
          </a:p>
        </p:txBody>
      </p:sp>
      <p:sp>
        <p:nvSpPr>
          <p:cNvPr id="44" name="Client Agent Trace Note">
            <a:extLst>
              <a:ext uri="{FF2B5EF4-FFF2-40B4-BE49-F238E27FC236}">
                <a16:creationId xmlns:a16="http://schemas.microsoft.com/office/drawing/2014/main" id="{8136A9ED-7D16-568A-20B1-8874FF03D30D}"/>
              </a:ext>
            </a:extLst>
          </p:cNvPr>
          <p:cNvSpPr/>
          <p:nvPr/>
        </p:nvSpPr>
        <p:spPr>
          <a:xfrm>
            <a:off x="825500" y="3289300"/>
            <a:ext cx="3632200" cy="254000"/>
          </a:xfrm>
          <a:prstGeom prst="roundRect">
            <a:avLst/>
          </a:prstGeom>
          <a:solidFill>
            <a:srgbClr val="E8EE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en-US" sz="800" b="1">
                <a:solidFill>
                  <a:srgbClr val="52697A"/>
                </a:solidFill>
                <a:latin typeface="Aptos" panose="020B0004020202020204" pitchFamily="34" charset="0"/>
              </a:rPr>
              <a:t>Client + agent tracing: production extension</a:t>
            </a:r>
          </a:p>
        </p:txBody>
      </p:sp>
      <p:cxnSp>
        <p:nvCxnSpPr>
          <p:cNvPr id="45" name="Lab5 Correlation Origin">
            <a:extLst>
              <a:ext uri="{FF2B5EF4-FFF2-40B4-BE49-F238E27FC236}">
                <a16:creationId xmlns:a16="http://schemas.microsoft.com/office/drawing/2014/main" id="{25945851-54CD-0FA0-CBED-CA759F46F30F}"/>
              </a:ext>
            </a:extLst>
          </p:cNvPr>
          <p:cNvCxnSpPr/>
          <p:nvPr/>
        </p:nvCxnSpPr>
        <p:spPr>
          <a:xfrm>
            <a:off x="6075680" y="3172460"/>
            <a:ext cx="0" cy="439420"/>
          </a:xfrm>
          <a:prstGeom prst="line">
            <a:avLst/>
          </a:prstGeom>
          <a:ln w="19050">
            <a:solidFill>
              <a:srgbClr val="FF715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40080" y="292608"/>
            <a:ext cx="2926080" cy="201168"/>
          </a:xfrm>
          <a:prstGeom prst="rect">
            <a:avLst/>
          </a:prstGeom>
          <a:noFill/>
          <a:ln/>
        </p:spPr>
        <p:txBody>
          <a:bodyPr wrap="square" lIns="254" tIns="254" rIns="254" bIns="254" rtlCol="0" anchor="ctr"/>
          <a:lstStyle/>
          <a:p>
            <a:pPr marL="0" indent="0">
              <a:buNone/>
            </a:pPr>
            <a:r>
              <a:rPr lang="en-US" sz="900" b="1" kern="0" spc="140" dirty="0">
                <a:solidFill>
                  <a:srgbClr val="0F8B8D"/>
                </a:solidFill>
                <a:latin typeface="Aptos" pitchFamily="34" charset="0"/>
                <a:ea typeface="Aptos" pitchFamily="34" charset="-122"/>
                <a:cs typeface="Aptos" pitchFamily="34" charset="-120"/>
              </a:rPr>
              <a:t> LAB 6 | DEMONSTRATE</a:t>
            </a:r>
            <a:endParaRPr lang="en-US" sz="900" dirty="0"/>
          </a:p>
        </p:txBody>
      </p:sp>
      <p:sp>
        <p:nvSpPr>
          <p:cNvPr id="3" name="Text 1"/>
          <p:cNvSpPr/>
          <p:nvPr/>
        </p:nvSpPr>
        <p:spPr>
          <a:xfrm>
            <a:off x="640080" y="548640"/>
            <a:ext cx="10835640" cy="502920"/>
          </a:xfrm>
          <a:prstGeom prst="rect">
            <a:avLst/>
          </a:prstGeom>
          <a:noFill/>
          <a:ln/>
        </p:spPr>
        <p:txBody>
          <a:bodyPr wrap="square" lIns="0" tIns="0" rIns="0" bIns="0" rtlCol="0" anchor="ctr">
            <a:normAutofit/>
          </a:bodyPr>
          <a:lstStyle/>
          <a:p>
            <a:pPr marL="0" indent="0">
              <a:buNone/>
            </a:pPr>
            <a:r>
              <a:rPr lang="en-US" sz="2700" b="1" dirty="0">
                <a:solidFill>
                  <a:srgbClr val="102A43"/>
                </a:solidFill>
                <a:latin typeface="Aptos Display" pitchFamily="34" charset="0"/>
                <a:ea typeface="Aptos Display" pitchFamily="34" charset="-122"/>
                <a:cs typeface="Aptos Display" pitchFamily="34" charset="-120"/>
              </a:rPr>
              <a:t>Tell one complete story with three prompts</a:t>
            </a:r>
            <a:endParaRPr lang="en-US" sz="2700" dirty="0"/>
          </a:p>
        </p:txBody>
      </p:sp>
      <p:sp>
        <p:nvSpPr>
          <p:cNvPr id="4" name="Text 2"/>
          <p:cNvSpPr/>
          <p:nvPr/>
        </p:nvSpPr>
        <p:spPr>
          <a:xfrm>
            <a:off x="658368" y="1078992"/>
            <a:ext cx="10698480" cy="310896"/>
          </a:xfrm>
          <a:prstGeom prst="rect">
            <a:avLst/>
          </a:prstGeom>
          <a:noFill/>
          <a:ln/>
        </p:spPr>
        <p:txBody>
          <a:bodyPr wrap="square" lIns="254" tIns="254" rIns="254" bIns="254" rtlCol="0" anchor="ctr">
            <a:normAutofit/>
          </a:bodyPr>
          <a:lstStyle/>
          <a:p>
            <a:pPr marL="0" indent="0">
              <a:buNone/>
            </a:pPr>
            <a:r>
              <a:rPr lang="en-US" sz="1250" dirty="0">
                <a:solidFill>
                  <a:srgbClr val="4F6474"/>
                </a:solidFill>
                <a:latin typeface="Aptos" pitchFamily="34" charset="0"/>
                <a:ea typeface="Aptos" pitchFamily="34" charset="-122"/>
                <a:cs typeface="Aptos" pitchFamily="34" charset="-120"/>
              </a:rPr>
              <a:t> The final demo moves from safe retrieval to a governed state change.</a:t>
            </a:r>
            <a:endParaRPr lang="en-US" sz="1250" dirty="0"/>
          </a:p>
        </p:txBody>
      </p:sp>
      <p:sp>
        <p:nvSpPr>
          <p:cNvPr id="5" name="Shape 3"/>
          <p:cNvSpPr/>
          <p:nvPr/>
        </p:nvSpPr>
        <p:spPr>
          <a:xfrm>
            <a:off x="658368" y="1783080"/>
            <a:ext cx="3383280" cy="3840480"/>
          </a:xfrm>
          <a:prstGeom prst="roundRect">
            <a:avLst/>
          </a:prstGeom>
          <a:solidFill>
            <a:srgbClr val="FFFFFF"/>
          </a:solidFill>
          <a:ln w="16510">
            <a:solidFill>
              <a:srgbClr val="2FA36B"/>
            </a:solidFill>
            <a:prstDash val="solid"/>
          </a:ln>
          <a:effectLst>
            <a:outerShdw blurRad="25400" dist="50800" dir="2700000" algn="bl" rotWithShape="0">
              <a:srgbClr val="102A43">
                <a:alpha val="14000"/>
              </a:srgbClr>
            </a:outerShdw>
          </a:effectLst>
        </p:spPr>
        <p:txBody>
          <a:bodyPr/>
          <a:lstStyle/>
          <a:p>
            <a:endParaRPr lang="en-US"/>
          </a:p>
        </p:txBody>
      </p:sp>
      <p:sp>
        <p:nvSpPr>
          <p:cNvPr id="6" name="Shape 4"/>
          <p:cNvSpPr/>
          <p:nvPr/>
        </p:nvSpPr>
        <p:spPr>
          <a:xfrm>
            <a:off x="841248" y="1993392"/>
            <a:ext cx="457200" cy="457200"/>
          </a:xfrm>
          <a:prstGeom prst="ellipse">
            <a:avLst/>
          </a:prstGeom>
          <a:solidFill>
            <a:srgbClr val="2FA36B"/>
          </a:solidFill>
          <a:ln w="12700">
            <a:solidFill>
              <a:srgbClr val="2FA36B"/>
            </a:solidFill>
            <a:prstDash val="solid"/>
          </a:ln>
        </p:spPr>
        <p:txBody>
          <a:bodyPr/>
          <a:lstStyle/>
          <a:p>
            <a:endParaRPr lang="en-US"/>
          </a:p>
        </p:txBody>
      </p:sp>
      <p:sp>
        <p:nvSpPr>
          <p:cNvPr id="7" name="Text 5"/>
          <p:cNvSpPr/>
          <p:nvPr/>
        </p:nvSpPr>
        <p:spPr>
          <a:xfrm>
            <a:off x="841248" y="2103120"/>
            <a:ext cx="457200" cy="128016"/>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1</a:t>
            </a:r>
            <a:endParaRPr lang="en-US" sz="1000" dirty="0"/>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55848" y="2011680"/>
            <a:ext cx="384048" cy="384048"/>
          </a:xfrm>
          <a:prstGeom prst="rect">
            <a:avLst/>
          </a:prstGeom>
        </p:spPr>
      </p:pic>
      <p:sp>
        <p:nvSpPr>
          <p:cNvPr id="9" name="Text 6"/>
          <p:cNvSpPr/>
          <p:nvPr/>
        </p:nvSpPr>
        <p:spPr>
          <a:xfrm>
            <a:off x="1435608" y="2020824"/>
            <a:ext cx="1691640" cy="274320"/>
          </a:xfrm>
          <a:prstGeom prst="rect">
            <a:avLst/>
          </a:prstGeom>
          <a:noFill/>
          <a:ln/>
        </p:spPr>
        <p:txBody>
          <a:bodyPr wrap="square" lIns="0" tIns="0" rIns="0" bIns="0" rtlCol="0" anchor="ctr"/>
          <a:lstStyle/>
          <a:p>
            <a:pPr marL="0" indent="0">
              <a:buNone/>
            </a:pPr>
            <a:r>
              <a:rPr lang="en-US" sz="1600" b="1" dirty="0">
                <a:solidFill>
                  <a:srgbClr val="102A43"/>
                </a:solidFill>
                <a:latin typeface="Aptos Display" pitchFamily="34" charset="0"/>
                <a:ea typeface="Aptos Display" pitchFamily="34" charset="-122"/>
                <a:cs typeface="Aptos Display" pitchFamily="34" charset="-120"/>
              </a:rPr>
              <a:t>Retrieve</a:t>
            </a:r>
            <a:endParaRPr lang="en-US" sz="1600" dirty="0"/>
          </a:p>
        </p:txBody>
      </p:sp>
      <p:sp>
        <p:nvSpPr>
          <p:cNvPr id="10" name="Shape 7"/>
          <p:cNvSpPr/>
          <p:nvPr/>
        </p:nvSpPr>
        <p:spPr>
          <a:xfrm>
            <a:off x="859536" y="2679192"/>
            <a:ext cx="2980944" cy="1572768"/>
          </a:xfrm>
          <a:prstGeom prst="roundRect">
            <a:avLst/>
          </a:prstGeom>
          <a:solidFill>
            <a:srgbClr val="EDF2F5"/>
          </a:solidFill>
          <a:ln w="12700">
            <a:solidFill>
              <a:srgbClr val="DDE6EC"/>
            </a:solidFill>
            <a:prstDash val="solid"/>
          </a:ln>
        </p:spPr>
        <p:txBody>
          <a:bodyPr/>
          <a:lstStyle/>
          <a:p>
            <a:endParaRPr lang="en-US"/>
          </a:p>
        </p:txBody>
      </p:sp>
      <p:sp>
        <p:nvSpPr>
          <p:cNvPr id="11" name="Text 8"/>
          <p:cNvSpPr/>
          <p:nvPr/>
        </p:nvSpPr>
        <p:spPr>
          <a:xfrm>
            <a:off x="1069848" y="2953512"/>
            <a:ext cx="2560320" cy="960120"/>
          </a:xfrm>
          <a:prstGeom prst="rect">
            <a:avLst/>
          </a:prstGeom>
          <a:noFill/>
          <a:ln/>
        </p:spPr>
        <p:txBody>
          <a:bodyPr wrap="square" lIns="0" tIns="0" rIns="0" bIns="0" rtlCol="0" anchor="ctr">
            <a:normAutofit/>
          </a:bodyPr>
          <a:lstStyle/>
          <a:p>
            <a:pPr marL="0" indent="0" algn="ctr">
              <a:buNone/>
            </a:pPr>
            <a:r>
              <a:rPr lang="en-US" sz="1120" i="1" dirty="0">
                <a:solidFill>
                  <a:srgbClr val="233746"/>
                </a:solidFill>
                <a:latin typeface="Aptos" pitchFamily="34" charset="0"/>
                <a:ea typeface="Aptos" pitchFamily="34" charset="-122"/>
                <a:cs typeface="Aptos" pitchFamily="34" charset="-120"/>
              </a:rPr>
              <a:t>"Get work request WR-1001 and explain what is blocking approval."</a:t>
            </a:r>
            <a:endParaRPr lang="en-US" sz="1120" dirty="0"/>
          </a:p>
        </p:txBody>
      </p:sp>
      <p:sp>
        <p:nvSpPr>
          <p:cNvPr id="12" name="Shape 9"/>
          <p:cNvSpPr/>
          <p:nvPr/>
        </p:nvSpPr>
        <p:spPr>
          <a:xfrm>
            <a:off x="932688" y="4718304"/>
            <a:ext cx="2834640" cy="310896"/>
          </a:xfrm>
          <a:prstGeom prst="roundRect">
            <a:avLst>
              <a:gd name="adj" fmla="val 23529"/>
            </a:avLst>
          </a:prstGeom>
          <a:solidFill>
            <a:srgbClr val="2FA36B"/>
          </a:solidFill>
          <a:ln w="12700">
            <a:solidFill>
              <a:srgbClr val="2FA36B"/>
            </a:solidFill>
            <a:prstDash val="solid"/>
          </a:ln>
        </p:spPr>
        <p:txBody>
          <a:bodyPr/>
          <a:lstStyle/>
          <a:p>
            <a:endParaRPr lang="en-US"/>
          </a:p>
        </p:txBody>
      </p:sp>
      <p:sp>
        <p:nvSpPr>
          <p:cNvPr id="13" name="Text 10"/>
          <p:cNvSpPr/>
          <p:nvPr/>
        </p:nvSpPr>
        <p:spPr>
          <a:xfrm>
            <a:off x="1005840" y="4782312"/>
            <a:ext cx="2688336" cy="14630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AUTOMATIC READ AND GROUNDED SUMMARY</a:t>
            </a:r>
            <a:endParaRPr lang="en-US" sz="850" dirty="0"/>
          </a:p>
        </p:txBody>
      </p:sp>
      <p:sp>
        <p:nvSpPr>
          <p:cNvPr id="14" name="Shape 11"/>
          <p:cNvSpPr/>
          <p:nvPr/>
        </p:nvSpPr>
        <p:spPr>
          <a:xfrm>
            <a:off x="4462272" y="1783080"/>
            <a:ext cx="3383280" cy="3840480"/>
          </a:xfrm>
          <a:prstGeom prst="roundRect">
            <a:avLst/>
          </a:prstGeom>
          <a:solidFill>
            <a:srgbClr val="FFFFFF"/>
          </a:solidFill>
          <a:ln w="16510">
            <a:solidFill>
              <a:srgbClr val="4F8EF7"/>
            </a:solidFill>
            <a:prstDash val="solid"/>
          </a:ln>
          <a:effectLst>
            <a:outerShdw blurRad="25400" dist="50800" dir="2700000" algn="bl" rotWithShape="0">
              <a:srgbClr val="102A43">
                <a:alpha val="14000"/>
              </a:srgbClr>
            </a:outerShdw>
          </a:effectLst>
        </p:spPr>
        <p:txBody>
          <a:bodyPr/>
          <a:lstStyle/>
          <a:p>
            <a:endParaRPr lang="en-US"/>
          </a:p>
        </p:txBody>
      </p:sp>
      <p:sp>
        <p:nvSpPr>
          <p:cNvPr id="15" name="Shape 12"/>
          <p:cNvSpPr/>
          <p:nvPr/>
        </p:nvSpPr>
        <p:spPr>
          <a:xfrm>
            <a:off x="4645152" y="1993392"/>
            <a:ext cx="457200" cy="457200"/>
          </a:xfrm>
          <a:prstGeom prst="ellipse">
            <a:avLst/>
          </a:prstGeom>
          <a:solidFill>
            <a:srgbClr val="4F8EF7"/>
          </a:solidFill>
          <a:ln w="12700">
            <a:solidFill>
              <a:srgbClr val="4F8EF7"/>
            </a:solidFill>
            <a:prstDash val="solid"/>
          </a:ln>
        </p:spPr>
        <p:txBody>
          <a:bodyPr/>
          <a:lstStyle/>
          <a:p>
            <a:endParaRPr lang="en-US"/>
          </a:p>
        </p:txBody>
      </p:sp>
      <p:sp>
        <p:nvSpPr>
          <p:cNvPr id="16" name="Text 13"/>
          <p:cNvSpPr/>
          <p:nvPr/>
        </p:nvSpPr>
        <p:spPr>
          <a:xfrm>
            <a:off x="4645152" y="2103120"/>
            <a:ext cx="457200" cy="128016"/>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2</a:t>
            </a:r>
            <a:endParaRPr lang="en-US" sz="1000" dirty="0"/>
          </a:p>
        </p:txBody>
      </p:sp>
      <p:pic>
        <p:nvPicPr>
          <p:cNvPr id="1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59752" y="2011680"/>
            <a:ext cx="384048" cy="384048"/>
          </a:xfrm>
          <a:prstGeom prst="rect">
            <a:avLst/>
          </a:prstGeom>
        </p:spPr>
      </p:pic>
      <p:sp>
        <p:nvSpPr>
          <p:cNvPr id="18" name="Text 14"/>
          <p:cNvSpPr/>
          <p:nvPr/>
        </p:nvSpPr>
        <p:spPr>
          <a:xfrm>
            <a:off x="5239512" y="2020824"/>
            <a:ext cx="1691640" cy="274320"/>
          </a:xfrm>
          <a:prstGeom prst="rect">
            <a:avLst/>
          </a:prstGeom>
          <a:noFill/>
          <a:ln/>
        </p:spPr>
        <p:txBody>
          <a:bodyPr wrap="square" lIns="0" tIns="0" rIns="0" bIns="0" rtlCol="0" anchor="ctr"/>
          <a:lstStyle/>
          <a:p>
            <a:pPr marL="0" indent="0">
              <a:buNone/>
            </a:pPr>
            <a:r>
              <a:rPr lang="en-US" sz="1600" b="1" dirty="0">
                <a:solidFill>
                  <a:srgbClr val="102A43"/>
                </a:solidFill>
                <a:latin typeface="Aptos Display" pitchFamily="34" charset="0"/>
                <a:ea typeface="Aptos Display" pitchFamily="34" charset="-122"/>
                <a:cs typeface="Aptos Display" pitchFamily="34" charset="-120"/>
              </a:rPr>
              <a:t>Recommend</a:t>
            </a:r>
            <a:endParaRPr lang="en-US" sz="1600" dirty="0"/>
          </a:p>
        </p:txBody>
      </p:sp>
      <p:sp>
        <p:nvSpPr>
          <p:cNvPr id="19" name="Shape 15"/>
          <p:cNvSpPr/>
          <p:nvPr/>
        </p:nvSpPr>
        <p:spPr>
          <a:xfrm>
            <a:off x="4663440" y="2679192"/>
            <a:ext cx="2980944" cy="1572768"/>
          </a:xfrm>
          <a:prstGeom prst="roundRect">
            <a:avLst/>
          </a:prstGeom>
          <a:solidFill>
            <a:srgbClr val="EDF2F5"/>
          </a:solidFill>
          <a:ln w="12700">
            <a:solidFill>
              <a:srgbClr val="DDE6EC"/>
            </a:solidFill>
            <a:prstDash val="solid"/>
          </a:ln>
        </p:spPr>
        <p:txBody>
          <a:bodyPr/>
          <a:lstStyle/>
          <a:p>
            <a:endParaRPr lang="en-US"/>
          </a:p>
        </p:txBody>
      </p:sp>
      <p:sp>
        <p:nvSpPr>
          <p:cNvPr id="20" name="Text 16"/>
          <p:cNvSpPr/>
          <p:nvPr/>
        </p:nvSpPr>
        <p:spPr>
          <a:xfrm>
            <a:off x="4873752" y="2953512"/>
            <a:ext cx="2560320" cy="960120"/>
          </a:xfrm>
          <a:prstGeom prst="rect">
            <a:avLst/>
          </a:prstGeom>
          <a:noFill/>
          <a:ln/>
        </p:spPr>
        <p:txBody>
          <a:bodyPr wrap="square" lIns="0" tIns="0" rIns="0" bIns="0" rtlCol="0" anchor="ctr">
            <a:normAutofit/>
          </a:bodyPr>
          <a:lstStyle/>
          <a:p>
            <a:pPr marL="0" indent="0" algn="ctr">
              <a:buNone/>
            </a:pPr>
            <a:r>
              <a:rPr lang="en-US" sz="1120" i="1" dirty="0">
                <a:solidFill>
                  <a:srgbClr val="233746"/>
                </a:solidFill>
                <a:latin typeface="Aptos" pitchFamily="34" charset="0"/>
                <a:ea typeface="Aptos" pitchFamily="34" charset="-122"/>
                <a:cs typeface="Aptos" pitchFamily="34" charset="-120"/>
              </a:rPr>
              <a:t>"What information should be collected before this request can move forward?"</a:t>
            </a:r>
            <a:endParaRPr lang="en-US" sz="1120" dirty="0"/>
          </a:p>
        </p:txBody>
      </p:sp>
      <p:sp>
        <p:nvSpPr>
          <p:cNvPr id="21" name="Shape 17"/>
          <p:cNvSpPr/>
          <p:nvPr/>
        </p:nvSpPr>
        <p:spPr>
          <a:xfrm>
            <a:off x="4736592" y="4718304"/>
            <a:ext cx="2834640" cy="310896"/>
          </a:xfrm>
          <a:prstGeom prst="roundRect">
            <a:avLst>
              <a:gd name="adj" fmla="val 23529"/>
            </a:avLst>
          </a:prstGeom>
          <a:solidFill>
            <a:srgbClr val="4F8EF7"/>
          </a:solidFill>
          <a:ln w="12700">
            <a:solidFill>
              <a:srgbClr val="4F8EF7"/>
            </a:solidFill>
            <a:prstDash val="solid"/>
          </a:ln>
        </p:spPr>
        <p:txBody>
          <a:bodyPr/>
          <a:lstStyle/>
          <a:p>
            <a:endParaRPr lang="en-US"/>
          </a:p>
        </p:txBody>
      </p:sp>
      <p:sp>
        <p:nvSpPr>
          <p:cNvPr id="22" name="Text 18"/>
          <p:cNvSpPr/>
          <p:nvPr/>
        </p:nvSpPr>
        <p:spPr>
          <a:xfrm>
            <a:off x="4809744" y="4782312"/>
            <a:ext cx="2688336" cy="14630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REASONING OVER TOOL OUTPUT</a:t>
            </a:r>
            <a:endParaRPr lang="en-US" sz="850" dirty="0"/>
          </a:p>
        </p:txBody>
      </p:sp>
      <p:sp>
        <p:nvSpPr>
          <p:cNvPr id="23" name="Shape 19"/>
          <p:cNvSpPr/>
          <p:nvPr/>
        </p:nvSpPr>
        <p:spPr>
          <a:xfrm>
            <a:off x="8266176" y="1783080"/>
            <a:ext cx="3383280" cy="3840480"/>
          </a:xfrm>
          <a:prstGeom prst="roundRect">
            <a:avLst/>
          </a:prstGeom>
          <a:solidFill>
            <a:srgbClr val="FFFFFF"/>
          </a:solidFill>
          <a:ln w="16510">
            <a:solidFill>
              <a:srgbClr val="FF7A59"/>
            </a:solidFill>
            <a:prstDash val="solid"/>
          </a:ln>
          <a:effectLst>
            <a:outerShdw blurRad="25400" dist="50800" dir="2700000" algn="bl" rotWithShape="0">
              <a:srgbClr val="102A43">
                <a:alpha val="14000"/>
              </a:srgbClr>
            </a:outerShdw>
          </a:effectLst>
        </p:spPr>
        <p:txBody>
          <a:bodyPr/>
          <a:lstStyle/>
          <a:p>
            <a:endParaRPr lang="en-US"/>
          </a:p>
        </p:txBody>
      </p:sp>
      <p:sp>
        <p:nvSpPr>
          <p:cNvPr id="24" name="Shape 20"/>
          <p:cNvSpPr/>
          <p:nvPr/>
        </p:nvSpPr>
        <p:spPr>
          <a:xfrm>
            <a:off x="8449056" y="1993392"/>
            <a:ext cx="457200" cy="457200"/>
          </a:xfrm>
          <a:prstGeom prst="ellipse">
            <a:avLst/>
          </a:prstGeom>
          <a:solidFill>
            <a:srgbClr val="FF7A59"/>
          </a:solidFill>
          <a:ln w="12700">
            <a:solidFill>
              <a:srgbClr val="FF7A59"/>
            </a:solidFill>
            <a:prstDash val="solid"/>
          </a:ln>
        </p:spPr>
        <p:txBody>
          <a:bodyPr/>
          <a:lstStyle/>
          <a:p>
            <a:endParaRPr lang="en-US"/>
          </a:p>
        </p:txBody>
      </p:sp>
      <p:sp>
        <p:nvSpPr>
          <p:cNvPr id="25" name="Text 21"/>
          <p:cNvSpPr/>
          <p:nvPr/>
        </p:nvSpPr>
        <p:spPr>
          <a:xfrm>
            <a:off x="8449056" y="2103120"/>
            <a:ext cx="457200" cy="128016"/>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3</a:t>
            </a:r>
            <a:endParaRPr lang="en-US" sz="1000" dirty="0"/>
          </a:p>
        </p:txBody>
      </p:sp>
      <p:pic>
        <p:nvPicPr>
          <p:cNvPr id="2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963656" y="2011680"/>
            <a:ext cx="384048" cy="384048"/>
          </a:xfrm>
          <a:prstGeom prst="rect">
            <a:avLst/>
          </a:prstGeom>
        </p:spPr>
      </p:pic>
      <p:sp>
        <p:nvSpPr>
          <p:cNvPr id="27" name="Text 22"/>
          <p:cNvSpPr/>
          <p:nvPr/>
        </p:nvSpPr>
        <p:spPr>
          <a:xfrm>
            <a:off x="9043416" y="2020824"/>
            <a:ext cx="1691640" cy="274320"/>
          </a:xfrm>
          <a:prstGeom prst="rect">
            <a:avLst/>
          </a:prstGeom>
          <a:noFill/>
          <a:ln/>
        </p:spPr>
        <p:txBody>
          <a:bodyPr wrap="square" lIns="0" tIns="0" rIns="0" bIns="0" rtlCol="0" anchor="ctr"/>
          <a:lstStyle/>
          <a:p>
            <a:pPr marL="0" indent="0">
              <a:buNone/>
            </a:pPr>
            <a:r>
              <a:rPr lang="en-US" sz="1600" b="1" dirty="0">
                <a:solidFill>
                  <a:srgbClr val="102A43"/>
                </a:solidFill>
                <a:latin typeface="Aptos Display" pitchFamily="34" charset="0"/>
                <a:ea typeface="Aptos Display" pitchFamily="34" charset="-122"/>
                <a:cs typeface="Aptos Display" pitchFamily="34" charset="-120"/>
              </a:rPr>
              <a:t>Change</a:t>
            </a:r>
            <a:endParaRPr lang="en-US" sz="1600" dirty="0"/>
          </a:p>
        </p:txBody>
      </p:sp>
      <p:sp>
        <p:nvSpPr>
          <p:cNvPr id="28" name="Shape 23"/>
          <p:cNvSpPr/>
          <p:nvPr/>
        </p:nvSpPr>
        <p:spPr>
          <a:xfrm>
            <a:off x="8467344" y="2679192"/>
            <a:ext cx="2980944" cy="1572768"/>
          </a:xfrm>
          <a:prstGeom prst="roundRect">
            <a:avLst/>
          </a:prstGeom>
          <a:solidFill>
            <a:srgbClr val="EDF2F5"/>
          </a:solidFill>
          <a:ln w="12700">
            <a:solidFill>
              <a:srgbClr val="DDE6EC"/>
            </a:solidFill>
            <a:prstDash val="solid"/>
          </a:ln>
        </p:spPr>
        <p:txBody>
          <a:bodyPr/>
          <a:lstStyle/>
          <a:p>
            <a:endParaRPr lang="en-US"/>
          </a:p>
        </p:txBody>
      </p:sp>
      <p:sp>
        <p:nvSpPr>
          <p:cNvPr id="29" name="Text 24"/>
          <p:cNvSpPr/>
          <p:nvPr/>
        </p:nvSpPr>
        <p:spPr>
          <a:xfrm>
            <a:off x="8677656" y="2953512"/>
            <a:ext cx="2560320" cy="960120"/>
          </a:xfrm>
          <a:prstGeom prst="rect">
            <a:avLst/>
          </a:prstGeom>
          <a:noFill/>
          <a:ln/>
        </p:spPr>
        <p:txBody>
          <a:bodyPr wrap="square" lIns="0" tIns="0" rIns="0" bIns="0" rtlCol="0" anchor="ctr">
            <a:normAutofit/>
          </a:bodyPr>
          <a:lstStyle/>
          <a:p>
            <a:pPr marL="0" indent="0" algn="ctr">
              <a:buNone/>
            </a:pPr>
            <a:r>
              <a:rPr lang="en-US" sz="1120" i="1" dirty="0">
                <a:solidFill>
                  <a:srgbClr val="233746"/>
                </a:solidFill>
                <a:latin typeface="Aptos" pitchFamily="34" charset="0"/>
                <a:ea typeface="Aptos" pitchFamily="34" charset="-122"/>
                <a:cs typeface="Aptos" pitchFamily="34" charset="-120"/>
              </a:rPr>
              <a:t>"Update the status after the required details are confirmed."</a:t>
            </a:r>
            <a:endParaRPr lang="en-US" sz="1120" dirty="0"/>
          </a:p>
        </p:txBody>
      </p:sp>
      <p:sp>
        <p:nvSpPr>
          <p:cNvPr id="30" name="Shape 25"/>
          <p:cNvSpPr/>
          <p:nvPr/>
        </p:nvSpPr>
        <p:spPr>
          <a:xfrm>
            <a:off x="8540496" y="4718304"/>
            <a:ext cx="2834640" cy="310896"/>
          </a:xfrm>
          <a:prstGeom prst="roundRect">
            <a:avLst>
              <a:gd name="adj" fmla="val 23529"/>
            </a:avLst>
          </a:prstGeom>
          <a:solidFill>
            <a:srgbClr val="FF7A59"/>
          </a:solidFill>
          <a:ln w="12700">
            <a:solidFill>
              <a:srgbClr val="FF7A59"/>
            </a:solidFill>
            <a:prstDash val="solid"/>
          </a:ln>
        </p:spPr>
        <p:txBody>
          <a:bodyPr/>
          <a:lstStyle/>
          <a:p>
            <a:endParaRPr lang="en-US"/>
          </a:p>
        </p:txBody>
      </p:sp>
      <p:sp>
        <p:nvSpPr>
          <p:cNvPr id="31" name="Text 26"/>
          <p:cNvSpPr/>
          <p:nvPr/>
        </p:nvSpPr>
        <p:spPr>
          <a:xfrm>
            <a:off x="8613648" y="4782312"/>
            <a:ext cx="2688336" cy="146304"/>
          </a:xfrm>
          <a:prstGeom prst="rect">
            <a:avLst/>
          </a:prstGeom>
          <a:noFill/>
          <a:ln/>
        </p:spPr>
        <p:txBody>
          <a:bodyPr wrap="square" lIns="0" tIns="0" rIns="0" bIns="0" rtlCol="0" anchor="ctr">
            <a:normAutofit/>
          </a:bodyPr>
          <a:lstStyle/>
          <a:p>
            <a:pPr marL="0" indent="0" algn="ctr">
              <a:buNone/>
            </a:pPr>
            <a:r>
              <a:rPr lang="en-US" sz="850" b="1" dirty="0">
                <a:solidFill>
                  <a:srgbClr val="102A43"/>
                </a:solidFill>
                <a:latin typeface="Aptos" pitchFamily="34" charset="0"/>
                <a:ea typeface="Aptos" pitchFamily="34" charset="-122"/>
                <a:cs typeface="Aptos" pitchFamily="34" charset="-120"/>
              </a:rPr>
              <a:t>APPROVAL BEFORE EXECUTION</a:t>
            </a:r>
            <a:endParaRPr lang="en-US" sz="850" dirty="0"/>
          </a:p>
        </p:txBody>
      </p:sp>
      <p:sp>
        <p:nvSpPr>
          <p:cNvPr id="32" name="Text 27"/>
          <p:cNvSpPr/>
          <p:nvPr/>
        </p:nvSpPr>
        <p:spPr>
          <a:xfrm>
            <a:off x="566928" y="6528816"/>
            <a:ext cx="4389120" cy="146304"/>
          </a:xfrm>
          <a:prstGeom prst="rect">
            <a:avLst/>
          </a:prstGeom>
          <a:noFill/>
          <a:ln/>
        </p:spPr>
        <p:txBody>
          <a:bodyPr wrap="square" lIns="0" tIns="0" rIns="0" bIns="0" rtlCol="0" anchor="ctr"/>
          <a:lstStyle/>
          <a:p>
            <a:pPr marL="0" indent="0">
              <a:buNone/>
            </a:pPr>
            <a:r>
              <a:rPr lang="en-US" sz="750" dirty="0">
                <a:solidFill>
                  <a:srgbClr val="748494"/>
                </a:solidFill>
                <a:latin typeface="Aptos" pitchFamily="34" charset="0"/>
                <a:ea typeface="Aptos" pitchFamily="34" charset="-122"/>
                <a:cs typeface="Aptos" pitchFamily="34" charset="-120"/>
              </a:rPr>
              <a:t>Lab 6 output: end-to-end validation and action plan</a:t>
            </a:r>
            <a:endParaRPr lang="en-US" sz="750" dirty="0"/>
          </a:p>
        </p:txBody>
      </p:sp>
      <p:sp>
        <p:nvSpPr>
          <p:cNvPr id="33" name="Slide Number Placeholder 0"/>
          <p:cNvSpPr>
            <a:spLocks noGrp="1"/>
          </p:cNvSpPr>
          <p:nvPr>
            <p:ph type="sldNum" sz="quarter" idx="4294967295"/>
          </p:nvPr>
        </p:nvSpPr>
        <p:spPr>
          <a:xfrm>
            <a:off x="11109960" y="6510528"/>
            <a:ext cx="548640"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748494"/>
                </a:solidFill>
                <a:latin typeface="Aptos"/>
                <a:ea typeface="Aptos"/>
                <a:cs typeface="Aptos"/>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40080" y="292608"/>
            <a:ext cx="2926080" cy="201168"/>
          </a:xfrm>
          <a:prstGeom prst="rect">
            <a:avLst/>
          </a:prstGeom>
          <a:noFill/>
          <a:ln/>
        </p:spPr>
        <p:txBody>
          <a:bodyPr wrap="square" lIns="254" tIns="254" rIns="254" bIns="254" rtlCol="0" anchor="ctr"/>
          <a:lstStyle/>
          <a:p>
            <a:pPr marL="0" indent="0">
              <a:buNone/>
            </a:pPr>
            <a:r>
              <a:rPr lang="en-US" sz="900" b="1" kern="0" spc="140" dirty="0">
                <a:solidFill>
                  <a:srgbClr val="0F8B8D"/>
                </a:solidFill>
                <a:latin typeface="Aptos" pitchFamily="34" charset="0"/>
                <a:ea typeface="Aptos" pitchFamily="34" charset="-122"/>
                <a:cs typeface="Aptos" pitchFamily="34" charset="-120"/>
              </a:rPr>
              <a:t> PRODUCTION ADAPTATION</a:t>
            </a:r>
            <a:endParaRPr lang="en-US" sz="900" dirty="0"/>
          </a:p>
        </p:txBody>
      </p:sp>
      <p:sp>
        <p:nvSpPr>
          <p:cNvPr id="3" name="Text 1"/>
          <p:cNvSpPr/>
          <p:nvPr/>
        </p:nvSpPr>
        <p:spPr>
          <a:xfrm>
            <a:off x="640080" y="548640"/>
            <a:ext cx="10835640" cy="502920"/>
          </a:xfrm>
          <a:prstGeom prst="rect">
            <a:avLst/>
          </a:prstGeom>
          <a:noFill/>
          <a:ln/>
        </p:spPr>
        <p:txBody>
          <a:bodyPr wrap="square" lIns="0" tIns="0" rIns="0" bIns="0" rtlCol="0" anchor="ctr">
            <a:normAutofit/>
          </a:bodyPr>
          <a:lstStyle/>
          <a:p>
            <a:pPr marL="0" indent="0">
              <a:buNone/>
            </a:pPr>
            <a:r>
              <a:rPr lang="en-US" sz="2700" b="1" dirty="0">
                <a:solidFill>
                  <a:srgbClr val="102A43"/>
                </a:solidFill>
                <a:latin typeface="Aptos Display" pitchFamily="34" charset="0"/>
                <a:ea typeface="Aptos Display" pitchFamily="34" charset="-122"/>
                <a:cs typeface="Aptos Display" pitchFamily="34" charset="-120"/>
              </a:rPr>
              <a:t>Replace workshop shortcuts with owned platform decisions</a:t>
            </a:r>
            <a:endParaRPr lang="en-US" sz="2700" dirty="0"/>
          </a:p>
        </p:txBody>
      </p:sp>
      <p:sp>
        <p:nvSpPr>
          <p:cNvPr id="4" name="Text 2"/>
          <p:cNvSpPr/>
          <p:nvPr/>
        </p:nvSpPr>
        <p:spPr>
          <a:xfrm>
            <a:off x="658368" y="1078992"/>
            <a:ext cx="10698480" cy="310896"/>
          </a:xfrm>
          <a:prstGeom prst="rect">
            <a:avLst/>
          </a:prstGeom>
          <a:noFill/>
          <a:ln/>
        </p:spPr>
        <p:txBody>
          <a:bodyPr wrap="square" lIns="254" tIns="254" rIns="254" bIns="254" rtlCol="0" anchor="ctr">
            <a:normAutofit/>
          </a:bodyPr>
          <a:lstStyle/>
          <a:p>
            <a:pPr marL="0" indent="0">
              <a:buNone/>
            </a:pPr>
            <a:r>
              <a:rPr lang="en-US" sz="1250" dirty="0">
                <a:solidFill>
                  <a:srgbClr val="4F6474"/>
                </a:solidFill>
                <a:latin typeface="Aptos" pitchFamily="34" charset="0"/>
                <a:ea typeface="Aptos" pitchFamily="34" charset="-122"/>
                <a:cs typeface="Aptos" pitchFamily="34" charset="-120"/>
              </a:rPr>
              <a:t> The reference pattern is reusable. The production implementation must be explicit about each boundary.</a:t>
            </a:r>
            <a:endParaRPr lang="en-US" sz="1250" dirty="0"/>
          </a:p>
        </p:txBody>
      </p:sp>
      <p:sp>
        <p:nvSpPr>
          <p:cNvPr id="5" name="Text 3"/>
          <p:cNvSpPr/>
          <p:nvPr/>
        </p:nvSpPr>
        <p:spPr>
          <a:xfrm>
            <a:off x="3429000" y="1664208"/>
            <a:ext cx="2194560" cy="228600"/>
          </a:xfrm>
          <a:prstGeom prst="rect">
            <a:avLst/>
          </a:prstGeom>
          <a:noFill/>
          <a:ln/>
        </p:spPr>
        <p:txBody>
          <a:bodyPr wrap="square" lIns="0" tIns="0" rIns="0" bIns="0" rtlCol="0" anchor="ctr"/>
          <a:lstStyle/>
          <a:p>
            <a:pPr marL="0" indent="0" algn="ctr">
              <a:buNone/>
            </a:pPr>
            <a:r>
              <a:rPr lang="en-US" sz="1400" b="1" dirty="0">
                <a:solidFill>
                  <a:srgbClr val="4F6474"/>
                </a:solidFill>
                <a:latin typeface="Aptos Display" pitchFamily="34" charset="0"/>
                <a:ea typeface="Aptos Display" pitchFamily="34" charset="-122"/>
                <a:cs typeface="Aptos Display" pitchFamily="34" charset="-120"/>
              </a:rPr>
              <a:t>Workshop baseline</a:t>
            </a:r>
            <a:endParaRPr lang="en-US" sz="1400" dirty="0"/>
          </a:p>
        </p:txBody>
      </p:sp>
      <p:sp>
        <p:nvSpPr>
          <p:cNvPr id="6" name="Text 4"/>
          <p:cNvSpPr/>
          <p:nvPr/>
        </p:nvSpPr>
        <p:spPr>
          <a:xfrm>
            <a:off x="7744968" y="1664208"/>
            <a:ext cx="2286000" cy="228600"/>
          </a:xfrm>
          <a:prstGeom prst="rect">
            <a:avLst/>
          </a:prstGeom>
          <a:noFill/>
          <a:ln/>
        </p:spPr>
        <p:txBody>
          <a:bodyPr wrap="square" lIns="0" tIns="0" rIns="0" bIns="0" rtlCol="0" anchor="ctr"/>
          <a:lstStyle/>
          <a:p>
            <a:pPr marL="0" indent="0" algn="ctr">
              <a:buNone/>
            </a:pPr>
            <a:r>
              <a:rPr lang="en-US" sz="1400" b="1" dirty="0">
                <a:solidFill>
                  <a:srgbClr val="102A43"/>
                </a:solidFill>
                <a:latin typeface="Aptos Display" pitchFamily="34" charset="0"/>
                <a:ea typeface="Aptos Display" pitchFamily="34" charset="-122"/>
                <a:cs typeface="Aptos Display" pitchFamily="34" charset="-120"/>
              </a:rPr>
              <a:t>Production decision</a:t>
            </a:r>
            <a:endParaRPr lang="en-US" sz="1400" dirty="0"/>
          </a:p>
        </p:txBody>
      </p:sp>
      <p:sp>
        <p:nvSpPr>
          <p:cNvPr id="7" name="Shape 5"/>
          <p:cNvSpPr/>
          <p:nvPr/>
        </p:nvSpPr>
        <p:spPr>
          <a:xfrm>
            <a:off x="658368" y="2084832"/>
            <a:ext cx="1965960" cy="548640"/>
          </a:xfrm>
          <a:prstGeom prst="roundRect">
            <a:avLst/>
          </a:prstGeom>
          <a:solidFill>
            <a:srgbClr val="4F8EF7"/>
          </a:solidFill>
          <a:ln w="12700">
            <a:solidFill>
              <a:srgbClr val="4F8EF7"/>
            </a:solidFill>
            <a:prstDash val="solid"/>
          </a:ln>
        </p:spPr>
        <p:txBody>
          <a:bodyPr/>
          <a:lstStyle/>
          <a:p>
            <a:endParaRPr lang="en-US"/>
          </a:p>
        </p:txBody>
      </p:sp>
      <p:sp>
        <p:nvSpPr>
          <p:cNvPr id="8" name="Text 6"/>
          <p:cNvSpPr/>
          <p:nvPr/>
        </p:nvSpPr>
        <p:spPr>
          <a:xfrm>
            <a:off x="868680" y="2249424"/>
            <a:ext cx="1545336" cy="182880"/>
          </a:xfrm>
          <a:prstGeom prst="rect">
            <a:avLst/>
          </a:prstGeom>
          <a:noFill/>
          <a:ln/>
        </p:spPr>
        <p:txBody>
          <a:bodyPr wrap="square" lIns="0" tIns="0" rIns="0" bIns="0" rtlCol="0" anchor="ctr"/>
          <a:lstStyle/>
          <a:p>
            <a:pPr marL="0" indent="0" algn="ctr">
              <a:buNone/>
            </a:pPr>
            <a:r>
              <a:rPr lang="en-US" sz="1180" b="1" dirty="0">
                <a:solidFill>
                  <a:srgbClr val="FFFFFF"/>
                </a:solidFill>
                <a:latin typeface="Aptos Display" pitchFamily="34" charset="0"/>
                <a:ea typeface="Aptos Display" pitchFamily="34" charset="-122"/>
                <a:cs typeface="Aptos Display" pitchFamily="34" charset="-120"/>
              </a:rPr>
              <a:t>Backend</a:t>
            </a:r>
            <a:endParaRPr lang="en-US" sz="1180" dirty="0"/>
          </a:p>
        </p:txBody>
      </p:sp>
      <p:sp>
        <p:nvSpPr>
          <p:cNvPr id="9" name="Shape 7"/>
          <p:cNvSpPr/>
          <p:nvPr/>
        </p:nvSpPr>
        <p:spPr>
          <a:xfrm>
            <a:off x="2788920" y="2084832"/>
            <a:ext cx="3337560" cy="548640"/>
          </a:xfrm>
          <a:prstGeom prst="roundRect">
            <a:avLst/>
          </a:prstGeom>
          <a:solidFill>
            <a:srgbClr val="FFFFFF"/>
          </a:solidFill>
          <a:ln w="12700">
            <a:solidFill>
              <a:srgbClr val="DDE6EC"/>
            </a:solidFill>
            <a:prstDash val="solid"/>
          </a:ln>
        </p:spPr>
        <p:txBody>
          <a:bodyPr/>
          <a:lstStyle/>
          <a:p>
            <a:endParaRPr lang="en-US"/>
          </a:p>
        </p:txBody>
      </p:sp>
      <p:sp>
        <p:nvSpPr>
          <p:cNvPr id="10" name="Text 8"/>
          <p:cNvSpPr/>
          <p:nvPr/>
        </p:nvSpPr>
        <p:spPr>
          <a:xfrm>
            <a:off x="2971800" y="2231136"/>
            <a:ext cx="2971800" cy="210312"/>
          </a:xfrm>
          <a:prstGeom prst="rect">
            <a:avLst/>
          </a:prstGeom>
          <a:noFill/>
          <a:ln/>
        </p:spPr>
        <p:txBody>
          <a:bodyPr wrap="square" lIns="0" tIns="0" rIns="0" bIns="0" rtlCol="0" anchor="ctr">
            <a:normAutofit/>
          </a:bodyPr>
          <a:lstStyle/>
          <a:p>
            <a:pPr marL="0" indent="0" algn="ctr">
              <a:buNone/>
            </a:pPr>
            <a:r>
              <a:rPr lang="en-US" sz="950" dirty="0">
                <a:solidFill>
                  <a:srgbClr val="4F6474"/>
                </a:solidFill>
                <a:latin typeface="Aptos" pitchFamily="34" charset="0"/>
                <a:ea typeface="Aptos" pitchFamily="34" charset="-122"/>
                <a:cs typeface="Aptos" pitchFamily="34" charset="-120"/>
              </a:rPr>
              <a:t>Static mock or public API</a:t>
            </a:r>
            <a:endParaRPr lang="en-US" sz="950" dirty="0"/>
          </a:p>
        </p:txBody>
      </p:sp>
      <p:sp>
        <p:nvSpPr>
          <p:cNvPr id="11" name="Shape 9"/>
          <p:cNvSpPr/>
          <p:nvPr/>
        </p:nvSpPr>
        <p:spPr>
          <a:xfrm>
            <a:off x="6236208" y="2359152"/>
            <a:ext cx="658368" cy="0"/>
          </a:xfrm>
          <a:prstGeom prst="line">
            <a:avLst/>
          </a:prstGeom>
          <a:noFill/>
          <a:ln w="22860">
            <a:solidFill>
              <a:srgbClr val="4F8EF7"/>
            </a:solidFill>
            <a:prstDash val="solid"/>
            <a:tailEnd type="triangle"/>
          </a:ln>
        </p:spPr>
        <p:txBody>
          <a:bodyPr/>
          <a:lstStyle/>
          <a:p>
            <a:endParaRPr lang="en-US"/>
          </a:p>
        </p:txBody>
      </p:sp>
      <p:sp>
        <p:nvSpPr>
          <p:cNvPr id="12" name="Shape 10"/>
          <p:cNvSpPr/>
          <p:nvPr/>
        </p:nvSpPr>
        <p:spPr>
          <a:xfrm>
            <a:off x="7059168" y="2084832"/>
            <a:ext cx="4462272" cy="548640"/>
          </a:xfrm>
          <a:prstGeom prst="roundRect">
            <a:avLst/>
          </a:prstGeom>
          <a:solidFill>
            <a:srgbClr val="4F8EF7"/>
          </a:solidFill>
          <a:ln w="12700">
            <a:solidFill>
              <a:srgbClr val="4F8EF7"/>
            </a:solidFill>
            <a:prstDash val="solid"/>
          </a:ln>
        </p:spPr>
        <p:txBody>
          <a:bodyPr/>
          <a:lstStyle/>
          <a:p>
            <a:endParaRPr lang="en-US"/>
          </a:p>
        </p:txBody>
      </p:sp>
      <p:sp>
        <p:nvSpPr>
          <p:cNvPr id="13" name="Text 11"/>
          <p:cNvSpPr/>
          <p:nvPr/>
        </p:nvSpPr>
        <p:spPr>
          <a:xfrm>
            <a:off x="7296912" y="2212848"/>
            <a:ext cx="3986784" cy="256032"/>
          </a:xfrm>
          <a:prstGeom prst="rect">
            <a:avLst/>
          </a:prstGeom>
          <a:noFill/>
          <a:ln/>
        </p:spPr>
        <p:txBody>
          <a:bodyPr wrap="square" lIns="0" tIns="0" rIns="0" bIns="0" rtlCol="0" anchor="ctr">
            <a:normAutofit/>
          </a:bodyPr>
          <a:lstStyle/>
          <a:p>
            <a:pPr marL="0" indent="0" algn="ctr">
              <a:buNone/>
            </a:pPr>
            <a:r>
              <a:rPr lang="en-US" sz="940" b="1" dirty="0">
                <a:solidFill>
                  <a:srgbClr val="102A43"/>
                </a:solidFill>
                <a:latin typeface="Aptos" pitchFamily="34" charset="0"/>
                <a:ea typeface="Aptos" pitchFamily="34" charset="-122"/>
                <a:cs typeface="Aptos" pitchFamily="34" charset="-120"/>
              </a:rPr>
              <a:t>Enterprise API, data lifecycle, and error contract</a:t>
            </a:r>
            <a:endParaRPr lang="en-US" sz="940" dirty="0"/>
          </a:p>
        </p:txBody>
      </p:sp>
      <p:sp>
        <p:nvSpPr>
          <p:cNvPr id="14" name="Shape 12"/>
          <p:cNvSpPr/>
          <p:nvPr/>
        </p:nvSpPr>
        <p:spPr>
          <a:xfrm>
            <a:off x="658368" y="2816352"/>
            <a:ext cx="1965960" cy="548640"/>
          </a:xfrm>
          <a:prstGeom prst="roundRect">
            <a:avLst/>
          </a:prstGeom>
          <a:solidFill>
            <a:srgbClr val="775DA6"/>
          </a:solidFill>
          <a:ln w="12700">
            <a:solidFill>
              <a:srgbClr val="775DA6"/>
            </a:solidFill>
            <a:prstDash val="solid"/>
          </a:ln>
        </p:spPr>
        <p:txBody>
          <a:bodyPr/>
          <a:lstStyle/>
          <a:p>
            <a:endParaRPr lang="en-US"/>
          </a:p>
        </p:txBody>
      </p:sp>
      <p:sp>
        <p:nvSpPr>
          <p:cNvPr id="15" name="Text 13"/>
          <p:cNvSpPr/>
          <p:nvPr/>
        </p:nvSpPr>
        <p:spPr>
          <a:xfrm>
            <a:off x="868680" y="2980944"/>
            <a:ext cx="1545336" cy="182880"/>
          </a:xfrm>
          <a:prstGeom prst="rect">
            <a:avLst/>
          </a:prstGeom>
          <a:noFill/>
          <a:ln/>
        </p:spPr>
        <p:txBody>
          <a:bodyPr wrap="square" lIns="0" tIns="0" rIns="0" bIns="0" rtlCol="0" anchor="ctr"/>
          <a:lstStyle/>
          <a:p>
            <a:pPr marL="0" indent="0" algn="ctr">
              <a:buNone/>
            </a:pPr>
            <a:r>
              <a:rPr lang="en-US" sz="1180" b="1" dirty="0">
                <a:solidFill>
                  <a:srgbClr val="FFFFFF"/>
                </a:solidFill>
                <a:latin typeface="Aptos Display" pitchFamily="34" charset="0"/>
                <a:ea typeface="Aptos Display" pitchFamily="34" charset="-122"/>
                <a:cs typeface="Aptos Display" pitchFamily="34" charset="-120"/>
              </a:rPr>
              <a:t>Identity</a:t>
            </a:r>
            <a:endParaRPr lang="en-US" sz="1180" dirty="0"/>
          </a:p>
        </p:txBody>
      </p:sp>
      <p:sp>
        <p:nvSpPr>
          <p:cNvPr id="16" name="Shape 14"/>
          <p:cNvSpPr/>
          <p:nvPr/>
        </p:nvSpPr>
        <p:spPr>
          <a:xfrm>
            <a:off x="2788920" y="2816352"/>
            <a:ext cx="3337560" cy="548640"/>
          </a:xfrm>
          <a:prstGeom prst="roundRect">
            <a:avLst/>
          </a:prstGeom>
          <a:solidFill>
            <a:srgbClr val="FFFFFF"/>
          </a:solidFill>
          <a:ln w="12700">
            <a:solidFill>
              <a:srgbClr val="DDE6EC"/>
            </a:solidFill>
            <a:prstDash val="solid"/>
          </a:ln>
        </p:spPr>
        <p:txBody>
          <a:bodyPr/>
          <a:lstStyle/>
          <a:p>
            <a:endParaRPr lang="en-US"/>
          </a:p>
        </p:txBody>
      </p:sp>
      <p:sp>
        <p:nvSpPr>
          <p:cNvPr id="17" name="Text 15"/>
          <p:cNvSpPr/>
          <p:nvPr/>
        </p:nvSpPr>
        <p:spPr>
          <a:xfrm>
            <a:off x="2971800" y="2962656"/>
            <a:ext cx="2971800" cy="210312"/>
          </a:xfrm>
          <a:prstGeom prst="rect">
            <a:avLst/>
          </a:prstGeom>
          <a:noFill/>
          <a:ln/>
        </p:spPr>
        <p:txBody>
          <a:bodyPr wrap="square" lIns="0" tIns="0" rIns="0" bIns="0" rtlCol="0" anchor="ctr">
            <a:normAutofit/>
          </a:bodyPr>
          <a:lstStyle/>
          <a:p>
            <a:pPr marL="0" indent="0" algn="ctr">
              <a:buNone/>
            </a:pPr>
            <a:r>
              <a:rPr lang="en-US" sz="950" dirty="0">
                <a:solidFill>
                  <a:srgbClr val="4F6474"/>
                </a:solidFill>
                <a:latin typeface="Aptos" pitchFamily="34" charset="0"/>
                <a:ea typeface="Aptos" pitchFamily="34" charset="-122"/>
                <a:cs typeface="Aptos" pitchFamily="34" charset="-120"/>
              </a:rPr>
              <a:t>Anonymous or manual bearer</a:t>
            </a:r>
            <a:endParaRPr lang="en-US" sz="950" dirty="0"/>
          </a:p>
        </p:txBody>
      </p:sp>
      <p:sp>
        <p:nvSpPr>
          <p:cNvPr id="18" name="Shape 16"/>
          <p:cNvSpPr/>
          <p:nvPr/>
        </p:nvSpPr>
        <p:spPr>
          <a:xfrm>
            <a:off x="6236208" y="3090672"/>
            <a:ext cx="658368" cy="0"/>
          </a:xfrm>
          <a:prstGeom prst="line">
            <a:avLst/>
          </a:prstGeom>
          <a:noFill/>
          <a:ln w="22860">
            <a:solidFill>
              <a:srgbClr val="775DA6"/>
            </a:solidFill>
            <a:prstDash val="solid"/>
            <a:tailEnd type="triangle"/>
          </a:ln>
        </p:spPr>
        <p:txBody>
          <a:bodyPr/>
          <a:lstStyle/>
          <a:p>
            <a:endParaRPr lang="en-US"/>
          </a:p>
        </p:txBody>
      </p:sp>
      <p:sp>
        <p:nvSpPr>
          <p:cNvPr id="19" name="Shape 17"/>
          <p:cNvSpPr/>
          <p:nvPr/>
        </p:nvSpPr>
        <p:spPr>
          <a:xfrm>
            <a:off x="7059168" y="2816352"/>
            <a:ext cx="4462272" cy="548640"/>
          </a:xfrm>
          <a:prstGeom prst="roundRect">
            <a:avLst/>
          </a:prstGeom>
          <a:solidFill>
            <a:srgbClr val="775DA6"/>
          </a:solidFill>
          <a:ln w="12700">
            <a:solidFill>
              <a:srgbClr val="775DA6"/>
            </a:solidFill>
            <a:prstDash val="solid"/>
          </a:ln>
        </p:spPr>
        <p:txBody>
          <a:bodyPr/>
          <a:lstStyle/>
          <a:p>
            <a:endParaRPr lang="en-US"/>
          </a:p>
        </p:txBody>
      </p:sp>
      <p:sp>
        <p:nvSpPr>
          <p:cNvPr id="20" name="Text 18"/>
          <p:cNvSpPr/>
          <p:nvPr/>
        </p:nvSpPr>
        <p:spPr>
          <a:xfrm>
            <a:off x="7296912" y="2944368"/>
            <a:ext cx="3986784" cy="256032"/>
          </a:xfrm>
          <a:prstGeom prst="rect">
            <a:avLst/>
          </a:prstGeom>
          <a:noFill/>
          <a:ln/>
        </p:spPr>
        <p:txBody>
          <a:bodyPr wrap="square" lIns="0" tIns="0" rIns="0" bIns="0" rtlCol="0" anchor="ctr">
            <a:normAutofit/>
          </a:bodyPr>
          <a:lstStyle/>
          <a:p>
            <a:pPr marL="0" indent="0" algn="ctr">
              <a:buNone/>
            </a:pPr>
            <a:r>
              <a:rPr lang="en-US" sz="940" b="1" dirty="0">
                <a:solidFill>
                  <a:srgbClr val="102A43"/>
                </a:solidFill>
                <a:latin typeface="Aptos" pitchFamily="34" charset="0"/>
                <a:ea typeface="Aptos" pitchFamily="34" charset="-122"/>
                <a:cs typeface="Aptos" pitchFamily="34" charset="-120"/>
              </a:rPr>
              <a:t>Workload and delegated identity with lifecycle ownership</a:t>
            </a:r>
            <a:endParaRPr lang="en-US" sz="940" dirty="0"/>
          </a:p>
        </p:txBody>
      </p:sp>
      <p:sp>
        <p:nvSpPr>
          <p:cNvPr id="21" name="Shape 19"/>
          <p:cNvSpPr/>
          <p:nvPr/>
        </p:nvSpPr>
        <p:spPr>
          <a:xfrm>
            <a:off x="658368" y="3547872"/>
            <a:ext cx="1965960" cy="548640"/>
          </a:xfrm>
          <a:prstGeom prst="roundRect">
            <a:avLst/>
          </a:prstGeom>
          <a:solidFill>
            <a:srgbClr val="0F8B8D"/>
          </a:solidFill>
          <a:ln w="12700">
            <a:solidFill>
              <a:srgbClr val="0F8B8D"/>
            </a:solidFill>
            <a:prstDash val="solid"/>
          </a:ln>
        </p:spPr>
        <p:txBody>
          <a:bodyPr/>
          <a:lstStyle/>
          <a:p>
            <a:endParaRPr lang="en-US"/>
          </a:p>
        </p:txBody>
      </p:sp>
      <p:sp>
        <p:nvSpPr>
          <p:cNvPr id="22" name="Text 20"/>
          <p:cNvSpPr/>
          <p:nvPr/>
        </p:nvSpPr>
        <p:spPr>
          <a:xfrm>
            <a:off x="868680" y="3712464"/>
            <a:ext cx="1545336" cy="182880"/>
          </a:xfrm>
          <a:prstGeom prst="rect">
            <a:avLst/>
          </a:prstGeom>
          <a:noFill/>
          <a:ln/>
        </p:spPr>
        <p:txBody>
          <a:bodyPr wrap="square" lIns="0" tIns="0" rIns="0" bIns="0" rtlCol="0" anchor="ctr"/>
          <a:lstStyle/>
          <a:p>
            <a:pPr marL="0" indent="0" algn="ctr">
              <a:buNone/>
            </a:pPr>
            <a:r>
              <a:rPr lang="en-US" sz="1180" b="1" dirty="0">
                <a:solidFill>
                  <a:srgbClr val="FFFFFF"/>
                </a:solidFill>
                <a:latin typeface="Aptos Display" pitchFamily="34" charset="0"/>
                <a:ea typeface="Aptos Display" pitchFamily="34" charset="-122"/>
                <a:cs typeface="Aptos Display" pitchFamily="34" charset="-120"/>
              </a:rPr>
              <a:t>Network</a:t>
            </a:r>
            <a:endParaRPr lang="en-US" sz="1180" dirty="0"/>
          </a:p>
        </p:txBody>
      </p:sp>
      <p:sp>
        <p:nvSpPr>
          <p:cNvPr id="23" name="Shape 21"/>
          <p:cNvSpPr/>
          <p:nvPr/>
        </p:nvSpPr>
        <p:spPr>
          <a:xfrm>
            <a:off x="2788920" y="3547872"/>
            <a:ext cx="3337560" cy="548640"/>
          </a:xfrm>
          <a:prstGeom prst="roundRect">
            <a:avLst/>
          </a:prstGeom>
          <a:solidFill>
            <a:srgbClr val="FFFFFF"/>
          </a:solidFill>
          <a:ln w="12700">
            <a:solidFill>
              <a:srgbClr val="DDE6EC"/>
            </a:solidFill>
            <a:prstDash val="solid"/>
          </a:ln>
        </p:spPr>
        <p:txBody>
          <a:bodyPr/>
          <a:lstStyle/>
          <a:p>
            <a:endParaRPr lang="en-US"/>
          </a:p>
        </p:txBody>
      </p:sp>
      <p:sp>
        <p:nvSpPr>
          <p:cNvPr id="24" name="Text 22"/>
          <p:cNvSpPr/>
          <p:nvPr/>
        </p:nvSpPr>
        <p:spPr>
          <a:xfrm>
            <a:off x="2971800" y="3694176"/>
            <a:ext cx="2971800" cy="210312"/>
          </a:xfrm>
          <a:prstGeom prst="rect">
            <a:avLst/>
          </a:prstGeom>
          <a:noFill/>
          <a:ln/>
        </p:spPr>
        <p:txBody>
          <a:bodyPr wrap="square" lIns="0" tIns="0" rIns="0" bIns="0" rtlCol="0" anchor="ctr">
            <a:normAutofit/>
          </a:bodyPr>
          <a:lstStyle/>
          <a:p>
            <a:pPr marL="0" indent="0" algn="ctr">
              <a:buNone/>
            </a:pPr>
            <a:r>
              <a:rPr lang="en-US" sz="950" dirty="0">
                <a:solidFill>
                  <a:srgbClr val="4F6474"/>
                </a:solidFill>
                <a:latin typeface="Aptos" pitchFamily="34" charset="0"/>
                <a:ea typeface="Aptos" pitchFamily="34" charset="-122"/>
                <a:cs typeface="Aptos" pitchFamily="34" charset="-120"/>
              </a:rPr>
              <a:t>Public workshop access</a:t>
            </a:r>
            <a:endParaRPr lang="en-US" sz="950" dirty="0"/>
          </a:p>
        </p:txBody>
      </p:sp>
      <p:sp>
        <p:nvSpPr>
          <p:cNvPr id="25" name="Shape 23"/>
          <p:cNvSpPr/>
          <p:nvPr/>
        </p:nvSpPr>
        <p:spPr>
          <a:xfrm>
            <a:off x="6236208" y="3822192"/>
            <a:ext cx="658368" cy="0"/>
          </a:xfrm>
          <a:prstGeom prst="line">
            <a:avLst/>
          </a:prstGeom>
          <a:noFill/>
          <a:ln w="22860">
            <a:solidFill>
              <a:srgbClr val="0F8B8D"/>
            </a:solidFill>
            <a:prstDash val="solid"/>
            <a:tailEnd type="triangle"/>
          </a:ln>
        </p:spPr>
        <p:txBody>
          <a:bodyPr/>
          <a:lstStyle/>
          <a:p>
            <a:endParaRPr lang="en-US"/>
          </a:p>
        </p:txBody>
      </p:sp>
      <p:sp>
        <p:nvSpPr>
          <p:cNvPr id="26" name="Shape 24"/>
          <p:cNvSpPr/>
          <p:nvPr/>
        </p:nvSpPr>
        <p:spPr>
          <a:xfrm>
            <a:off x="7059168" y="3547872"/>
            <a:ext cx="4462272" cy="548640"/>
          </a:xfrm>
          <a:prstGeom prst="roundRect">
            <a:avLst/>
          </a:prstGeom>
          <a:solidFill>
            <a:srgbClr val="0F8B8D"/>
          </a:solidFill>
          <a:ln w="12700">
            <a:solidFill>
              <a:srgbClr val="0F8B8D"/>
            </a:solidFill>
            <a:prstDash val="solid"/>
          </a:ln>
        </p:spPr>
        <p:txBody>
          <a:bodyPr/>
          <a:lstStyle/>
          <a:p>
            <a:endParaRPr lang="en-US"/>
          </a:p>
        </p:txBody>
      </p:sp>
      <p:sp>
        <p:nvSpPr>
          <p:cNvPr id="27" name="Text 25"/>
          <p:cNvSpPr/>
          <p:nvPr/>
        </p:nvSpPr>
        <p:spPr>
          <a:xfrm>
            <a:off x="7296912" y="3675888"/>
            <a:ext cx="3986784" cy="256032"/>
          </a:xfrm>
          <a:prstGeom prst="rect">
            <a:avLst/>
          </a:prstGeom>
          <a:noFill/>
          <a:ln/>
        </p:spPr>
        <p:txBody>
          <a:bodyPr wrap="square" lIns="0" tIns="0" rIns="0" bIns="0" rtlCol="0" anchor="ctr">
            <a:normAutofit/>
          </a:bodyPr>
          <a:lstStyle/>
          <a:p>
            <a:pPr marL="0" indent="0" algn="ctr">
              <a:buNone/>
            </a:pPr>
            <a:r>
              <a:rPr lang="en-US" sz="940" b="1" dirty="0">
                <a:solidFill>
                  <a:srgbClr val="102A43"/>
                </a:solidFill>
                <a:latin typeface="Aptos" pitchFamily="34" charset="0"/>
                <a:ea typeface="Aptos" pitchFamily="34" charset="-122"/>
                <a:cs typeface="Aptos" pitchFamily="34" charset="-120"/>
              </a:rPr>
              <a:t>Private connectivity, DNS, firewall, and egress controls</a:t>
            </a:r>
            <a:endParaRPr lang="en-US" sz="940" dirty="0"/>
          </a:p>
        </p:txBody>
      </p:sp>
      <p:sp>
        <p:nvSpPr>
          <p:cNvPr id="28" name="Shape 26"/>
          <p:cNvSpPr/>
          <p:nvPr/>
        </p:nvSpPr>
        <p:spPr>
          <a:xfrm>
            <a:off x="658368" y="4279392"/>
            <a:ext cx="1965960" cy="548640"/>
          </a:xfrm>
          <a:prstGeom prst="roundRect">
            <a:avLst/>
          </a:prstGeom>
          <a:solidFill>
            <a:srgbClr val="FF7A59"/>
          </a:solidFill>
          <a:ln w="12700">
            <a:solidFill>
              <a:srgbClr val="FF7A59"/>
            </a:solidFill>
            <a:prstDash val="solid"/>
          </a:ln>
        </p:spPr>
        <p:txBody>
          <a:bodyPr/>
          <a:lstStyle/>
          <a:p>
            <a:endParaRPr lang="en-US"/>
          </a:p>
        </p:txBody>
      </p:sp>
      <p:sp>
        <p:nvSpPr>
          <p:cNvPr id="29" name="Text 27"/>
          <p:cNvSpPr/>
          <p:nvPr/>
        </p:nvSpPr>
        <p:spPr>
          <a:xfrm>
            <a:off x="868680" y="4443984"/>
            <a:ext cx="1545336" cy="182880"/>
          </a:xfrm>
          <a:prstGeom prst="rect">
            <a:avLst/>
          </a:prstGeom>
          <a:noFill/>
          <a:ln/>
        </p:spPr>
        <p:txBody>
          <a:bodyPr wrap="square" lIns="0" tIns="0" rIns="0" bIns="0" rtlCol="0" anchor="ctr"/>
          <a:lstStyle/>
          <a:p>
            <a:pPr marL="0" indent="0" algn="ctr">
              <a:buNone/>
            </a:pPr>
            <a:r>
              <a:rPr lang="en-US" sz="1180" b="1" dirty="0">
                <a:solidFill>
                  <a:srgbClr val="102A43"/>
                </a:solidFill>
                <a:latin typeface="Aptos Display" pitchFamily="34" charset="0"/>
                <a:ea typeface="Aptos Display" pitchFamily="34" charset="-122"/>
                <a:cs typeface="Aptos Display" pitchFamily="34" charset="-120"/>
              </a:rPr>
              <a:t>Approvals</a:t>
            </a:r>
            <a:endParaRPr lang="en-US" sz="1180" dirty="0"/>
          </a:p>
        </p:txBody>
      </p:sp>
      <p:sp>
        <p:nvSpPr>
          <p:cNvPr id="30" name="Shape 28"/>
          <p:cNvSpPr/>
          <p:nvPr/>
        </p:nvSpPr>
        <p:spPr>
          <a:xfrm>
            <a:off x="2788920" y="4279392"/>
            <a:ext cx="3337560" cy="548640"/>
          </a:xfrm>
          <a:prstGeom prst="roundRect">
            <a:avLst/>
          </a:prstGeom>
          <a:solidFill>
            <a:srgbClr val="FFFFFF"/>
          </a:solidFill>
          <a:ln w="12700">
            <a:solidFill>
              <a:srgbClr val="DDE6EC"/>
            </a:solidFill>
            <a:prstDash val="solid"/>
          </a:ln>
        </p:spPr>
        <p:txBody>
          <a:bodyPr/>
          <a:lstStyle/>
          <a:p>
            <a:endParaRPr lang="en-US"/>
          </a:p>
        </p:txBody>
      </p:sp>
      <p:sp>
        <p:nvSpPr>
          <p:cNvPr id="31" name="Text 29"/>
          <p:cNvSpPr/>
          <p:nvPr/>
        </p:nvSpPr>
        <p:spPr>
          <a:xfrm>
            <a:off x="2971800" y="4425696"/>
            <a:ext cx="2971800" cy="210312"/>
          </a:xfrm>
          <a:prstGeom prst="rect">
            <a:avLst/>
          </a:prstGeom>
          <a:noFill/>
          <a:ln/>
        </p:spPr>
        <p:txBody>
          <a:bodyPr wrap="square" lIns="0" tIns="0" rIns="0" bIns="0" rtlCol="0" anchor="ctr">
            <a:normAutofit/>
          </a:bodyPr>
          <a:lstStyle/>
          <a:p>
            <a:pPr marL="0" indent="0" algn="ctr">
              <a:buNone/>
            </a:pPr>
            <a:r>
              <a:rPr lang="en-US" sz="950" dirty="0">
                <a:solidFill>
                  <a:srgbClr val="4F6474"/>
                </a:solidFill>
                <a:latin typeface="Aptos" pitchFamily="34" charset="0"/>
                <a:ea typeface="Aptos" pitchFamily="34" charset="-122"/>
                <a:cs typeface="Aptos" pitchFamily="34" charset="-120"/>
              </a:rPr>
              <a:t>Sample tool grouping</a:t>
            </a:r>
            <a:endParaRPr lang="en-US" sz="950" dirty="0"/>
          </a:p>
        </p:txBody>
      </p:sp>
      <p:sp>
        <p:nvSpPr>
          <p:cNvPr id="32" name="Shape 30"/>
          <p:cNvSpPr/>
          <p:nvPr/>
        </p:nvSpPr>
        <p:spPr>
          <a:xfrm>
            <a:off x="6236208" y="4553712"/>
            <a:ext cx="658368" cy="0"/>
          </a:xfrm>
          <a:prstGeom prst="line">
            <a:avLst/>
          </a:prstGeom>
          <a:noFill/>
          <a:ln w="22860">
            <a:solidFill>
              <a:srgbClr val="FF7A59"/>
            </a:solidFill>
            <a:prstDash val="solid"/>
            <a:tailEnd type="triangle"/>
          </a:ln>
        </p:spPr>
        <p:txBody>
          <a:bodyPr/>
          <a:lstStyle/>
          <a:p>
            <a:endParaRPr lang="en-US"/>
          </a:p>
        </p:txBody>
      </p:sp>
      <p:sp>
        <p:nvSpPr>
          <p:cNvPr id="33" name="Shape 31"/>
          <p:cNvSpPr/>
          <p:nvPr/>
        </p:nvSpPr>
        <p:spPr>
          <a:xfrm>
            <a:off x="7059168" y="4279392"/>
            <a:ext cx="4462272" cy="548640"/>
          </a:xfrm>
          <a:prstGeom prst="roundRect">
            <a:avLst/>
          </a:prstGeom>
          <a:solidFill>
            <a:srgbClr val="FF7A59"/>
          </a:solidFill>
          <a:ln w="12700">
            <a:solidFill>
              <a:srgbClr val="FF7A59"/>
            </a:solidFill>
            <a:prstDash val="solid"/>
          </a:ln>
        </p:spPr>
        <p:txBody>
          <a:bodyPr/>
          <a:lstStyle/>
          <a:p>
            <a:endParaRPr lang="en-US"/>
          </a:p>
        </p:txBody>
      </p:sp>
      <p:sp>
        <p:nvSpPr>
          <p:cNvPr id="34" name="Text 32"/>
          <p:cNvSpPr/>
          <p:nvPr/>
        </p:nvSpPr>
        <p:spPr>
          <a:xfrm>
            <a:off x="7296912" y="4407408"/>
            <a:ext cx="3986784" cy="256032"/>
          </a:xfrm>
          <a:prstGeom prst="rect">
            <a:avLst/>
          </a:prstGeom>
          <a:noFill/>
          <a:ln/>
        </p:spPr>
        <p:txBody>
          <a:bodyPr wrap="square" lIns="0" tIns="0" rIns="0" bIns="0" rtlCol="0" anchor="ctr">
            <a:normAutofit/>
          </a:bodyPr>
          <a:lstStyle/>
          <a:p>
            <a:pPr marL="0" indent="0" algn="ctr">
              <a:buNone/>
            </a:pPr>
            <a:r>
              <a:rPr lang="en-US" sz="940" b="1" dirty="0">
                <a:solidFill>
                  <a:srgbClr val="102A43"/>
                </a:solidFill>
                <a:latin typeface="Aptos" pitchFamily="34" charset="0"/>
                <a:ea typeface="Aptos" pitchFamily="34" charset="-122"/>
                <a:cs typeface="Aptos" pitchFamily="34" charset="-120"/>
              </a:rPr>
              <a:t>Risk-based approvals tied to business authority</a:t>
            </a:r>
            <a:endParaRPr lang="en-US" sz="940" dirty="0"/>
          </a:p>
        </p:txBody>
      </p:sp>
      <p:sp>
        <p:nvSpPr>
          <p:cNvPr id="35" name="Shape 33"/>
          <p:cNvSpPr/>
          <p:nvPr/>
        </p:nvSpPr>
        <p:spPr>
          <a:xfrm>
            <a:off x="658368" y="5010912"/>
            <a:ext cx="1965960" cy="548640"/>
          </a:xfrm>
          <a:prstGeom prst="roundRect">
            <a:avLst/>
          </a:prstGeom>
          <a:solidFill>
            <a:srgbClr val="F4B942"/>
          </a:solidFill>
          <a:ln w="12700">
            <a:solidFill>
              <a:srgbClr val="F4B942"/>
            </a:solidFill>
            <a:prstDash val="solid"/>
          </a:ln>
        </p:spPr>
        <p:txBody>
          <a:bodyPr/>
          <a:lstStyle/>
          <a:p>
            <a:endParaRPr lang="en-US"/>
          </a:p>
        </p:txBody>
      </p:sp>
      <p:sp>
        <p:nvSpPr>
          <p:cNvPr id="36" name="Text 34"/>
          <p:cNvSpPr/>
          <p:nvPr/>
        </p:nvSpPr>
        <p:spPr>
          <a:xfrm>
            <a:off x="868680" y="5175504"/>
            <a:ext cx="1545336" cy="182880"/>
          </a:xfrm>
          <a:prstGeom prst="rect">
            <a:avLst/>
          </a:prstGeom>
          <a:noFill/>
          <a:ln/>
        </p:spPr>
        <p:txBody>
          <a:bodyPr wrap="square" lIns="0" tIns="0" rIns="0" bIns="0" rtlCol="0" anchor="ctr"/>
          <a:lstStyle/>
          <a:p>
            <a:pPr marL="0" indent="0" algn="ctr">
              <a:buNone/>
            </a:pPr>
            <a:r>
              <a:rPr lang="en-US" sz="1180" b="1" dirty="0">
                <a:solidFill>
                  <a:srgbClr val="102A43"/>
                </a:solidFill>
                <a:latin typeface="Aptos Display" pitchFamily="34" charset="0"/>
                <a:ea typeface="Aptos Display" pitchFamily="34" charset="-122"/>
                <a:cs typeface="Aptos Display" pitchFamily="34" charset="-120"/>
              </a:rPr>
              <a:t>Operations</a:t>
            </a:r>
            <a:endParaRPr lang="en-US" sz="1180" dirty="0"/>
          </a:p>
        </p:txBody>
      </p:sp>
      <p:sp>
        <p:nvSpPr>
          <p:cNvPr id="37" name="Shape 35"/>
          <p:cNvSpPr/>
          <p:nvPr/>
        </p:nvSpPr>
        <p:spPr>
          <a:xfrm>
            <a:off x="2788920" y="5010912"/>
            <a:ext cx="3337560" cy="548640"/>
          </a:xfrm>
          <a:prstGeom prst="roundRect">
            <a:avLst/>
          </a:prstGeom>
          <a:solidFill>
            <a:srgbClr val="FFFFFF"/>
          </a:solidFill>
          <a:ln w="12700">
            <a:solidFill>
              <a:srgbClr val="DDE6EC"/>
            </a:solidFill>
            <a:prstDash val="solid"/>
          </a:ln>
        </p:spPr>
        <p:txBody>
          <a:bodyPr/>
          <a:lstStyle/>
          <a:p>
            <a:endParaRPr lang="en-US"/>
          </a:p>
        </p:txBody>
      </p:sp>
      <p:sp>
        <p:nvSpPr>
          <p:cNvPr id="38" name="Text 36"/>
          <p:cNvSpPr/>
          <p:nvPr/>
        </p:nvSpPr>
        <p:spPr>
          <a:xfrm>
            <a:off x="2971800" y="5157216"/>
            <a:ext cx="2971800" cy="210312"/>
          </a:xfrm>
          <a:prstGeom prst="rect">
            <a:avLst/>
          </a:prstGeom>
          <a:noFill/>
          <a:ln/>
        </p:spPr>
        <p:txBody>
          <a:bodyPr wrap="square" lIns="0" tIns="0" rIns="0" bIns="0" rtlCol="0" anchor="ctr">
            <a:normAutofit/>
          </a:bodyPr>
          <a:lstStyle/>
          <a:p>
            <a:pPr marL="0" indent="0" algn="ctr">
              <a:buNone/>
            </a:pPr>
            <a:r>
              <a:rPr lang="en-US" sz="950" dirty="0">
                <a:solidFill>
                  <a:srgbClr val="4F6474"/>
                </a:solidFill>
                <a:latin typeface="Aptos" pitchFamily="34" charset="0"/>
                <a:ea typeface="Aptos" pitchFamily="34" charset="-122"/>
                <a:cs typeface="Aptos" pitchFamily="34" charset="-120"/>
              </a:rPr>
              <a:t>Facilitator monitoring</a:t>
            </a:r>
            <a:endParaRPr lang="en-US" sz="950" dirty="0"/>
          </a:p>
        </p:txBody>
      </p:sp>
      <p:sp>
        <p:nvSpPr>
          <p:cNvPr id="39" name="Shape 37"/>
          <p:cNvSpPr/>
          <p:nvPr/>
        </p:nvSpPr>
        <p:spPr>
          <a:xfrm>
            <a:off x="6236208" y="5285232"/>
            <a:ext cx="658368" cy="0"/>
          </a:xfrm>
          <a:prstGeom prst="line">
            <a:avLst/>
          </a:prstGeom>
          <a:noFill/>
          <a:ln w="22860">
            <a:solidFill>
              <a:srgbClr val="F4B942"/>
            </a:solidFill>
            <a:prstDash val="solid"/>
            <a:tailEnd type="triangle"/>
          </a:ln>
        </p:spPr>
        <p:txBody>
          <a:bodyPr/>
          <a:lstStyle/>
          <a:p>
            <a:endParaRPr lang="en-US"/>
          </a:p>
        </p:txBody>
      </p:sp>
      <p:sp>
        <p:nvSpPr>
          <p:cNvPr id="40" name="Shape 38"/>
          <p:cNvSpPr/>
          <p:nvPr/>
        </p:nvSpPr>
        <p:spPr>
          <a:xfrm>
            <a:off x="7059168" y="5010912"/>
            <a:ext cx="4462272" cy="548640"/>
          </a:xfrm>
          <a:prstGeom prst="roundRect">
            <a:avLst/>
          </a:prstGeom>
          <a:solidFill>
            <a:srgbClr val="F4B942"/>
          </a:solidFill>
          <a:ln w="12700">
            <a:solidFill>
              <a:srgbClr val="F4B942"/>
            </a:solidFill>
            <a:prstDash val="solid"/>
          </a:ln>
        </p:spPr>
        <p:txBody>
          <a:bodyPr/>
          <a:lstStyle/>
          <a:p>
            <a:endParaRPr lang="en-US"/>
          </a:p>
        </p:txBody>
      </p:sp>
      <p:sp>
        <p:nvSpPr>
          <p:cNvPr id="41" name="Text 39"/>
          <p:cNvSpPr/>
          <p:nvPr/>
        </p:nvSpPr>
        <p:spPr>
          <a:xfrm>
            <a:off x="7296912" y="5138928"/>
            <a:ext cx="3986784" cy="256032"/>
          </a:xfrm>
          <a:prstGeom prst="rect">
            <a:avLst/>
          </a:prstGeom>
          <a:noFill/>
          <a:ln/>
        </p:spPr>
        <p:txBody>
          <a:bodyPr wrap="square" lIns="0" tIns="0" rIns="0" bIns="0" rtlCol="0" anchor="ctr">
            <a:normAutofit/>
          </a:bodyPr>
          <a:lstStyle/>
          <a:p>
            <a:pPr marL="0" indent="0" algn="ctr">
              <a:buNone/>
            </a:pPr>
            <a:r>
              <a:rPr lang="en-US" sz="940" b="1" dirty="0">
                <a:solidFill>
                  <a:srgbClr val="102A43"/>
                </a:solidFill>
                <a:latin typeface="Aptos" pitchFamily="34" charset="0"/>
                <a:ea typeface="Aptos" pitchFamily="34" charset="-122"/>
                <a:cs typeface="Aptos" pitchFamily="34" charset="-120"/>
              </a:rPr>
              <a:t>SLOs, alerts, runbooks, cost, and support model</a:t>
            </a:r>
            <a:endParaRPr lang="en-US" sz="940" dirty="0"/>
          </a:p>
        </p:txBody>
      </p:sp>
      <p:sp>
        <p:nvSpPr>
          <p:cNvPr id="42" name="Shape 40"/>
          <p:cNvSpPr/>
          <p:nvPr/>
        </p:nvSpPr>
        <p:spPr>
          <a:xfrm>
            <a:off x="2788920" y="5870448"/>
            <a:ext cx="6364224" cy="329184"/>
          </a:xfrm>
          <a:prstGeom prst="roundRect">
            <a:avLst/>
          </a:prstGeom>
          <a:solidFill>
            <a:srgbClr val="102A43"/>
          </a:solidFill>
          <a:ln w="12700">
            <a:solidFill>
              <a:srgbClr val="102A43"/>
            </a:solidFill>
            <a:prstDash val="solid"/>
          </a:ln>
        </p:spPr>
        <p:txBody>
          <a:bodyPr/>
          <a:lstStyle/>
          <a:p>
            <a:endParaRPr lang="en-US"/>
          </a:p>
        </p:txBody>
      </p:sp>
      <p:sp>
        <p:nvSpPr>
          <p:cNvPr id="43" name="Text 41"/>
          <p:cNvSpPr/>
          <p:nvPr/>
        </p:nvSpPr>
        <p:spPr>
          <a:xfrm>
            <a:off x="3017520" y="5952744"/>
            <a:ext cx="5907024" cy="146304"/>
          </a:xfrm>
          <a:prstGeom prst="rect">
            <a:avLst/>
          </a:prstGeom>
          <a:noFill/>
          <a:ln/>
        </p:spPr>
        <p:txBody>
          <a:bodyPr wrap="square" lIns="0" tIns="0" rIns="0" bIns="0" rtlCol="0" anchor="ctr"/>
          <a:lstStyle/>
          <a:p>
            <a:pPr marL="0" indent="0" algn="ctr">
              <a:buNone/>
            </a:pPr>
            <a:r>
              <a:rPr lang="en-US" sz="950" b="1" dirty="0">
                <a:solidFill>
                  <a:srgbClr val="5BD6C5"/>
                </a:solidFill>
                <a:latin typeface="Aptos" pitchFamily="34" charset="0"/>
                <a:ea typeface="Aptos" pitchFamily="34" charset="-122"/>
                <a:cs typeface="Aptos" pitchFamily="34" charset="-120"/>
              </a:rPr>
              <a:t>Production readiness is a set of owned decisions, not a final toggle.</a:t>
            </a:r>
            <a:endParaRPr lang="en-US" sz="950" dirty="0"/>
          </a:p>
        </p:txBody>
      </p:sp>
      <p:sp>
        <p:nvSpPr>
          <p:cNvPr id="44" name="Text 42"/>
          <p:cNvSpPr/>
          <p:nvPr/>
        </p:nvSpPr>
        <p:spPr>
          <a:xfrm>
            <a:off x="566928" y="6528816"/>
            <a:ext cx="4389120" cy="146304"/>
          </a:xfrm>
          <a:prstGeom prst="rect">
            <a:avLst/>
          </a:prstGeom>
          <a:noFill/>
          <a:ln/>
        </p:spPr>
        <p:txBody>
          <a:bodyPr wrap="square" lIns="0" tIns="0" rIns="0" bIns="0" rtlCol="0" anchor="ctr"/>
          <a:lstStyle/>
          <a:p>
            <a:pPr marL="0" indent="0">
              <a:buNone/>
            </a:pPr>
            <a:r>
              <a:rPr lang="en-US" sz="750" dirty="0">
                <a:solidFill>
                  <a:srgbClr val="748494"/>
                </a:solidFill>
                <a:latin typeface="Aptos" pitchFamily="34" charset="0"/>
                <a:ea typeface="Aptos" pitchFamily="34" charset="-122"/>
                <a:cs typeface="Aptos" pitchFamily="34" charset="-120"/>
              </a:rPr>
              <a:t>Adapt the pattern without losing the control boundaries</a:t>
            </a:r>
            <a:endParaRPr lang="en-US" sz="750" dirty="0"/>
          </a:p>
        </p:txBody>
      </p:sp>
      <p:sp>
        <p:nvSpPr>
          <p:cNvPr id="45" name="Slide Number Placeholder 0"/>
          <p:cNvSpPr>
            <a:spLocks noGrp="1"/>
          </p:cNvSpPr>
          <p:nvPr>
            <p:ph type="sldNum" sz="quarter" idx="4294967295"/>
          </p:nvPr>
        </p:nvSpPr>
        <p:spPr>
          <a:xfrm>
            <a:off x="11109960" y="6510528"/>
            <a:ext cx="548640"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748494"/>
                </a:solidFill>
                <a:latin typeface="Aptos"/>
                <a:ea typeface="Aptos"/>
                <a:cs typeface="Aptos"/>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40080" y="292608"/>
            <a:ext cx="2926080" cy="201168"/>
          </a:xfrm>
          <a:prstGeom prst="rect">
            <a:avLst/>
          </a:prstGeom>
          <a:noFill/>
          <a:ln/>
        </p:spPr>
        <p:txBody>
          <a:bodyPr wrap="square" lIns="254" tIns="254" rIns="254" bIns="254" rtlCol="0" anchor="ctr"/>
          <a:lstStyle/>
          <a:p>
            <a:pPr marL="0" indent="0">
              <a:buNone/>
            </a:pPr>
            <a:r>
              <a:rPr lang="en-US" sz="900" b="1" kern="0" spc="140" dirty="0">
                <a:solidFill>
                  <a:srgbClr val="0F8B8D"/>
                </a:solidFill>
                <a:latin typeface="Aptos" pitchFamily="34" charset="0"/>
                <a:ea typeface="Aptos" pitchFamily="34" charset="-122"/>
                <a:cs typeface="Aptos" pitchFamily="34" charset="-120"/>
              </a:rPr>
              <a:t> FACILITATION CHECKPOINTS</a:t>
            </a:r>
            <a:endParaRPr lang="en-US" sz="900" dirty="0"/>
          </a:p>
        </p:txBody>
      </p:sp>
      <p:sp>
        <p:nvSpPr>
          <p:cNvPr id="3" name="Text 1"/>
          <p:cNvSpPr/>
          <p:nvPr/>
        </p:nvSpPr>
        <p:spPr>
          <a:xfrm>
            <a:off x="640080" y="548640"/>
            <a:ext cx="10835640" cy="502920"/>
          </a:xfrm>
          <a:prstGeom prst="rect">
            <a:avLst/>
          </a:prstGeom>
          <a:noFill/>
          <a:ln/>
        </p:spPr>
        <p:txBody>
          <a:bodyPr wrap="square" lIns="0" tIns="0" rIns="0" bIns="0" rtlCol="0" anchor="ctr">
            <a:normAutofit/>
          </a:bodyPr>
          <a:lstStyle/>
          <a:p>
            <a:pPr marL="0" indent="0">
              <a:buNone/>
            </a:pPr>
            <a:r>
              <a:rPr lang="en-US" sz="2700" b="1" dirty="0">
                <a:solidFill>
                  <a:srgbClr val="102A43"/>
                </a:solidFill>
                <a:latin typeface="Aptos Display" pitchFamily="34" charset="0"/>
                <a:ea typeface="Aptos Display" pitchFamily="34" charset="-122"/>
                <a:cs typeface="Aptos Display" pitchFamily="34" charset="-120"/>
              </a:rPr>
              <a:t>Protect the core path with explicit recovery routes</a:t>
            </a:r>
            <a:endParaRPr lang="en-US" sz="2700" dirty="0"/>
          </a:p>
        </p:txBody>
      </p:sp>
      <p:sp>
        <p:nvSpPr>
          <p:cNvPr id="4" name="Text 2"/>
          <p:cNvSpPr/>
          <p:nvPr/>
        </p:nvSpPr>
        <p:spPr>
          <a:xfrm>
            <a:off x="658368" y="1078992"/>
            <a:ext cx="10698480" cy="310896"/>
          </a:xfrm>
          <a:prstGeom prst="rect">
            <a:avLst/>
          </a:prstGeom>
          <a:noFill/>
          <a:ln/>
        </p:spPr>
        <p:txBody>
          <a:bodyPr wrap="square" lIns="254" tIns="254" rIns="254" bIns="254" rtlCol="0" anchor="ctr">
            <a:normAutofit/>
          </a:bodyPr>
          <a:lstStyle/>
          <a:p>
            <a:pPr marL="0" indent="0">
              <a:buNone/>
            </a:pPr>
            <a:r>
              <a:rPr lang="en-US" sz="1250" dirty="0">
                <a:solidFill>
                  <a:srgbClr val="4F6474"/>
                </a:solidFill>
                <a:latin typeface="Aptos" pitchFamily="34" charset="0"/>
                <a:ea typeface="Aptos" pitchFamily="34" charset="-122"/>
                <a:cs typeface="Aptos" pitchFamily="34" charset="-120"/>
              </a:rPr>
              <a:t> The workshop should continue even when optional tooling or identity paths fail.</a:t>
            </a:r>
            <a:endParaRPr lang="en-US" sz="1250" dirty="0"/>
          </a:p>
        </p:txBody>
      </p:sp>
      <p:sp>
        <p:nvSpPr>
          <p:cNvPr id="5" name="Shape 3"/>
          <p:cNvSpPr/>
          <p:nvPr/>
        </p:nvSpPr>
        <p:spPr>
          <a:xfrm>
            <a:off x="658368" y="1691640"/>
            <a:ext cx="3246120" cy="758952"/>
          </a:xfrm>
          <a:prstGeom prst="roundRect">
            <a:avLst/>
          </a:prstGeom>
          <a:solidFill>
            <a:srgbClr val="4F8EF7"/>
          </a:solidFill>
          <a:ln w="12700">
            <a:solidFill>
              <a:srgbClr val="4F8EF7"/>
            </a:solidFill>
            <a:prstDash val="solid"/>
          </a:ln>
        </p:spPr>
        <p:txBody>
          <a:bodyPr/>
          <a:lstStyle/>
          <a:p>
            <a:endParaRPr lang="en-US"/>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6968" y="1920240"/>
            <a:ext cx="274320" cy="274320"/>
          </a:xfrm>
          <a:prstGeom prst="rect">
            <a:avLst/>
          </a:prstGeom>
        </p:spPr>
      </p:pic>
      <p:sp>
        <p:nvSpPr>
          <p:cNvPr id="7" name="Text 4"/>
          <p:cNvSpPr/>
          <p:nvPr/>
        </p:nvSpPr>
        <p:spPr>
          <a:xfrm>
            <a:off x="1325880" y="1883664"/>
            <a:ext cx="2331720" cy="292608"/>
          </a:xfrm>
          <a:prstGeom prst="rect">
            <a:avLst/>
          </a:prstGeom>
          <a:noFill/>
          <a:ln/>
        </p:spPr>
        <p:txBody>
          <a:bodyPr wrap="square" lIns="0" tIns="0" rIns="0" bIns="0" rtlCol="0" anchor="ctr">
            <a:normAutofit/>
          </a:bodyPr>
          <a:lstStyle/>
          <a:p>
            <a:pPr marL="0" indent="0">
              <a:buNone/>
            </a:pPr>
            <a:r>
              <a:rPr lang="en-US" sz="1250" b="1" dirty="0">
                <a:solidFill>
                  <a:srgbClr val="FFFFFF"/>
                </a:solidFill>
                <a:latin typeface="Aptos Display" pitchFamily="34" charset="0"/>
                <a:ea typeface="Aptos Display" pitchFamily="34" charset="-122"/>
                <a:cs typeface="Aptos Display" pitchFamily="34" charset="-120"/>
              </a:rPr>
              <a:t>REST import or mock fails</a:t>
            </a:r>
            <a:endParaRPr lang="en-US" sz="1250" dirty="0"/>
          </a:p>
        </p:txBody>
      </p:sp>
      <p:sp>
        <p:nvSpPr>
          <p:cNvPr id="8" name="Shape 5"/>
          <p:cNvSpPr/>
          <p:nvPr/>
        </p:nvSpPr>
        <p:spPr>
          <a:xfrm>
            <a:off x="4096512" y="2075688"/>
            <a:ext cx="658368" cy="0"/>
          </a:xfrm>
          <a:prstGeom prst="line">
            <a:avLst/>
          </a:prstGeom>
          <a:noFill/>
          <a:ln w="21590">
            <a:solidFill>
              <a:srgbClr val="748494"/>
            </a:solidFill>
            <a:prstDash val="solid"/>
            <a:tailEnd type="triangle"/>
          </a:ln>
        </p:spPr>
        <p:txBody>
          <a:bodyPr/>
          <a:lstStyle/>
          <a:p>
            <a:endParaRPr lang="en-US"/>
          </a:p>
        </p:txBody>
      </p:sp>
      <p:sp>
        <p:nvSpPr>
          <p:cNvPr id="9" name="Shape 6"/>
          <p:cNvSpPr/>
          <p:nvPr/>
        </p:nvSpPr>
        <p:spPr>
          <a:xfrm>
            <a:off x="4919472" y="1691640"/>
            <a:ext cx="6601968" cy="758952"/>
          </a:xfrm>
          <a:prstGeom prst="roundRect">
            <a:avLst/>
          </a:prstGeom>
          <a:solidFill>
            <a:srgbClr val="FFFFFF"/>
          </a:solidFill>
          <a:ln w="12700">
            <a:solidFill>
              <a:srgbClr val="DDE6EC"/>
            </a:solidFill>
            <a:prstDash val="solid"/>
          </a:ln>
          <a:effectLst>
            <a:outerShdw blurRad="25400" dist="50800" dir="2700000" algn="bl" rotWithShape="0">
              <a:srgbClr val="102A43">
                <a:alpha val="14000"/>
              </a:srgbClr>
            </a:outerShdw>
          </a:effectLst>
        </p:spPr>
        <p:txBody>
          <a:bodyPr/>
          <a:lstStyle/>
          <a:p>
            <a:endParaRPr lang="en-US"/>
          </a:p>
        </p:txBody>
      </p:sp>
      <p:sp>
        <p:nvSpPr>
          <p:cNvPr id="10" name="Text 7"/>
          <p:cNvSpPr/>
          <p:nvPr/>
        </p:nvSpPr>
        <p:spPr>
          <a:xfrm>
            <a:off x="5212080" y="1874520"/>
            <a:ext cx="6016752" cy="310896"/>
          </a:xfrm>
          <a:prstGeom prst="rect">
            <a:avLst/>
          </a:prstGeom>
          <a:noFill/>
          <a:ln/>
        </p:spPr>
        <p:txBody>
          <a:bodyPr wrap="square" lIns="0" tIns="0" rIns="0" bIns="0" rtlCol="0" anchor="ctr">
            <a:normAutofit/>
          </a:bodyPr>
          <a:lstStyle/>
          <a:p>
            <a:pPr marL="0" indent="0">
              <a:buNone/>
            </a:pPr>
            <a:r>
              <a:rPr lang="en-US" sz="1020" dirty="0">
                <a:solidFill>
                  <a:srgbClr val="4F6474"/>
                </a:solidFill>
                <a:latin typeface="Aptos" pitchFamily="34" charset="0"/>
                <a:ea typeface="Aptos" pitchFamily="34" charset="-122"/>
                <a:cs typeface="Aptos" pitchFamily="34" charset="-120"/>
              </a:rPr>
              <a:t>Use the facilitator-provided APIM API and continue to MCP.</a:t>
            </a:r>
            <a:endParaRPr lang="en-US" sz="1020" dirty="0"/>
          </a:p>
        </p:txBody>
      </p:sp>
      <p:sp>
        <p:nvSpPr>
          <p:cNvPr id="11" name="Shape 8"/>
          <p:cNvSpPr/>
          <p:nvPr/>
        </p:nvSpPr>
        <p:spPr>
          <a:xfrm>
            <a:off x="658368" y="2697480"/>
            <a:ext cx="3246120" cy="758952"/>
          </a:xfrm>
          <a:prstGeom prst="roundRect">
            <a:avLst/>
          </a:prstGeom>
          <a:solidFill>
            <a:srgbClr val="0F8B8D"/>
          </a:solidFill>
          <a:ln w="12700">
            <a:solidFill>
              <a:srgbClr val="0F8B8D"/>
            </a:solidFill>
            <a:prstDash val="solid"/>
          </a:ln>
        </p:spPr>
        <p:txBody>
          <a:bodyPr/>
          <a:lstStyle/>
          <a:p>
            <a:endParaRPr lang="en-US"/>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6968" y="2926080"/>
            <a:ext cx="274320" cy="274320"/>
          </a:xfrm>
          <a:prstGeom prst="rect">
            <a:avLst/>
          </a:prstGeom>
        </p:spPr>
      </p:pic>
      <p:sp>
        <p:nvSpPr>
          <p:cNvPr id="13" name="Text 9"/>
          <p:cNvSpPr/>
          <p:nvPr/>
        </p:nvSpPr>
        <p:spPr>
          <a:xfrm>
            <a:off x="1325880" y="2889504"/>
            <a:ext cx="2331720" cy="292608"/>
          </a:xfrm>
          <a:prstGeom prst="rect">
            <a:avLst/>
          </a:prstGeom>
          <a:noFill/>
          <a:ln/>
        </p:spPr>
        <p:txBody>
          <a:bodyPr wrap="square" lIns="0" tIns="0" rIns="0" bIns="0" rtlCol="0" anchor="ctr">
            <a:normAutofit/>
          </a:bodyPr>
          <a:lstStyle/>
          <a:p>
            <a:pPr marL="0" indent="0">
              <a:buNone/>
            </a:pPr>
            <a:r>
              <a:rPr lang="en-US" sz="1250" b="1" dirty="0">
                <a:solidFill>
                  <a:srgbClr val="FFFFFF"/>
                </a:solidFill>
                <a:latin typeface="Aptos Display" pitchFamily="34" charset="0"/>
                <a:ea typeface="Aptos Display" pitchFamily="34" charset="-122"/>
                <a:cs typeface="Aptos Display" pitchFamily="34" charset="-120"/>
              </a:rPr>
              <a:t>MCP streaming fails</a:t>
            </a:r>
            <a:endParaRPr lang="en-US" sz="1250" dirty="0"/>
          </a:p>
        </p:txBody>
      </p:sp>
      <p:sp>
        <p:nvSpPr>
          <p:cNvPr id="14" name="Shape 10"/>
          <p:cNvSpPr/>
          <p:nvPr/>
        </p:nvSpPr>
        <p:spPr>
          <a:xfrm>
            <a:off x="4096512" y="3081528"/>
            <a:ext cx="658368" cy="0"/>
          </a:xfrm>
          <a:prstGeom prst="line">
            <a:avLst/>
          </a:prstGeom>
          <a:noFill/>
          <a:ln w="21590">
            <a:solidFill>
              <a:srgbClr val="748494"/>
            </a:solidFill>
            <a:prstDash val="solid"/>
            <a:tailEnd type="triangle"/>
          </a:ln>
        </p:spPr>
        <p:txBody>
          <a:bodyPr/>
          <a:lstStyle/>
          <a:p>
            <a:endParaRPr lang="en-US"/>
          </a:p>
        </p:txBody>
      </p:sp>
      <p:sp>
        <p:nvSpPr>
          <p:cNvPr id="15" name="Shape 11"/>
          <p:cNvSpPr/>
          <p:nvPr/>
        </p:nvSpPr>
        <p:spPr>
          <a:xfrm>
            <a:off x="4919472" y="2697480"/>
            <a:ext cx="6601968" cy="758952"/>
          </a:xfrm>
          <a:prstGeom prst="roundRect">
            <a:avLst/>
          </a:prstGeom>
          <a:solidFill>
            <a:srgbClr val="FFFFFF"/>
          </a:solidFill>
          <a:ln w="12700">
            <a:solidFill>
              <a:srgbClr val="DDE6EC"/>
            </a:solidFill>
            <a:prstDash val="solid"/>
          </a:ln>
          <a:effectLst>
            <a:outerShdw blurRad="25400" dist="50800" dir="2700000" algn="bl" rotWithShape="0">
              <a:srgbClr val="102A43">
                <a:alpha val="14000"/>
              </a:srgbClr>
            </a:outerShdw>
          </a:effectLst>
        </p:spPr>
        <p:txBody>
          <a:bodyPr/>
          <a:lstStyle/>
          <a:p>
            <a:endParaRPr lang="en-US"/>
          </a:p>
        </p:txBody>
      </p:sp>
      <p:sp>
        <p:nvSpPr>
          <p:cNvPr id="16" name="Text 12"/>
          <p:cNvSpPr/>
          <p:nvPr/>
        </p:nvSpPr>
        <p:spPr>
          <a:xfrm>
            <a:off x="5212080" y="2880360"/>
            <a:ext cx="6016752" cy="310896"/>
          </a:xfrm>
          <a:prstGeom prst="rect">
            <a:avLst/>
          </a:prstGeom>
          <a:noFill/>
          <a:ln/>
        </p:spPr>
        <p:txBody>
          <a:bodyPr wrap="square" lIns="0" tIns="0" rIns="0" bIns="0" rtlCol="0" anchor="ctr">
            <a:normAutofit/>
          </a:bodyPr>
          <a:lstStyle/>
          <a:p>
            <a:pPr marL="0" indent="0">
              <a:buNone/>
            </a:pPr>
            <a:r>
              <a:rPr lang="en-US" sz="1020" dirty="0">
                <a:solidFill>
                  <a:srgbClr val="4F6474"/>
                </a:solidFill>
                <a:latin typeface="Aptos" pitchFamily="34" charset="0"/>
                <a:ea typeface="Aptos" pitchFamily="34" charset="-122"/>
                <a:cs typeface="Aptos" pitchFamily="34" charset="-120"/>
              </a:rPr>
              <a:t>Set frontend response logging to 0 bytes. Remove response-body policy access.</a:t>
            </a:r>
            <a:endParaRPr lang="en-US" sz="1020" dirty="0"/>
          </a:p>
        </p:txBody>
      </p:sp>
      <p:sp>
        <p:nvSpPr>
          <p:cNvPr id="17" name="Shape 13"/>
          <p:cNvSpPr/>
          <p:nvPr/>
        </p:nvSpPr>
        <p:spPr>
          <a:xfrm>
            <a:off x="658368" y="3703320"/>
            <a:ext cx="3246120" cy="758952"/>
          </a:xfrm>
          <a:prstGeom prst="roundRect">
            <a:avLst/>
          </a:prstGeom>
          <a:solidFill>
            <a:srgbClr val="775DA6"/>
          </a:solidFill>
          <a:ln w="12700">
            <a:solidFill>
              <a:srgbClr val="775DA6"/>
            </a:solidFill>
            <a:prstDash val="solid"/>
          </a:ln>
        </p:spPr>
        <p:txBody>
          <a:bodyPr/>
          <a:lstStyle/>
          <a:p>
            <a:endParaRPr lang="en-US"/>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6968" y="3931920"/>
            <a:ext cx="274320" cy="274320"/>
          </a:xfrm>
          <a:prstGeom prst="rect">
            <a:avLst/>
          </a:prstGeom>
        </p:spPr>
      </p:pic>
      <p:sp>
        <p:nvSpPr>
          <p:cNvPr id="19" name="Text 14"/>
          <p:cNvSpPr/>
          <p:nvPr/>
        </p:nvSpPr>
        <p:spPr>
          <a:xfrm>
            <a:off x="1325880" y="3895344"/>
            <a:ext cx="2331720" cy="292608"/>
          </a:xfrm>
          <a:prstGeom prst="rect">
            <a:avLst/>
          </a:prstGeom>
          <a:noFill/>
          <a:ln/>
        </p:spPr>
        <p:txBody>
          <a:bodyPr wrap="square" lIns="0" tIns="0" rIns="0" bIns="0" rtlCol="0" anchor="ctr">
            <a:normAutofit/>
          </a:bodyPr>
          <a:lstStyle/>
          <a:p>
            <a:pPr marL="0" indent="0">
              <a:buNone/>
            </a:pPr>
            <a:r>
              <a:rPr lang="en-US" sz="1250" b="1" dirty="0">
                <a:solidFill>
                  <a:srgbClr val="FFFFFF"/>
                </a:solidFill>
                <a:latin typeface="Aptos Display" pitchFamily="34" charset="0"/>
                <a:ea typeface="Aptos Display" pitchFamily="34" charset="-122"/>
                <a:cs typeface="Aptos Display" pitchFamily="34" charset="-120"/>
              </a:rPr>
              <a:t>Local auth reaches IMDS</a:t>
            </a:r>
            <a:endParaRPr lang="en-US" sz="1250" dirty="0"/>
          </a:p>
        </p:txBody>
      </p:sp>
      <p:sp>
        <p:nvSpPr>
          <p:cNvPr id="20" name="Shape 15"/>
          <p:cNvSpPr/>
          <p:nvPr/>
        </p:nvSpPr>
        <p:spPr>
          <a:xfrm>
            <a:off x="4096512" y="4087368"/>
            <a:ext cx="658368" cy="0"/>
          </a:xfrm>
          <a:prstGeom prst="line">
            <a:avLst/>
          </a:prstGeom>
          <a:noFill/>
          <a:ln w="21590">
            <a:solidFill>
              <a:srgbClr val="748494"/>
            </a:solidFill>
            <a:prstDash val="solid"/>
            <a:tailEnd type="triangle"/>
          </a:ln>
        </p:spPr>
        <p:txBody>
          <a:bodyPr/>
          <a:lstStyle/>
          <a:p>
            <a:endParaRPr lang="en-US"/>
          </a:p>
        </p:txBody>
      </p:sp>
      <p:sp>
        <p:nvSpPr>
          <p:cNvPr id="21" name="Shape 16"/>
          <p:cNvSpPr/>
          <p:nvPr/>
        </p:nvSpPr>
        <p:spPr>
          <a:xfrm>
            <a:off x="4919472" y="3703320"/>
            <a:ext cx="6601968" cy="758952"/>
          </a:xfrm>
          <a:prstGeom prst="roundRect">
            <a:avLst/>
          </a:prstGeom>
          <a:solidFill>
            <a:srgbClr val="FFFFFF"/>
          </a:solidFill>
          <a:ln w="12700">
            <a:solidFill>
              <a:srgbClr val="DDE6EC"/>
            </a:solidFill>
            <a:prstDash val="solid"/>
          </a:ln>
          <a:effectLst>
            <a:outerShdw blurRad="25400" dist="50800" dir="2700000" algn="bl" rotWithShape="0">
              <a:srgbClr val="102A43">
                <a:alpha val="14000"/>
              </a:srgbClr>
            </a:outerShdw>
          </a:effectLst>
        </p:spPr>
        <p:txBody>
          <a:bodyPr/>
          <a:lstStyle/>
          <a:p>
            <a:endParaRPr lang="en-US"/>
          </a:p>
        </p:txBody>
      </p:sp>
      <p:sp>
        <p:nvSpPr>
          <p:cNvPr id="22" name="Text 17"/>
          <p:cNvSpPr/>
          <p:nvPr/>
        </p:nvSpPr>
        <p:spPr>
          <a:xfrm>
            <a:off x="5212080" y="3886200"/>
            <a:ext cx="6016752" cy="310896"/>
          </a:xfrm>
          <a:prstGeom prst="rect">
            <a:avLst/>
          </a:prstGeom>
          <a:noFill/>
          <a:ln/>
        </p:spPr>
        <p:txBody>
          <a:bodyPr wrap="square" lIns="0" tIns="0" rIns="0" bIns="0" rtlCol="0" anchor="ctr">
            <a:normAutofit/>
          </a:bodyPr>
          <a:lstStyle/>
          <a:p>
            <a:pPr marL="0" indent="0">
              <a:buNone/>
            </a:pPr>
            <a:r>
              <a:rPr lang="en-US" sz="1020" dirty="0">
                <a:solidFill>
                  <a:srgbClr val="4F6474"/>
                </a:solidFill>
                <a:latin typeface="Aptos" pitchFamily="34" charset="0"/>
                <a:ea typeface="Aptos" pitchFamily="34" charset="-122"/>
                <a:cs typeface="Aptos" pitchFamily="34" charset="-120"/>
              </a:rPr>
              <a:t>Set AzureCliCredential in the local environment, then restart.</a:t>
            </a:r>
            <a:endParaRPr lang="en-US" sz="1020" dirty="0"/>
          </a:p>
        </p:txBody>
      </p:sp>
      <p:sp>
        <p:nvSpPr>
          <p:cNvPr id="23" name="Shape 18"/>
          <p:cNvSpPr/>
          <p:nvPr/>
        </p:nvSpPr>
        <p:spPr>
          <a:xfrm>
            <a:off x="658368" y="4709160"/>
            <a:ext cx="3246120" cy="758952"/>
          </a:xfrm>
          <a:prstGeom prst="roundRect">
            <a:avLst/>
          </a:prstGeom>
          <a:solidFill>
            <a:srgbClr val="FF7A59"/>
          </a:solidFill>
          <a:ln w="12700">
            <a:solidFill>
              <a:srgbClr val="FF7A59"/>
            </a:solidFill>
            <a:prstDash val="solid"/>
          </a:ln>
        </p:spPr>
        <p:txBody>
          <a:bodyPr/>
          <a:lstStyle/>
          <a:p>
            <a:endParaRPr lang="en-US"/>
          </a:p>
        </p:txBody>
      </p:sp>
      <p:pic>
        <p:nvPicPr>
          <p:cNvPr id="2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86968" y="4937760"/>
            <a:ext cx="274320" cy="274320"/>
          </a:xfrm>
          <a:prstGeom prst="rect">
            <a:avLst/>
          </a:prstGeom>
        </p:spPr>
      </p:pic>
      <p:sp>
        <p:nvSpPr>
          <p:cNvPr id="25" name="Text 19"/>
          <p:cNvSpPr/>
          <p:nvPr/>
        </p:nvSpPr>
        <p:spPr>
          <a:xfrm>
            <a:off x="1325880" y="4901184"/>
            <a:ext cx="2331720" cy="292608"/>
          </a:xfrm>
          <a:prstGeom prst="rect">
            <a:avLst/>
          </a:prstGeom>
          <a:noFill/>
          <a:ln/>
        </p:spPr>
        <p:txBody>
          <a:bodyPr wrap="square" lIns="0" tIns="0" rIns="0" bIns="0" rtlCol="0" anchor="ctr">
            <a:normAutofit/>
          </a:bodyPr>
          <a:lstStyle/>
          <a:p>
            <a:pPr marL="0" indent="0">
              <a:buNone/>
            </a:pPr>
            <a:r>
              <a:rPr lang="en-US" sz="1250" b="1" dirty="0">
                <a:solidFill>
                  <a:srgbClr val="102A43"/>
                </a:solidFill>
                <a:latin typeface="Aptos Display" pitchFamily="34" charset="0"/>
                <a:ea typeface="Aptos Display" pitchFamily="34" charset="-122"/>
                <a:cs typeface="Aptos Display" pitchFamily="34" charset="-120"/>
              </a:rPr>
              <a:t>OAuth sign-in cannot start</a:t>
            </a:r>
            <a:endParaRPr lang="en-US" sz="1250" dirty="0"/>
          </a:p>
        </p:txBody>
      </p:sp>
      <p:sp>
        <p:nvSpPr>
          <p:cNvPr id="26" name="Shape 20"/>
          <p:cNvSpPr/>
          <p:nvPr/>
        </p:nvSpPr>
        <p:spPr>
          <a:xfrm>
            <a:off x="4096512" y="5093208"/>
            <a:ext cx="658368" cy="0"/>
          </a:xfrm>
          <a:prstGeom prst="line">
            <a:avLst/>
          </a:prstGeom>
          <a:noFill/>
          <a:ln w="21590">
            <a:solidFill>
              <a:srgbClr val="748494"/>
            </a:solidFill>
            <a:prstDash val="solid"/>
            <a:tailEnd type="triangle"/>
          </a:ln>
        </p:spPr>
        <p:txBody>
          <a:bodyPr/>
          <a:lstStyle/>
          <a:p>
            <a:endParaRPr lang="en-US"/>
          </a:p>
        </p:txBody>
      </p:sp>
      <p:sp>
        <p:nvSpPr>
          <p:cNvPr id="27" name="Shape 21"/>
          <p:cNvSpPr/>
          <p:nvPr/>
        </p:nvSpPr>
        <p:spPr>
          <a:xfrm>
            <a:off x="4919472" y="4709160"/>
            <a:ext cx="6601968" cy="758952"/>
          </a:xfrm>
          <a:prstGeom prst="roundRect">
            <a:avLst/>
          </a:prstGeom>
          <a:solidFill>
            <a:srgbClr val="FFFFFF"/>
          </a:solidFill>
          <a:ln w="12700">
            <a:solidFill>
              <a:srgbClr val="DDE6EC"/>
            </a:solidFill>
            <a:prstDash val="solid"/>
          </a:ln>
          <a:effectLst>
            <a:outerShdw blurRad="25400" dist="50800" dir="2700000" algn="bl" rotWithShape="0">
              <a:srgbClr val="102A43">
                <a:alpha val="14000"/>
              </a:srgbClr>
            </a:outerShdw>
          </a:effectLst>
        </p:spPr>
        <p:txBody>
          <a:bodyPr/>
          <a:lstStyle/>
          <a:p>
            <a:endParaRPr lang="en-US"/>
          </a:p>
        </p:txBody>
      </p:sp>
      <p:sp>
        <p:nvSpPr>
          <p:cNvPr id="28" name="Text 22"/>
          <p:cNvSpPr/>
          <p:nvPr/>
        </p:nvSpPr>
        <p:spPr>
          <a:xfrm>
            <a:off x="5212080" y="4892040"/>
            <a:ext cx="6016752" cy="310896"/>
          </a:xfrm>
          <a:prstGeom prst="rect">
            <a:avLst/>
          </a:prstGeom>
          <a:noFill/>
          <a:ln/>
        </p:spPr>
        <p:txBody>
          <a:bodyPr wrap="square" lIns="0" tIns="0" rIns="0" bIns="0" rtlCol="0" anchor="ctr">
            <a:normAutofit/>
          </a:bodyPr>
          <a:lstStyle/>
          <a:p>
            <a:pPr marL="0" indent="0">
              <a:buNone/>
            </a:pPr>
            <a:r>
              <a:rPr lang="en-US" sz="1020" dirty="0">
                <a:solidFill>
                  <a:srgbClr val="4F6474"/>
                </a:solidFill>
                <a:latin typeface="Aptos" pitchFamily="34" charset="0"/>
                <a:ea typeface="Aptos" pitchFamily="34" charset="-122"/>
                <a:cs typeface="Aptos" pitchFamily="34" charset="-120"/>
              </a:rPr>
              <a:t>Use a separately acquired bearer token. Keep full discovery as an extension.</a:t>
            </a:r>
            <a:endParaRPr lang="en-US" sz="1020" dirty="0"/>
          </a:p>
        </p:txBody>
      </p:sp>
      <p:sp>
        <p:nvSpPr>
          <p:cNvPr id="29" name="Shape 23"/>
          <p:cNvSpPr/>
          <p:nvPr/>
        </p:nvSpPr>
        <p:spPr>
          <a:xfrm>
            <a:off x="2395728" y="5806440"/>
            <a:ext cx="7388352" cy="393192"/>
          </a:xfrm>
          <a:prstGeom prst="roundRect">
            <a:avLst/>
          </a:prstGeom>
          <a:solidFill>
            <a:srgbClr val="FFF4D7"/>
          </a:solidFill>
          <a:ln w="12700">
            <a:solidFill>
              <a:srgbClr val="F4B942"/>
            </a:solidFill>
            <a:prstDash val="solid"/>
          </a:ln>
        </p:spPr>
        <p:txBody>
          <a:bodyPr/>
          <a:lstStyle/>
          <a:p>
            <a:endParaRPr lang="en-US"/>
          </a:p>
        </p:txBody>
      </p:sp>
      <p:pic>
        <p:nvPicPr>
          <p:cNvPr id="3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651760" y="5897880"/>
            <a:ext cx="210312" cy="210312"/>
          </a:xfrm>
          <a:prstGeom prst="rect">
            <a:avLst/>
          </a:prstGeom>
        </p:spPr>
      </p:pic>
      <p:sp>
        <p:nvSpPr>
          <p:cNvPr id="31" name="Text 24"/>
          <p:cNvSpPr/>
          <p:nvPr/>
        </p:nvSpPr>
        <p:spPr>
          <a:xfrm>
            <a:off x="3035808" y="5907024"/>
            <a:ext cx="6446520" cy="164592"/>
          </a:xfrm>
          <a:prstGeom prst="rect">
            <a:avLst/>
          </a:prstGeom>
          <a:noFill/>
          <a:ln/>
        </p:spPr>
        <p:txBody>
          <a:bodyPr wrap="square" lIns="0" tIns="0" rIns="0" bIns="0" rtlCol="0" anchor="ctr">
            <a:normAutofit/>
          </a:bodyPr>
          <a:lstStyle/>
          <a:p>
            <a:pPr marL="0" indent="0">
              <a:buNone/>
            </a:pPr>
            <a:r>
              <a:rPr lang="en-US" sz="960" b="1" dirty="0">
                <a:solidFill>
                  <a:srgbClr val="102A43"/>
                </a:solidFill>
                <a:latin typeface="Aptos" pitchFamily="34" charset="0"/>
                <a:ea typeface="Aptos" pitchFamily="34" charset="-122"/>
                <a:cs typeface="Aptos" pitchFamily="34" charset="-120"/>
              </a:rPr>
              <a:t>Time rule: teach the core pattern first. Add Petstore, hosted deployment, and OAuth only after the baseline passes.</a:t>
            </a:r>
            <a:endParaRPr lang="en-US" sz="960" dirty="0"/>
          </a:p>
        </p:txBody>
      </p:sp>
      <p:sp>
        <p:nvSpPr>
          <p:cNvPr id="32" name="Text 25"/>
          <p:cNvSpPr/>
          <p:nvPr/>
        </p:nvSpPr>
        <p:spPr>
          <a:xfrm>
            <a:off x="566928" y="6528816"/>
            <a:ext cx="4389120" cy="146304"/>
          </a:xfrm>
          <a:prstGeom prst="rect">
            <a:avLst/>
          </a:prstGeom>
          <a:noFill/>
          <a:ln/>
        </p:spPr>
        <p:txBody>
          <a:bodyPr wrap="square" lIns="0" tIns="0" rIns="0" bIns="0" rtlCol="0" anchor="ctr"/>
          <a:lstStyle/>
          <a:p>
            <a:pPr marL="0" indent="0">
              <a:buNone/>
            </a:pPr>
            <a:r>
              <a:rPr lang="en-US" sz="750" dirty="0">
                <a:solidFill>
                  <a:srgbClr val="748494"/>
                </a:solidFill>
                <a:latin typeface="Aptos" pitchFamily="34" charset="0"/>
                <a:ea typeface="Aptos" pitchFamily="34" charset="-122"/>
                <a:cs typeface="Aptos" pitchFamily="34" charset="-120"/>
              </a:rPr>
              <a:t>Facilitator pattern: checkpoint, recover, continue</a:t>
            </a:r>
            <a:endParaRPr lang="en-US" sz="750" dirty="0"/>
          </a:p>
        </p:txBody>
      </p:sp>
      <p:sp>
        <p:nvSpPr>
          <p:cNvPr id="33" name="Slide Number Placeholder 0"/>
          <p:cNvSpPr>
            <a:spLocks noGrp="1"/>
          </p:cNvSpPr>
          <p:nvPr>
            <p:ph type="sldNum" sz="quarter" idx="4294967295"/>
          </p:nvPr>
        </p:nvSpPr>
        <p:spPr>
          <a:xfrm>
            <a:off x="11109960" y="6510528"/>
            <a:ext cx="548640"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748494"/>
                </a:solidFill>
                <a:latin typeface="Aptos"/>
                <a:ea typeface="Aptos"/>
                <a:cs typeface="Aptos"/>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02A43"/>
        </a:solidFill>
        <a:effectLst/>
      </p:bgPr>
    </p:bg>
    <p:spTree>
      <p:nvGrpSpPr>
        <p:cNvPr id="1" name=""/>
        <p:cNvGrpSpPr/>
        <p:nvPr/>
      </p:nvGrpSpPr>
      <p:grpSpPr>
        <a:xfrm>
          <a:off x="0" y="0"/>
          <a:ext cx="0" cy="0"/>
          <a:chOff x="0" y="0"/>
          <a:chExt cx="0" cy="0"/>
        </a:xfrm>
      </p:grpSpPr>
      <p:sp>
        <p:nvSpPr>
          <p:cNvPr id="2" name="Shape 0"/>
          <p:cNvSpPr/>
          <p:nvPr/>
        </p:nvSpPr>
        <p:spPr>
          <a:xfrm>
            <a:off x="-1097280" y="4023360"/>
            <a:ext cx="4206240" cy="4206240"/>
          </a:xfrm>
          <a:prstGeom prst="ellipse">
            <a:avLst/>
          </a:prstGeom>
          <a:solidFill>
            <a:srgbClr val="0F8B8D">
              <a:alpha val="92000"/>
            </a:srgbClr>
          </a:solidFill>
          <a:ln w="12700">
            <a:solidFill>
              <a:srgbClr val="0F8B8D">
                <a:alpha val="0"/>
              </a:srgbClr>
            </a:solidFill>
            <a:prstDash val="solid"/>
          </a:ln>
        </p:spPr>
        <p:txBody>
          <a:bodyPr/>
          <a:lstStyle/>
          <a:p>
            <a:endParaRPr lang="en-US"/>
          </a:p>
        </p:txBody>
      </p:sp>
      <p:sp>
        <p:nvSpPr>
          <p:cNvPr id="3" name="Shape 1"/>
          <p:cNvSpPr/>
          <p:nvPr/>
        </p:nvSpPr>
        <p:spPr>
          <a:xfrm>
            <a:off x="8686800" y="-1371600"/>
            <a:ext cx="4754880" cy="4754880"/>
          </a:xfrm>
          <a:prstGeom prst="ellipse">
            <a:avLst/>
          </a:prstGeom>
          <a:solidFill>
            <a:srgbClr val="775DA6">
              <a:alpha val="90000"/>
            </a:srgbClr>
          </a:solidFill>
          <a:ln w="12700">
            <a:solidFill>
              <a:srgbClr val="775DA6">
                <a:alpha val="0"/>
              </a:srgbClr>
            </a:solidFill>
            <a:prstDash val="solid"/>
          </a:ln>
        </p:spPr>
        <p:txBody>
          <a:bodyPr/>
          <a:lstStyle/>
          <a:p>
            <a:endParaRPr lang="en-US"/>
          </a:p>
        </p:txBody>
      </p:sp>
      <p:sp>
        <p:nvSpPr>
          <p:cNvPr id="4" name="Shape 2"/>
          <p:cNvSpPr/>
          <p:nvPr/>
        </p:nvSpPr>
        <p:spPr>
          <a:xfrm>
            <a:off x="658368" y="566928"/>
            <a:ext cx="1234440" cy="310896"/>
          </a:xfrm>
          <a:prstGeom prst="roundRect">
            <a:avLst>
              <a:gd name="adj" fmla="val 23529"/>
            </a:avLst>
          </a:prstGeom>
          <a:solidFill>
            <a:srgbClr val="5BD6C5"/>
          </a:solidFill>
          <a:ln w="12700">
            <a:solidFill>
              <a:srgbClr val="5BD6C5"/>
            </a:solidFill>
            <a:prstDash val="solid"/>
          </a:ln>
        </p:spPr>
        <p:txBody>
          <a:bodyPr/>
          <a:lstStyle/>
          <a:p>
            <a:endParaRPr lang="en-US"/>
          </a:p>
        </p:txBody>
      </p:sp>
      <p:sp>
        <p:nvSpPr>
          <p:cNvPr id="5" name="Text 3"/>
          <p:cNvSpPr/>
          <p:nvPr/>
        </p:nvSpPr>
        <p:spPr>
          <a:xfrm>
            <a:off x="731520" y="630936"/>
            <a:ext cx="1088136" cy="146304"/>
          </a:xfrm>
          <a:prstGeom prst="rect">
            <a:avLst/>
          </a:prstGeom>
          <a:noFill/>
          <a:ln/>
        </p:spPr>
        <p:txBody>
          <a:bodyPr wrap="square" lIns="0" tIns="0" rIns="0" bIns="0" rtlCol="0" anchor="ctr">
            <a:normAutofit/>
          </a:bodyPr>
          <a:lstStyle/>
          <a:p>
            <a:pPr marL="0" indent="0" algn="ctr">
              <a:buNone/>
            </a:pPr>
            <a:r>
              <a:rPr lang="en-US" sz="850" b="1" dirty="0">
                <a:solidFill>
                  <a:srgbClr val="102A43"/>
                </a:solidFill>
                <a:latin typeface="Aptos" pitchFamily="34" charset="0"/>
                <a:ea typeface="Aptos" pitchFamily="34" charset="-122"/>
                <a:cs typeface="Aptos" pitchFamily="34" charset="-120"/>
              </a:rPr>
              <a:t>CLOSEOUT</a:t>
            </a:r>
            <a:endParaRPr lang="en-US" sz="850" dirty="0"/>
          </a:p>
        </p:txBody>
      </p:sp>
      <p:sp>
        <p:nvSpPr>
          <p:cNvPr id="6" name="Text 4"/>
          <p:cNvSpPr/>
          <p:nvPr/>
        </p:nvSpPr>
        <p:spPr>
          <a:xfrm>
            <a:off x="658368" y="1234440"/>
            <a:ext cx="7772400" cy="685800"/>
          </a:xfrm>
          <a:prstGeom prst="rect">
            <a:avLst/>
          </a:prstGeom>
          <a:noFill/>
          <a:ln/>
        </p:spPr>
        <p:txBody>
          <a:bodyPr wrap="square" lIns="0" tIns="0" rIns="0" bIns="0" rtlCol="0" anchor="ctr">
            <a:normAutofit/>
          </a:bodyPr>
          <a:lstStyle/>
          <a:p>
            <a:pPr marL="0" indent="0">
              <a:buNone/>
            </a:pPr>
            <a:r>
              <a:rPr lang="en-US" sz="3100" b="1" dirty="0">
                <a:solidFill>
                  <a:srgbClr val="FFFFFF"/>
                </a:solidFill>
                <a:latin typeface="Aptos Display" pitchFamily="34" charset="0"/>
                <a:ea typeface="Aptos Display" pitchFamily="34" charset="-122"/>
                <a:cs typeface="Aptos Display" pitchFamily="34" charset="-120"/>
              </a:rPr>
              <a:t>Leave with a pattern and a decision list</a:t>
            </a:r>
            <a:endParaRPr lang="en-US" sz="3100" dirty="0"/>
          </a:p>
        </p:txBody>
      </p:sp>
      <p:sp>
        <p:nvSpPr>
          <p:cNvPr id="7" name="Text 5"/>
          <p:cNvSpPr/>
          <p:nvPr/>
        </p:nvSpPr>
        <p:spPr>
          <a:xfrm>
            <a:off x="676656" y="2057400"/>
            <a:ext cx="7223760" cy="502920"/>
          </a:xfrm>
          <a:prstGeom prst="rect">
            <a:avLst/>
          </a:prstGeom>
          <a:noFill/>
          <a:ln/>
        </p:spPr>
        <p:txBody>
          <a:bodyPr wrap="square" lIns="0" tIns="0" rIns="0" bIns="0" rtlCol="0" anchor="ctr">
            <a:normAutofit/>
          </a:bodyPr>
          <a:lstStyle/>
          <a:p>
            <a:pPr marL="0" indent="0">
              <a:buNone/>
            </a:pPr>
            <a:r>
              <a:rPr lang="en-US" sz="1500" dirty="0">
                <a:solidFill>
                  <a:srgbClr val="DDEAF2"/>
                </a:solidFill>
                <a:latin typeface="Aptos" pitchFamily="34" charset="0"/>
                <a:ea typeface="Aptos" pitchFamily="34" charset="-122"/>
                <a:cs typeface="Aptos" pitchFamily="34" charset="-120"/>
              </a:rPr>
              <a:t>Confirm the next API, owner, identity model, approval boundary, and production evidence.</a:t>
            </a:r>
            <a:endParaRPr lang="en-US" sz="1500" dirty="0"/>
          </a:p>
        </p:txBody>
      </p:sp>
      <p:sp>
        <p:nvSpPr>
          <p:cNvPr id="8" name="Shape 6"/>
          <p:cNvSpPr/>
          <p:nvPr/>
        </p:nvSpPr>
        <p:spPr>
          <a:xfrm>
            <a:off x="685800" y="3017520"/>
            <a:ext cx="3383280" cy="1874520"/>
          </a:xfrm>
          <a:prstGeom prst="roundRect">
            <a:avLst/>
          </a:prstGeom>
          <a:solidFill>
            <a:srgbClr val="173A54"/>
          </a:solidFill>
          <a:ln w="12700">
            <a:solidFill>
              <a:srgbClr val="315A76"/>
            </a:solidFill>
            <a:prstDash val="solid"/>
          </a:ln>
        </p:spPr>
        <p:txBody>
          <a:bodyPr/>
          <a:lstStyle/>
          <a:p>
            <a:endParaRPr lang="en-US"/>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3544" y="3291840"/>
            <a:ext cx="347472" cy="347472"/>
          </a:xfrm>
          <a:prstGeom prst="rect">
            <a:avLst/>
          </a:prstGeom>
        </p:spPr>
      </p:pic>
      <p:sp>
        <p:nvSpPr>
          <p:cNvPr id="10" name="Text 7"/>
          <p:cNvSpPr/>
          <p:nvPr/>
        </p:nvSpPr>
        <p:spPr>
          <a:xfrm>
            <a:off x="1435608" y="3227832"/>
            <a:ext cx="2331720" cy="256032"/>
          </a:xfrm>
          <a:prstGeom prst="rect">
            <a:avLst/>
          </a:prstGeom>
          <a:noFill/>
          <a:ln/>
        </p:spPr>
        <p:txBody>
          <a:bodyPr wrap="square" lIns="0" tIns="0" rIns="0" bIns="0" rtlCol="0" anchor="ctr">
            <a:normAutofit/>
          </a:bodyPr>
          <a:lstStyle/>
          <a:p>
            <a:pPr marL="0" indent="0">
              <a:buNone/>
            </a:pPr>
            <a:r>
              <a:rPr lang="en-US" sz="1400" b="1" dirty="0">
                <a:solidFill>
                  <a:srgbClr val="FFFFFF"/>
                </a:solidFill>
                <a:latin typeface="Aptos Display" pitchFamily="34" charset="0"/>
                <a:ea typeface="Aptos Display" pitchFamily="34" charset="-122"/>
                <a:cs typeface="Aptos Display" pitchFamily="34" charset="-120"/>
              </a:rPr>
              <a:t>Select the use case</a:t>
            </a:r>
            <a:endParaRPr lang="en-US" sz="1400" dirty="0"/>
          </a:p>
        </p:txBody>
      </p:sp>
      <p:sp>
        <p:nvSpPr>
          <p:cNvPr id="11" name="Text 8"/>
          <p:cNvSpPr/>
          <p:nvPr/>
        </p:nvSpPr>
        <p:spPr>
          <a:xfrm>
            <a:off x="923544" y="3822192"/>
            <a:ext cx="2880360" cy="566928"/>
          </a:xfrm>
          <a:prstGeom prst="rect">
            <a:avLst/>
          </a:prstGeom>
          <a:noFill/>
          <a:ln/>
        </p:spPr>
        <p:txBody>
          <a:bodyPr wrap="square" lIns="0" tIns="0" rIns="0" bIns="0" rtlCol="0" anchor="ctr">
            <a:normAutofit/>
          </a:bodyPr>
          <a:lstStyle/>
          <a:p>
            <a:pPr marL="0" indent="0">
              <a:buNone/>
            </a:pPr>
            <a:r>
              <a:rPr lang="en-US" sz="980" dirty="0">
                <a:solidFill>
                  <a:srgbClr val="DDEAF2"/>
                </a:solidFill>
                <a:latin typeface="Aptos" pitchFamily="34" charset="0"/>
                <a:ea typeface="Aptos" pitchFamily="34" charset="-122"/>
                <a:cs typeface="Aptos" pitchFamily="34" charset="-120"/>
              </a:rPr>
              <a:t>Choose a real workflow with a clear API and measurable outcome.</a:t>
            </a:r>
            <a:endParaRPr lang="en-US" sz="980" dirty="0"/>
          </a:p>
        </p:txBody>
      </p:sp>
      <p:sp>
        <p:nvSpPr>
          <p:cNvPr id="12" name="Shape 9"/>
          <p:cNvSpPr/>
          <p:nvPr/>
        </p:nvSpPr>
        <p:spPr>
          <a:xfrm>
            <a:off x="4480560" y="3017520"/>
            <a:ext cx="3383280" cy="1874520"/>
          </a:xfrm>
          <a:prstGeom prst="roundRect">
            <a:avLst/>
          </a:prstGeom>
          <a:solidFill>
            <a:srgbClr val="173A54"/>
          </a:solidFill>
          <a:ln w="12700">
            <a:solidFill>
              <a:srgbClr val="315A76"/>
            </a:solidFill>
            <a:prstDash val="solid"/>
          </a:ln>
        </p:spPr>
        <p:txBody>
          <a:bodyPr/>
          <a:lstStyle/>
          <a:p>
            <a:endParaRPr lang="en-US"/>
          </a:p>
        </p:txBody>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18304" y="3291840"/>
            <a:ext cx="347472" cy="347472"/>
          </a:xfrm>
          <a:prstGeom prst="rect">
            <a:avLst/>
          </a:prstGeom>
        </p:spPr>
      </p:pic>
      <p:sp>
        <p:nvSpPr>
          <p:cNvPr id="14" name="Text 10"/>
          <p:cNvSpPr/>
          <p:nvPr/>
        </p:nvSpPr>
        <p:spPr>
          <a:xfrm>
            <a:off x="5230368" y="3227832"/>
            <a:ext cx="2331720" cy="256032"/>
          </a:xfrm>
          <a:prstGeom prst="rect">
            <a:avLst/>
          </a:prstGeom>
          <a:noFill/>
          <a:ln/>
        </p:spPr>
        <p:txBody>
          <a:bodyPr wrap="square" lIns="0" tIns="0" rIns="0" bIns="0" rtlCol="0" anchor="ctr">
            <a:normAutofit/>
          </a:bodyPr>
          <a:lstStyle/>
          <a:p>
            <a:pPr marL="0" indent="0">
              <a:buNone/>
            </a:pPr>
            <a:r>
              <a:rPr lang="en-US" sz="1400" b="1" dirty="0">
                <a:solidFill>
                  <a:srgbClr val="FFFFFF"/>
                </a:solidFill>
                <a:latin typeface="Aptos Display" pitchFamily="34" charset="0"/>
                <a:ea typeface="Aptos Display" pitchFamily="34" charset="-122"/>
                <a:cs typeface="Aptos Display" pitchFamily="34" charset="-120"/>
              </a:rPr>
              <a:t>Assign control owners</a:t>
            </a:r>
            <a:endParaRPr lang="en-US" sz="1400" dirty="0"/>
          </a:p>
        </p:txBody>
      </p:sp>
      <p:sp>
        <p:nvSpPr>
          <p:cNvPr id="15" name="Text 11"/>
          <p:cNvSpPr/>
          <p:nvPr/>
        </p:nvSpPr>
        <p:spPr>
          <a:xfrm>
            <a:off x="4718304" y="3822192"/>
            <a:ext cx="2880360" cy="566928"/>
          </a:xfrm>
          <a:prstGeom prst="rect">
            <a:avLst/>
          </a:prstGeom>
          <a:noFill/>
          <a:ln/>
        </p:spPr>
        <p:txBody>
          <a:bodyPr wrap="square" lIns="0" tIns="0" rIns="0" bIns="0" rtlCol="0" anchor="ctr">
            <a:normAutofit/>
          </a:bodyPr>
          <a:lstStyle/>
          <a:p>
            <a:pPr marL="0" indent="0">
              <a:buNone/>
            </a:pPr>
            <a:r>
              <a:rPr lang="en-US" sz="980" dirty="0">
                <a:solidFill>
                  <a:srgbClr val="DDEAF2"/>
                </a:solidFill>
                <a:latin typeface="Aptos" pitchFamily="34" charset="0"/>
                <a:ea typeface="Aptos" pitchFamily="34" charset="-122"/>
                <a:cs typeface="Aptos" pitchFamily="34" charset="-120"/>
              </a:rPr>
              <a:t>Identity, APIM, approvals, monitoring, and support.</a:t>
            </a:r>
            <a:endParaRPr lang="en-US" sz="980" dirty="0"/>
          </a:p>
        </p:txBody>
      </p:sp>
      <p:sp>
        <p:nvSpPr>
          <p:cNvPr id="16" name="Shape 12"/>
          <p:cNvSpPr/>
          <p:nvPr/>
        </p:nvSpPr>
        <p:spPr>
          <a:xfrm>
            <a:off x="8275320" y="3017520"/>
            <a:ext cx="3383280" cy="1874520"/>
          </a:xfrm>
          <a:prstGeom prst="roundRect">
            <a:avLst/>
          </a:prstGeom>
          <a:solidFill>
            <a:srgbClr val="173A54"/>
          </a:solidFill>
          <a:ln w="12700">
            <a:solidFill>
              <a:srgbClr val="315A76"/>
            </a:solidFill>
            <a:prstDash val="solid"/>
          </a:ln>
        </p:spPr>
        <p:txBody>
          <a:bodyPr/>
          <a:lstStyle/>
          <a:p>
            <a:endParaRPr lang="en-US"/>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513064" y="3291840"/>
            <a:ext cx="347472" cy="347472"/>
          </a:xfrm>
          <a:prstGeom prst="rect">
            <a:avLst/>
          </a:prstGeom>
        </p:spPr>
      </p:pic>
      <p:sp>
        <p:nvSpPr>
          <p:cNvPr id="18" name="Text 13"/>
          <p:cNvSpPr/>
          <p:nvPr/>
        </p:nvSpPr>
        <p:spPr>
          <a:xfrm>
            <a:off x="9025128" y="3227832"/>
            <a:ext cx="2331720" cy="256032"/>
          </a:xfrm>
          <a:prstGeom prst="rect">
            <a:avLst/>
          </a:prstGeom>
          <a:noFill/>
          <a:ln/>
        </p:spPr>
        <p:txBody>
          <a:bodyPr wrap="square" lIns="0" tIns="0" rIns="0" bIns="0" rtlCol="0" anchor="ctr">
            <a:normAutofit/>
          </a:bodyPr>
          <a:lstStyle/>
          <a:p>
            <a:pPr marL="0" indent="0">
              <a:buNone/>
            </a:pPr>
            <a:r>
              <a:rPr lang="en-US" sz="1400" b="1" dirty="0">
                <a:solidFill>
                  <a:srgbClr val="FFFFFF"/>
                </a:solidFill>
                <a:latin typeface="Aptos Display" pitchFamily="34" charset="0"/>
                <a:ea typeface="Aptos Display" pitchFamily="34" charset="-122"/>
                <a:cs typeface="Aptos Display" pitchFamily="34" charset="-120"/>
              </a:rPr>
              <a:t>Plan the delivery path</a:t>
            </a:r>
            <a:endParaRPr lang="en-US" sz="1400" dirty="0"/>
          </a:p>
        </p:txBody>
      </p:sp>
      <p:sp>
        <p:nvSpPr>
          <p:cNvPr id="19" name="Text 14"/>
          <p:cNvSpPr/>
          <p:nvPr/>
        </p:nvSpPr>
        <p:spPr>
          <a:xfrm>
            <a:off x="8513064" y="3822192"/>
            <a:ext cx="2880360" cy="566928"/>
          </a:xfrm>
          <a:prstGeom prst="rect">
            <a:avLst/>
          </a:prstGeom>
          <a:noFill/>
          <a:ln/>
        </p:spPr>
        <p:txBody>
          <a:bodyPr wrap="square" lIns="0" tIns="0" rIns="0" bIns="0" rtlCol="0" anchor="ctr">
            <a:normAutofit/>
          </a:bodyPr>
          <a:lstStyle/>
          <a:p>
            <a:pPr marL="0" indent="0">
              <a:buNone/>
            </a:pPr>
            <a:r>
              <a:rPr lang="en-US" sz="980" dirty="0">
                <a:solidFill>
                  <a:srgbClr val="DDEAF2"/>
                </a:solidFill>
                <a:latin typeface="Aptos" pitchFamily="34" charset="0"/>
                <a:ea typeface="Aptos" pitchFamily="34" charset="-122"/>
                <a:cs typeface="Aptos" pitchFamily="34" charset="-120"/>
              </a:rPr>
              <a:t>Environment promotion, protected deployment, smoke tests, and rollback.</a:t>
            </a:r>
            <a:endParaRPr lang="en-US" sz="980" dirty="0"/>
          </a:p>
        </p:txBody>
      </p:sp>
      <p:sp>
        <p:nvSpPr>
          <p:cNvPr id="20" name="Shape 15"/>
          <p:cNvSpPr/>
          <p:nvPr/>
        </p:nvSpPr>
        <p:spPr>
          <a:xfrm>
            <a:off x="548640" y="5321808"/>
            <a:ext cx="7863840" cy="932688"/>
          </a:xfrm>
          <a:prstGeom prst="roundRect">
            <a:avLst>
              <a:gd name="adj" fmla="val 5882"/>
            </a:avLst>
          </a:prstGeom>
          <a:solidFill>
            <a:srgbClr val="102A43"/>
          </a:solidFill>
          <a:ln w="12700">
            <a:solidFill>
              <a:srgbClr val="102A43"/>
            </a:solidFill>
            <a:prstDash val="solid"/>
          </a:ln>
        </p:spPr>
        <p:txBody>
          <a:bodyPr/>
          <a:lstStyle/>
          <a:p>
            <a:endParaRPr lang="en-US"/>
          </a:p>
        </p:txBody>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4088" y="5577840"/>
            <a:ext cx="292608" cy="292608"/>
          </a:xfrm>
          <a:prstGeom prst="rect">
            <a:avLst/>
          </a:prstGeom>
        </p:spPr>
      </p:pic>
      <p:sp>
        <p:nvSpPr>
          <p:cNvPr id="22" name="Text 16"/>
          <p:cNvSpPr/>
          <p:nvPr/>
        </p:nvSpPr>
        <p:spPr>
          <a:xfrm>
            <a:off x="1143000" y="5559552"/>
            <a:ext cx="1691640" cy="219456"/>
          </a:xfrm>
          <a:prstGeom prst="rect">
            <a:avLst/>
          </a:prstGeom>
          <a:noFill/>
          <a:ln/>
        </p:spPr>
        <p:txBody>
          <a:bodyPr wrap="square" lIns="0" tIns="0" rIns="0" bIns="0" rtlCol="0" anchor="ctr"/>
          <a:lstStyle/>
          <a:p>
            <a:pPr marL="0" indent="0">
              <a:buNone/>
            </a:pPr>
            <a:r>
              <a:rPr lang="en-US" sz="1250" b="1" dirty="0">
                <a:solidFill>
                  <a:srgbClr val="FFFFFF"/>
                </a:solidFill>
                <a:latin typeface="Aptos Display" pitchFamily="34" charset="0"/>
                <a:ea typeface="Aptos Display" pitchFamily="34" charset="-122"/>
                <a:cs typeface="Aptos Display" pitchFamily="34" charset="-120"/>
              </a:rPr>
              <a:t>Workshop repository</a:t>
            </a:r>
            <a:endParaRPr lang="en-US" sz="1250" dirty="0"/>
          </a:p>
        </p:txBody>
      </p:sp>
      <p:sp>
        <p:nvSpPr>
          <p:cNvPr id="23" name="Text 17"/>
          <p:cNvSpPr/>
          <p:nvPr/>
        </p:nvSpPr>
        <p:spPr>
          <a:xfrm>
            <a:off x="2834640" y="5559552"/>
            <a:ext cx="5212080" cy="219456"/>
          </a:xfrm>
          <a:prstGeom prst="rect">
            <a:avLst/>
          </a:prstGeom>
          <a:noFill/>
          <a:ln/>
        </p:spPr>
        <p:txBody>
          <a:bodyPr wrap="square" lIns="0" tIns="0" rIns="0" bIns="0" rtlCol="0" anchor="ctr"/>
          <a:lstStyle/>
          <a:p>
            <a:pPr marL="0" indent="0">
              <a:buNone/>
            </a:pPr>
            <a:r>
              <a:rPr lang="en-US" sz="1050" u="sng">
                <a:solidFill>
                  <a:srgbClr val="5BD6C5"/>
                </a:solidFill>
                <a:latin typeface="Consolas" pitchFamily="34" charset="0"/>
                <a:ea typeface="Consolas" pitchFamily="34" charset="-122"/>
                <a:cs typeface="Consolas" pitchFamily="34" charset="-120"/>
              </a:rPr>
              <a:t>Open the repository README for workshop files</a:t>
            </a:r>
            <a:endParaRPr lang="en-US" sz="1050" dirty="0"/>
          </a:p>
        </p:txBody>
      </p:sp>
      <p:sp>
        <p:nvSpPr>
          <p:cNvPr id="24" name="Text 18"/>
          <p:cNvSpPr/>
          <p:nvPr/>
        </p:nvSpPr>
        <p:spPr>
          <a:xfrm>
            <a:off x="1143000" y="5943600"/>
            <a:ext cx="5943600" cy="201168"/>
          </a:xfrm>
          <a:prstGeom prst="rect">
            <a:avLst/>
          </a:prstGeom>
          <a:noFill/>
          <a:ln/>
        </p:spPr>
        <p:txBody>
          <a:bodyPr wrap="square" lIns="0" tIns="0" rIns="0" bIns="0" rtlCol="0" anchor="ctr"/>
          <a:lstStyle/>
          <a:p>
            <a:pPr marL="0" indent="0">
              <a:buNone/>
            </a:pPr>
            <a:r>
              <a:rPr lang="en-US" sz="950" dirty="0">
                <a:solidFill>
                  <a:srgbClr val="AFC7D7"/>
                </a:solidFill>
                <a:latin typeface="Aptos" pitchFamily="34" charset="0"/>
                <a:ea typeface="Aptos" pitchFamily="34" charset="-122"/>
                <a:cs typeface="Aptos" pitchFamily="34" charset="-120"/>
              </a:rPr>
              <a:t>Labs, policies, sample agent, architecture, and deployment guidance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3294</Words>
  <Application>Microsoft Office PowerPoint</Application>
  <PresentationFormat>Widescreen</PresentationFormat>
  <Paragraphs>462</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2026-09-25T15:13:44Z</dcterms:created>
  <dcterms:modified xsi:type="dcterms:W3CDTF">2026-09-28T14:58:15Z</dcterms:modified>
</cp:coreProperties>
</file>