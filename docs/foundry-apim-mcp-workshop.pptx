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3" Type="http://schemas.openxmlformats.org/officeDocument/2006/relationships/extended-properties" Target="docProps/app.xml" /><Relationship Id="rId2" Type="http://schemas.openxmlformats.org/package/2006/relationships/metadata/core-properties" Target="docProps/core.xml"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1" d="100"/>
          <a:sy n="101" d="100"/>
        </p:scale>
        <p:origin x="84"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the ASP.NET Core web project first. Confirm that the Responses API is listening at http://localhost:8088/responses before opening either client. For the PowerShell smoke test, prepare $body from the lab request payload and run the displayed Invoke-RestMethod command. Open Agent Inspector from Foundry Toolkit for the teaching view because it exposes model input, tool discovery, tool calls, approvals, and the final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svg"/><Relationship Id="rId7" Type="http://schemas.openxmlformats.org/officeDocument/2006/relationships/image" Target="../media/image14.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svg"/><Relationship Id="rId10" Type="http://schemas.openxmlformats.org/officeDocument/2006/relationships/image" Target="../media/image17.svg"/><Relationship Id="rId4" Type="http://schemas.openxmlformats.org/officeDocument/2006/relationships/image" Target="../media/image11.svg"/><Relationship Id="rId9" Type="http://schemas.openxmlformats.org/officeDocument/2006/relationships/image" Target="../media/image16.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8.svg"/><Relationship Id="rId7" Type="http://schemas.openxmlformats.org/officeDocument/2006/relationships/image" Target="../media/image22.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9.svg"/></Relationships>
</file>

<file path=ppt/slides/_rels/slide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8.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5.svg"/></Relationships>
</file>

<file path=ppt/slides/_rels/slide9.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svg"/></Relationships>
</file>

<file path=ppt/slides/_rels/slide10.xml.rels><?xml version="1.0" encoding="UTF-8" standalone="yes"?>
<Relationships xmlns="http://schemas.openxmlformats.org/package/2006/relationships"><Relationship Id="rId8" Type="http://schemas.openxmlformats.org/officeDocument/2006/relationships/image" Target="../media/image38.svg"/><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 Id="rId9" Type="http://schemas.openxmlformats.org/officeDocument/2006/relationships/image" Target="../media/image39.svg"/></Relationships>
</file>

<file path=ppt/slides/_rels/slide11.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svg"/></Relationships>
</file>

<file path=ppt/slides/_rels/slide12.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4.svg"/><Relationship Id="rId4" Type="http://schemas.openxmlformats.org/officeDocument/2006/relationships/image" Target="../media/image43.svg"/></Relationships>
</file>

<file path=ppt/slides/_rels/slide13.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45.svg"/><Relationship Id="rId7" Type="http://schemas.openxmlformats.org/officeDocument/2006/relationships/image" Target="../media/image48.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7.svg"/><Relationship Id="rId5" Type="http://schemas.openxmlformats.org/officeDocument/2006/relationships/image" Target="../media/image25.svg"/><Relationship Id="rId4" Type="http://schemas.openxmlformats.org/officeDocument/2006/relationships/image" Target="../media/image46.svg"/><Relationship Id="rId9" Type="http://schemas.openxmlformats.org/officeDocument/2006/relationships/image" Target="../media/image49.svg"/></Relationships>
</file>

<file path=ppt/slides/_rels/slide14.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0.svg"/></Relationships>
</file>

<file path=ppt/slides/_rels/slide15.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2.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55.svg"/><Relationship Id="rId4" Type="http://schemas.openxmlformats.org/officeDocument/2006/relationships/image" Target="../media/image54.svg"/></Relationships>
</file>

<file path=ppt/slides/_rels/slide17.xml.rels><?xml version="1.0" encoding="UTF-8" standalone="yes"?>
<Relationships xmlns="http://schemas.openxmlformats.org/package/2006/relationships"><Relationship Id="rId8" Type="http://schemas.openxmlformats.org/officeDocument/2006/relationships/image" Target="../media/image58.svg"/><Relationship Id="rId3" Type="http://schemas.openxmlformats.org/officeDocument/2006/relationships/image" Target="../media/image56.svg"/><Relationship Id="rId7" Type="http://schemas.openxmlformats.org/officeDocument/2006/relationships/image" Target="../media/image21.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5.svg"/><Relationship Id="rId11" Type="http://schemas.openxmlformats.org/officeDocument/2006/relationships/image" Target="../media/image60.svg"/><Relationship Id="rId5" Type="http://schemas.openxmlformats.org/officeDocument/2006/relationships/image" Target="../media/image57.svg"/><Relationship Id="rId10" Type="http://schemas.openxmlformats.org/officeDocument/2006/relationships/image" Target="../media/image59.svg"/><Relationship Id="rId4" Type="http://schemas.openxmlformats.org/officeDocument/2006/relationships/image" Target="../media/image7.svg"/><Relationship Id="rId9" Type="http://schemas.openxmlformats.org/officeDocument/2006/relationships/image" Target="../media/image29.svg"/></Relationships>
</file>

<file path=ppt/slides/_rels/slide18.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9.svg"/><Relationship Id="rId4" Type="http://schemas.openxmlformats.org/officeDocument/2006/relationships/image" Target="../media/image61.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3.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2.svg"/><Relationship Id="rId5" Type="http://schemas.openxmlformats.org/officeDocument/2006/relationships/image" Target="../media/image51.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4.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7.svg"/><Relationship Id="rId5" Type="http://schemas.openxmlformats.org/officeDocument/2006/relationships/image" Target="../media/image66.svg"/><Relationship Id="rId4" Type="http://schemas.openxmlformats.org/officeDocument/2006/relationships/image" Target="../media/image65.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016752"/>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85416" y="2907792"/>
            <a:ext cx="283464" cy="0"/>
          </a:xfrm>
          <a:prstGeom prst="line">
            <a:avLst/>
          </a:prstGeom>
          <a:noFill/>
          <a:ln w="25400">
            <a:solidFill>
              <a:srgbClr val="748494"/>
            </a:solidFill>
            <a:prstDash val="solid"/>
            <a:tailEnd type="triangle"/>
          </a:ln>
        </p:spPr>
        <p:txBody>
          <a:bodyPr/>
          <a:lstStyle/>
          <a:p>
            <a:endParaRPr lang="en-US"/>
          </a:p>
        </p:txBody>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Agent experience</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98848" y="2907792"/>
            <a:ext cx="329184" cy="0"/>
          </a:xfrm>
          <a:prstGeom prst="line">
            <a:avLst/>
          </a:prstGeom>
          <a:noFill/>
          <a:ln w="25400">
            <a:solidFill>
              <a:srgbClr val="748494"/>
            </a:solidFill>
            <a:prstDash val="solid"/>
            <a:tailEnd type="triangle"/>
          </a:ln>
        </p:spPr>
        <p:txBody>
          <a:bodyPr/>
          <a:lstStyle/>
          <a:p>
            <a:endParaRPr lang="en-US"/>
          </a:p>
        </p:txBody>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85432" y="2907792"/>
            <a:ext cx="338328" cy="0"/>
          </a:xfrm>
          <a:prstGeom prst="line">
            <a:avLst/>
          </a:prstGeom>
          <a:noFill/>
          <a:ln w="25400">
            <a:solidFill>
              <a:srgbClr val="748494"/>
            </a:solidFill>
            <a:prstDash val="solid"/>
            <a:tailEnd type="triangle"/>
          </a:ln>
        </p:spPr>
        <p:txBody>
          <a:bodyPr/>
          <a:lstStyle/>
          <a:p>
            <a:endParaRPr lang="en-US"/>
          </a:p>
        </p:txBody>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89720" y="2907792"/>
            <a:ext cx="338328" cy="0"/>
          </a:xfrm>
          <a:prstGeom prst="line">
            <a:avLst/>
          </a:prstGeom>
          <a:noFill/>
          <a:ln w="25400">
            <a:solidFill>
              <a:srgbClr val="748494"/>
            </a:solidFill>
            <a:prstDash val="solid"/>
            <a:tailEnd type="triangle"/>
          </a:ln>
        </p:spPr>
        <p:txBody>
          <a:bodyPr/>
          <a:lstStyle/>
          <a:p>
            <a:endParaRPr lang="en-US"/>
          </a:p>
        </p:txBody>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sp>
        <p:nvSpPr>
          <p:cNvPr id="34" name="Shape 27"/>
          <p:cNvSpPr/>
          <p:nvPr/>
        </p:nvSpPr>
        <p:spPr>
          <a:xfrm>
            <a:off x="4407408" y="4224528"/>
            <a:ext cx="2926080" cy="1042416"/>
          </a:xfrm>
          <a:prstGeom prst="roundRect">
            <a:avLst/>
          </a:prstGeom>
          <a:solidFill>
            <a:srgbClr val="102A43"/>
          </a:solidFill>
          <a:ln w="12700">
            <a:solidFill>
              <a:srgbClr val="102A43"/>
            </a:solidFill>
            <a:prstDash val="solid"/>
          </a:ln>
        </p:spPr>
        <p:txBody>
          <a:bodyPr/>
          <a:lstStyle/>
          <a:p>
            <a:endParaRPr lang="en-US"/>
          </a:p>
        </p:txBody>
      </p:sp>
      <p:pic>
        <p:nvPicPr>
          <p:cNvPr id="35" name="Image 5"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45152" y="4480560"/>
            <a:ext cx="347472" cy="347472"/>
          </a:xfrm>
          <a:prstGeom prst="rect">
            <a:avLst/>
          </a:prstGeom>
        </p:spPr>
      </p:pic>
      <p:sp>
        <p:nvSpPr>
          <p:cNvPr id="36" name="Text 28"/>
          <p:cNvSpPr/>
          <p:nvPr/>
        </p:nvSpPr>
        <p:spPr>
          <a:xfrm>
            <a:off x="5120640" y="4370832"/>
            <a:ext cx="1938528" cy="228600"/>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Policies and approvals</a:t>
            </a:r>
            <a:endParaRPr lang="en-US" sz="1400" dirty="0"/>
          </a:p>
        </p:txBody>
      </p:sp>
      <p:sp>
        <p:nvSpPr>
          <p:cNvPr id="37" name="Text 29"/>
          <p:cNvSpPr/>
          <p:nvPr/>
        </p:nvSpPr>
        <p:spPr>
          <a:xfrm>
            <a:off x="5120640" y="4645152"/>
            <a:ext cx="1901952" cy="393192"/>
          </a:xfrm>
          <a:prstGeom prst="rect">
            <a:avLst/>
          </a:prstGeom>
          <a:noFill/>
          <a:ln/>
        </p:spPr>
        <p:txBody>
          <a:bodyPr wrap="square" lIns="0" tIns="0" rIns="0" bIns="0" rtlCol="0" anchor="ctr">
            <a:normAutofit lnSpcReduction="10000"/>
          </a:bodyPr>
          <a:lstStyle/>
          <a:p>
            <a:pPr marL="0" indent="0">
              <a:buNone/>
            </a:pPr>
            <a:r>
              <a:rPr lang="en-US" sz="870" dirty="0">
                <a:solidFill>
                  <a:srgbClr val="DDEAF2"/>
                </a:solidFill>
                <a:latin typeface="Aptos" pitchFamily="34" charset="0"/>
                <a:ea typeface="Aptos" pitchFamily="34" charset="-122"/>
                <a:cs typeface="Aptos" pitchFamily="34" charset="-120"/>
              </a:rPr>
              <a:t>Authentication, rate limits, correlation, tracing, logging, and state-change consent</a:t>
            </a:r>
            <a:endParaRPr lang="en-US" sz="870" dirty="0"/>
          </a:p>
        </p:txBody>
      </p:sp>
      <p:sp>
        <p:nvSpPr>
          <p:cNvPr id="38" name="Shape 30"/>
          <p:cNvSpPr/>
          <p:nvPr/>
        </p:nvSpPr>
        <p:spPr>
          <a:xfrm>
            <a:off x="5870448" y="3758184"/>
            <a:ext cx="0" cy="457200"/>
          </a:xfrm>
          <a:prstGeom prst="line">
            <a:avLst/>
          </a:prstGeom>
          <a:noFill/>
          <a:ln w="25400">
            <a:solidFill>
              <a:srgbClr val="5BD6C5"/>
            </a:solidFill>
            <a:prstDash val="solid"/>
            <a:headEnd type="triangle"/>
          </a:ln>
        </p:spPr>
        <p:txBody>
          <a:bodyPr/>
          <a:lstStyle/>
          <a:p>
            <a:endParaRPr lang="en-US"/>
          </a:p>
        </p:txBody>
      </p:sp>
      <p:sp>
        <p:nvSpPr>
          <p:cNvPr id="39" name="Shape 31"/>
          <p:cNvSpPr/>
          <p:nvPr/>
        </p:nvSpPr>
        <p:spPr>
          <a:xfrm>
            <a:off x="7680960" y="4224528"/>
            <a:ext cx="2880360" cy="1042416"/>
          </a:xfrm>
          <a:prstGeom prst="roundRect">
            <a:avLst/>
          </a:prstGeom>
          <a:solidFill>
            <a:srgbClr val="FFFFFF"/>
          </a:solidFill>
          <a:ln w="12700">
            <a:solidFill>
              <a:srgbClr val="DDE6EC"/>
            </a:solidFill>
            <a:prstDash val="solid"/>
          </a:ln>
        </p:spPr>
        <p:txBody>
          <a:bodyPr/>
          <a:lstStyle/>
          <a:p>
            <a:endParaRPr lang="en-US"/>
          </a:p>
        </p:txBody>
      </p:sp>
      <p:pic>
        <p:nvPicPr>
          <p:cNvPr id="40" name="Image 6"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36992" y="4480560"/>
            <a:ext cx="329184" cy="329184"/>
          </a:xfrm>
          <a:prstGeom prst="rect">
            <a:avLst/>
          </a:prstGeom>
        </p:spPr>
      </p:pic>
      <p:sp>
        <p:nvSpPr>
          <p:cNvPr id="41" name="Text 32"/>
          <p:cNvSpPr/>
          <p:nvPr/>
        </p:nvSpPr>
        <p:spPr>
          <a:xfrm>
            <a:off x="8394192" y="4370832"/>
            <a:ext cx="1874520" cy="228600"/>
          </a:xfrm>
          <a:prstGeom prst="rect">
            <a:avLst/>
          </a:prstGeom>
          <a:noFill/>
          <a:ln/>
        </p:spPr>
        <p:txBody>
          <a:bodyPr wrap="square" lIns="0" tIns="0" rIns="0" bIns="0" rtlCol="0" anchor="ctr">
            <a:normAutofit fontScale="92500"/>
          </a:bodyP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Azure Monitor + App Insights</a:t>
            </a:r>
            <a:endParaRPr lang="en-US" sz="1300" dirty="0"/>
          </a:p>
        </p:txBody>
      </p:sp>
      <p:sp>
        <p:nvSpPr>
          <p:cNvPr id="42" name="Text 33"/>
          <p:cNvSpPr/>
          <p:nvPr/>
        </p:nvSpPr>
        <p:spPr>
          <a:xfrm>
            <a:off x="8394192" y="4645152"/>
            <a:ext cx="1874520" cy="36576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Aptos" pitchFamily="34" charset="0"/>
                <a:ea typeface="Aptos" pitchFamily="34" charset="-122"/>
                <a:cs typeface="Aptos" pitchFamily="34" charset="-120"/>
              </a:rPr>
              <a:t>Latency, failures, usage, request correlation, and audit evidence</a:t>
            </a:r>
            <a:endParaRPr lang="en-US" sz="870" dirty="0"/>
          </a:p>
        </p:txBody>
      </p:sp>
      <p:sp>
        <p:nvSpPr>
          <p:cNvPr id="43" name="Shape 34"/>
          <p:cNvSpPr/>
          <p:nvPr/>
        </p:nvSpPr>
        <p:spPr>
          <a:xfrm>
            <a:off x="6858000" y="3749040"/>
            <a:ext cx="1691640" cy="475488"/>
          </a:xfrm>
          <a:prstGeom prst="line">
            <a:avLst/>
          </a:prstGeom>
          <a:noFill/>
          <a:ln w="19050">
            <a:solidFill>
              <a:srgbClr val="FF7A59"/>
            </a:solidFill>
            <a:prstDash val="solid"/>
            <a:tailEnd type="triangle"/>
          </a:ln>
        </p:spPr>
        <p:txBody>
          <a:bodyPr/>
          <a:lstStyle/>
          <a:p>
            <a:endParaRPr lang="en-US"/>
          </a:p>
        </p:txBody>
      </p:sp>
      <p:sp>
        <p:nvSpPr>
          <p:cNvPr id="44" name="Text 3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Architecture: intent stays with the agent, controls stay at the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3528314" y="2431796"/>
            <a:ext cx="330200" cy="330200"/>
          </a:xfrm>
          <a:prstGeom prst="rect">
            <a:avLst/>
          </a:prstGeom>
        </p:spPr>
      </p:pic>
      <p:pic>
        <p:nvPicPr>
          <p:cNvPr id="51" name="Azure API Management Icon">
            <a:extLst>
              <a:ext uri="{FF2B5EF4-FFF2-40B4-BE49-F238E27FC236}">
                <a16:creationId xmlns:a16="http://schemas.microsoft.com/office/drawing/2014/main" id="{AAFB1189-5C1B-9BD4-7D9F-53793DC99227}"/>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5590032" y="2330196"/>
            <a:ext cx="533400" cy="5334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3109214" y="2431796"/>
            <a:ext cx="330200" cy="330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txBody>
          <a:bodyPr/>
          <a:lstStyle/>
          <a:p>
            <a:endParaRPr lang="en-US"/>
          </a:p>
        </p:txBody>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3298</Words>
  <Application>Microsoft Office PowerPoint</Application>
  <PresentationFormat>Widescreen</PresentationFormat>
  <Paragraphs>458</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2026-09-25T21:58:36Z</dcterms:modified>
</cp:coreProperties>
</file>