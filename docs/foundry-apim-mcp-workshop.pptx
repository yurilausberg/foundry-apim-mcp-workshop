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3" Type="http://schemas.openxmlformats.org/officeDocument/2006/relationships/extended-properties" Target="docProps/app.xml" /><Relationship Id="rId2" Type="http://schemas.openxmlformats.org/package/2006/relationships/metadata/core-properties" Target="docProps/core.xml"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1" d="100"/>
          <a:sy n="101" d="100"/>
        </p:scale>
        <p:origin x="84"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 the ASP.NET Core web project first. Confirm that the Responses API is listening at http://localhost:8088/responses before opening either client. For the PowerShell smoke test, prepare $body from the lab request payload and run the displayed Invoke-RestMethod command. Open Agent Inspector from Foundry Toolkit for the teaching view because it exposes model input, tool discovery, tool calls, approvals, and the final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3340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600700"/>
            <a:ext cx="2413000" cy="215444"/>
          </a:xfrm>
          <a:prstGeom prst="rect">
            <a:avLst/>
          </a:prstGeom>
          <a:noFill/>
        </p:spPr>
        <p:txBody>
          <a:bodyPr vert="horz" lIns="0" tIns="0" rIns="0" bIns="0" rtlCol="0">
            <a:spAutoFit/>
          </a:bodyPr>
          <a:lstStyle/>
          <a:p>
            <a:r>
              <a:rPr lang="en-US" sz="1400" b="1">
                <a:solidFill>
                  <a:srgbClr val="FFFFFF"/>
                </a:solidFill>
                <a:latin typeface="Aptos" panose="020B0004020202020204" pitchFamily="34" charset="0"/>
              </a:rPr>
              <a:t>aka.ms/MCPWorkshop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10312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2459736"/>
            <a:ext cx="274320" cy="274320"/>
          </a:xfrm>
          <a:prstGeom prst="rect">
            <a:avLst/>
          </a:prstGeom>
        </p:spPr>
      </p:pic>
      <p:sp>
        <p:nvSpPr>
          <p:cNvPr id="8" name="Text 5"/>
          <p:cNvSpPr/>
          <p:nvPr/>
        </p:nvSpPr>
        <p:spPr>
          <a:xfrm>
            <a:off x="676656" y="2999232"/>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3328416"/>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85416" y="2907792"/>
            <a:ext cx="283464" cy="0"/>
          </a:xfrm>
          <a:prstGeom prst="line">
            <a:avLst/>
          </a:prstGeom>
          <a:noFill/>
          <a:ln w="25400">
            <a:solidFill>
              <a:srgbClr val="748494"/>
            </a:solidFill>
            <a:prstDash val="solid"/>
            <a:tailEnd type="triangle"/>
          </a:ln>
        </p:spPr>
        <p:txBody>
          <a:bodyPr/>
          <a:lstStyle/>
          <a:p>
            <a:endParaRPr lang="en-US"/>
          </a:p>
        </p:txBody>
      </p:sp>
      <p:sp>
        <p:nvSpPr>
          <p:cNvPr id="11" name="Shape 8"/>
          <p:cNvSpPr/>
          <p:nvPr/>
        </p:nvSpPr>
        <p:spPr>
          <a:xfrm>
            <a:off x="2514600" y="210312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2999232"/>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experiences</a:t>
            </a:r>
            <a:endParaRPr lang="en-US" sz="1300" dirty="0"/>
          </a:p>
        </p:txBody>
      </p:sp>
      <p:sp>
        <p:nvSpPr>
          <p:cNvPr id="15" name="Text 11"/>
          <p:cNvSpPr/>
          <p:nvPr/>
        </p:nvSpPr>
        <p:spPr>
          <a:xfrm>
            <a:off x="2624328" y="3328416"/>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98848" y="2907792"/>
            <a:ext cx="329184" cy="0"/>
          </a:xfrm>
          <a:prstGeom prst="line">
            <a:avLst/>
          </a:prstGeom>
          <a:noFill/>
          <a:ln w="25400">
            <a:solidFill>
              <a:srgbClr val="748494"/>
            </a:solidFill>
            <a:prstDash val="solid"/>
            <a:tailEnd type="triangle"/>
          </a:ln>
        </p:spPr>
        <p:txBody>
          <a:bodyPr/>
          <a:lstStyle/>
          <a:p>
            <a:endParaRPr lang="en-US"/>
          </a:p>
        </p:txBody>
      </p:sp>
      <p:sp>
        <p:nvSpPr>
          <p:cNvPr id="17" name="Shape 13"/>
          <p:cNvSpPr/>
          <p:nvPr/>
        </p:nvSpPr>
        <p:spPr>
          <a:xfrm>
            <a:off x="4873752" y="210312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2999232"/>
            <a:ext cx="174650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APIM MCP server</a:t>
            </a:r>
            <a:endParaRPr lang="en-US" sz="1300" dirty="0"/>
          </a:p>
        </p:txBody>
      </p:sp>
      <p:sp>
        <p:nvSpPr>
          <p:cNvPr id="21" name="Text 16"/>
          <p:cNvSpPr/>
          <p:nvPr/>
        </p:nvSpPr>
        <p:spPr>
          <a:xfrm>
            <a:off x="4983480" y="3328416"/>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85432" y="2907792"/>
            <a:ext cx="338328" cy="0"/>
          </a:xfrm>
          <a:prstGeom prst="line">
            <a:avLst/>
          </a:prstGeom>
          <a:noFill/>
          <a:ln w="25400">
            <a:solidFill>
              <a:srgbClr val="748494"/>
            </a:solidFill>
            <a:prstDash val="solid"/>
            <a:tailEnd type="triangle"/>
          </a:ln>
        </p:spPr>
        <p:txBody>
          <a:bodyPr/>
          <a:lstStyle/>
          <a:p>
            <a:endParaRPr lang="en-US"/>
          </a:p>
        </p:txBody>
      </p:sp>
      <p:sp>
        <p:nvSpPr>
          <p:cNvPr id="23" name="Shape 18"/>
          <p:cNvSpPr/>
          <p:nvPr/>
        </p:nvSpPr>
        <p:spPr>
          <a:xfrm>
            <a:off x="7269480" y="210312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7941564" y="233172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69580" y="2459736"/>
            <a:ext cx="274320" cy="274320"/>
          </a:xfrm>
          <a:prstGeom prst="rect">
            <a:avLst/>
          </a:prstGeom>
        </p:spPr>
      </p:pic>
      <p:sp>
        <p:nvSpPr>
          <p:cNvPr id="26" name="Text 20"/>
          <p:cNvSpPr/>
          <p:nvPr/>
        </p:nvSpPr>
        <p:spPr>
          <a:xfrm>
            <a:off x="7379208" y="2999232"/>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3328416"/>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89720" y="2907792"/>
            <a:ext cx="338328" cy="0"/>
          </a:xfrm>
          <a:prstGeom prst="line">
            <a:avLst/>
          </a:prstGeom>
          <a:noFill/>
          <a:ln w="25400">
            <a:solidFill>
              <a:srgbClr val="748494"/>
            </a:solidFill>
            <a:prstDash val="solid"/>
            <a:tailEnd type="triangle"/>
          </a:ln>
        </p:spPr>
        <p:txBody>
          <a:bodyPr/>
          <a:lstStyle/>
          <a:p>
            <a:endParaRPr lang="en-US"/>
          </a:p>
        </p:txBody>
      </p:sp>
      <p:sp>
        <p:nvSpPr>
          <p:cNvPr id="29" name="Shape 23"/>
          <p:cNvSpPr/>
          <p:nvPr/>
        </p:nvSpPr>
        <p:spPr>
          <a:xfrm>
            <a:off x="9573768" y="210312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233172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451592" y="2459736"/>
            <a:ext cx="274320" cy="274320"/>
          </a:xfrm>
          <a:prstGeom prst="rect">
            <a:avLst/>
          </a:prstGeom>
        </p:spPr>
      </p:pic>
      <p:sp>
        <p:nvSpPr>
          <p:cNvPr id="32" name="Text 25"/>
          <p:cNvSpPr/>
          <p:nvPr/>
        </p:nvSpPr>
        <p:spPr>
          <a:xfrm>
            <a:off x="9683496" y="2999232"/>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3328416"/>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sp>
        <p:nvSpPr>
          <p:cNvPr id="34" name="Shape 27"/>
          <p:cNvSpPr/>
          <p:nvPr/>
        </p:nvSpPr>
        <p:spPr>
          <a:xfrm>
            <a:off x="4508500" y="4224528"/>
            <a:ext cx="2794000" cy="1042416"/>
          </a:xfrm>
          <a:prstGeom prst="roundRect">
            <a:avLst/>
          </a:prstGeom>
          <a:solidFill>
            <a:srgbClr val="102A43"/>
          </a:solidFill>
          <a:ln w="12700">
            <a:solidFill>
              <a:srgbClr val="102A43"/>
            </a:solidFill>
            <a:prstDash val="solid"/>
          </a:ln>
        </p:spPr>
        <p:txBody>
          <a:bodyPr/>
          <a:lstStyle/>
          <a:p>
            <a:endParaRPr lang="en-US"/>
          </a:p>
        </p:txBody>
      </p:sp>
      <p:pic>
        <p:nvPicPr>
          <p:cNvPr id="35" name="Image 5"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747260" y="4480560"/>
            <a:ext cx="347472" cy="347472"/>
          </a:xfrm>
          <a:prstGeom prst="rect">
            <a:avLst/>
          </a:prstGeom>
        </p:spPr>
      </p:pic>
      <p:sp>
        <p:nvSpPr>
          <p:cNvPr id="36" name="Text 28"/>
          <p:cNvSpPr/>
          <p:nvPr/>
        </p:nvSpPr>
        <p:spPr>
          <a:xfrm>
            <a:off x="5207000" y="4370832"/>
            <a:ext cx="1905000" cy="228600"/>
          </a:xfrm>
          <a:prstGeom prst="rect">
            <a:avLst/>
          </a:prstGeom>
          <a:noFill/>
          <a:ln/>
        </p:spPr>
        <p:txBody>
          <a:bodyPr wrap="square" lIns="0" tIns="0" rIns="0" bIns="0" rtlCol="0" anchor="ctr"/>
          <a:lstStyle/>
          <a:p>
            <a:pPr marL="0" indent="0">
              <a:buNone/>
            </a:pPr>
            <a:r>
              <a:rPr lang="en-US" sz="1400" b="1">
                <a:solidFill>
                  <a:srgbClr val="FFFFFF"/>
                </a:solidFill>
                <a:latin typeface="Aptos Display" pitchFamily="34" charset="0"/>
                <a:ea typeface="Aptos Display" pitchFamily="34" charset="-122"/>
                <a:cs typeface="Aptos Display" pitchFamily="34" charset="-120"/>
              </a:rPr>
              <a:t>Policies and controls</a:t>
            </a:r>
            <a:endParaRPr lang="en-US" sz="1400" dirty="0"/>
          </a:p>
        </p:txBody>
      </p:sp>
      <p:sp>
        <p:nvSpPr>
          <p:cNvPr id="37" name="Text 29"/>
          <p:cNvSpPr/>
          <p:nvPr/>
        </p:nvSpPr>
        <p:spPr>
          <a:xfrm>
            <a:off x="5207000" y="4645152"/>
            <a:ext cx="1841500" cy="393192"/>
          </a:xfrm>
          <a:prstGeom prst="rect">
            <a:avLst/>
          </a:prstGeom>
          <a:noFill/>
          <a:ln/>
        </p:spPr>
        <p:txBody>
          <a:bodyPr wrap="square" lIns="0" tIns="0" rIns="0" bIns="0" rtlCol="0" anchor="ctr">
            <a:normAutofit/>
          </a:bodyPr>
          <a:lstStyle/>
          <a:p>
            <a:pPr marL="0" indent="0">
              <a:buNone/>
            </a:pPr>
            <a:r>
              <a:rPr lang="en-US" sz="870">
                <a:solidFill>
                  <a:srgbClr val="DDEAF2"/>
                </a:solidFill>
                <a:latin typeface="Aptos" pitchFamily="34" charset="0"/>
                <a:ea typeface="Aptos" pitchFamily="34" charset="-122"/>
                <a:cs typeface="Aptos" pitchFamily="34" charset="-120"/>
              </a:rPr>
              <a:t>Authentication, rate limits, correlation, tracing, logging, and request controls</a:t>
            </a:r>
            <a:endParaRPr lang="en-US" sz="870" dirty="0"/>
          </a:p>
        </p:txBody>
      </p:sp>
      <p:sp>
        <p:nvSpPr>
          <p:cNvPr id="38" name="Shape 30"/>
          <p:cNvSpPr/>
          <p:nvPr/>
        </p:nvSpPr>
        <p:spPr>
          <a:xfrm>
            <a:off x="5870448" y="3758184"/>
            <a:ext cx="0" cy="457200"/>
          </a:xfrm>
          <a:prstGeom prst="line">
            <a:avLst/>
          </a:prstGeom>
          <a:noFill/>
          <a:ln w="25400">
            <a:solidFill>
              <a:srgbClr val="5BD6C5"/>
            </a:solidFill>
            <a:prstDash val="solid"/>
            <a:headEnd type="triangle"/>
          </a:ln>
        </p:spPr>
        <p:txBody>
          <a:bodyPr/>
          <a:lstStyle/>
          <a:p>
            <a:endParaRPr lang="en-US"/>
          </a:p>
        </p:txBody>
      </p:sp>
      <p:sp>
        <p:nvSpPr>
          <p:cNvPr id="39" name="Shape 31"/>
          <p:cNvSpPr/>
          <p:nvPr/>
        </p:nvSpPr>
        <p:spPr>
          <a:xfrm>
            <a:off x="7680960" y="4224528"/>
            <a:ext cx="2880360" cy="1042416"/>
          </a:xfrm>
          <a:prstGeom prst="roundRect">
            <a:avLst/>
          </a:prstGeom>
          <a:solidFill>
            <a:srgbClr val="FFFFFF"/>
          </a:solidFill>
          <a:ln w="12700">
            <a:solidFill>
              <a:srgbClr val="DDE6EC"/>
            </a:solidFill>
            <a:prstDash val="solid"/>
          </a:ln>
        </p:spPr>
        <p:txBody>
          <a:bodyPr/>
          <a:lstStyle/>
          <a:p>
            <a:endParaRPr lang="en-US"/>
          </a:p>
        </p:txBody>
      </p:sp>
      <p:pic>
        <p:nvPicPr>
          <p:cNvPr id="40" name="Image 6"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36992" y="4480560"/>
            <a:ext cx="329184" cy="329184"/>
          </a:xfrm>
          <a:prstGeom prst="rect">
            <a:avLst/>
          </a:prstGeom>
        </p:spPr>
      </p:pic>
      <p:sp>
        <p:nvSpPr>
          <p:cNvPr id="41" name="Text 32"/>
          <p:cNvSpPr/>
          <p:nvPr/>
        </p:nvSpPr>
        <p:spPr>
          <a:xfrm>
            <a:off x="8394192" y="4370832"/>
            <a:ext cx="1874520" cy="228600"/>
          </a:xfrm>
          <a:prstGeom prst="rect">
            <a:avLst/>
          </a:prstGeom>
          <a:noFill/>
          <a:ln/>
        </p:spPr>
        <p:txBody>
          <a:bodyPr wrap="square" lIns="0" tIns="0" rIns="0" bIns="0" rtlCol="0" anchor="ctr">
            <a:normAutofit fontScale="92500"/>
          </a:bodyP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Azure Monitor + App Insights</a:t>
            </a:r>
            <a:endParaRPr lang="en-US" sz="1300" dirty="0"/>
          </a:p>
        </p:txBody>
      </p:sp>
      <p:sp>
        <p:nvSpPr>
          <p:cNvPr id="42" name="Text 33"/>
          <p:cNvSpPr/>
          <p:nvPr/>
        </p:nvSpPr>
        <p:spPr>
          <a:xfrm>
            <a:off x="8394192" y="4645152"/>
            <a:ext cx="1874520" cy="365760"/>
          </a:xfrm>
          <a:prstGeom prst="rect">
            <a:avLst/>
          </a:prstGeom>
          <a:noFill/>
          <a:ln/>
        </p:spPr>
        <p:txBody>
          <a:bodyPr wrap="square" lIns="0" tIns="0" rIns="0" bIns="0" rtlCol="0" anchor="ctr">
            <a:normAutofit/>
          </a:bodyPr>
          <a:lstStyle/>
          <a:p>
            <a:pPr marL="0" indent="0">
              <a:buNone/>
            </a:pPr>
            <a:r>
              <a:rPr lang="en-US" sz="870">
                <a:solidFill>
                  <a:srgbClr val="4F6474"/>
                </a:solidFill>
                <a:latin typeface="Aptos" pitchFamily="34" charset="0"/>
                <a:ea typeface="Aptos" pitchFamily="34" charset="-122"/>
                <a:cs typeface="Aptos" pitchFamily="34" charset="-120"/>
              </a:rPr>
              <a:t>Latency, failures, usage, correlation, and audit evidence</a:t>
            </a:r>
            <a:endParaRPr lang="en-US" sz="870" dirty="0"/>
          </a:p>
        </p:txBody>
      </p:sp>
      <p:sp>
        <p:nvSpPr>
          <p:cNvPr id="44" name="Text 3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Architecture: intent stays with the agent, controls stay at the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3528314" y="2431796"/>
            <a:ext cx="330200" cy="330200"/>
          </a:xfrm>
          <a:prstGeom prst="rect">
            <a:avLst/>
          </a:prstGeom>
        </p:spPr>
      </p:pic>
      <p:pic>
        <p:nvPicPr>
          <p:cNvPr id="51" name="Azure API Management Icon">
            <a:extLst>
              <a:ext uri="{FF2B5EF4-FFF2-40B4-BE49-F238E27FC236}">
                <a16:creationId xmlns:a16="http://schemas.microsoft.com/office/drawing/2014/main" id="{AAFB1189-5C1B-9BD4-7D9F-53793DC99227}"/>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5590032" y="2330196"/>
            <a:ext cx="533400" cy="5334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3109214" y="2431796"/>
            <a:ext cx="330200" cy="330200"/>
          </a:xfrm>
          <a:prstGeom prst="rect">
            <a:avLst/>
          </a:prstGeom>
        </p:spPr>
      </p:pic>
      <p:sp>
        <p:nvSpPr>
          <p:cNvPr id="12" name="Agent Harness Card">
            <a:extLst>
              <a:ext uri="{FF2B5EF4-FFF2-40B4-BE49-F238E27FC236}">
                <a16:creationId xmlns:a16="http://schemas.microsoft.com/office/drawing/2014/main" id="{2D1F02D2-9A27-7A2A-2BB1-F5E543FDCC2D}"/>
              </a:ext>
            </a:extLst>
          </p:cNvPr>
          <p:cNvSpPr/>
          <p:nvPr/>
        </p:nvSpPr>
        <p:spPr>
          <a:xfrm>
            <a:off x="2514600" y="4224020"/>
            <a:ext cx="1778000" cy="104267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8" name="Agent Harness Title">
            <a:extLst>
              <a:ext uri="{FF2B5EF4-FFF2-40B4-BE49-F238E27FC236}">
                <a16:creationId xmlns:a16="http://schemas.microsoft.com/office/drawing/2014/main" id="{3C479378-2A10-F852-4225-DD925EF41B3A}"/>
              </a:ext>
            </a:extLst>
          </p:cNvPr>
          <p:cNvSpPr/>
          <p:nvPr/>
        </p:nvSpPr>
        <p:spPr>
          <a:xfrm>
            <a:off x="2628900" y="4371340"/>
            <a:ext cx="1549400" cy="228600"/>
          </a:xfrm>
          <a:prstGeom prst="rect">
            <a:avLst/>
          </a:prstGeom>
          <a:noFill/>
          <a:ln/>
        </p:spPr>
        <p:txBody>
          <a:bodyPr wrap="square" lIns="0" tIns="0" rIns="0" bIns="0" rtlCol="0" anchor="ctr">
            <a:normAutofit/>
          </a:bodyPr>
          <a:lstStyle/>
          <a:p>
            <a:pPr marL="0" indent="0" algn="ctr">
              <a:buNone/>
            </a:pPr>
            <a:r>
              <a:rPr lang="en-US" sz="1400" b="1">
                <a:solidFill>
                  <a:srgbClr val="102A43"/>
                </a:solidFill>
                <a:latin typeface="Aptos Display" pitchFamily="34" charset="0"/>
                <a:ea typeface="Aptos Display" pitchFamily="34" charset="-122"/>
                <a:cs typeface="Aptos Display" pitchFamily="34" charset="-120"/>
              </a:rPr>
              <a:t>Agent harness</a:t>
            </a:r>
            <a:endParaRPr lang="en-US" sz="1400" dirty="0"/>
          </a:p>
        </p:txBody>
      </p:sp>
      <p:sp>
        <p:nvSpPr>
          <p:cNvPr id="19" name="Agent Harness Body">
            <a:extLst>
              <a:ext uri="{FF2B5EF4-FFF2-40B4-BE49-F238E27FC236}">
                <a16:creationId xmlns:a16="http://schemas.microsoft.com/office/drawing/2014/main" id="{EC528A1A-0704-0B47-3016-5C26AF458388}"/>
              </a:ext>
            </a:extLst>
          </p:cNvPr>
          <p:cNvSpPr/>
          <p:nvPr/>
        </p:nvSpPr>
        <p:spPr>
          <a:xfrm>
            <a:off x="2628900" y="4660900"/>
            <a:ext cx="1549400" cy="381000"/>
          </a:xfrm>
          <a:prstGeom prst="rect">
            <a:avLst/>
          </a:prstGeom>
          <a:noFill/>
          <a:ln/>
        </p:spPr>
        <p:txBody>
          <a:bodyPr wrap="square" lIns="0" tIns="0" rIns="0" bIns="0" rtlCol="0" anchor="ctr">
            <a:normAutofit/>
          </a:bodyPr>
          <a:lstStyle/>
          <a:p>
            <a:pPr marL="0" indent="0" algn="ctr">
              <a:buNone/>
            </a:pPr>
            <a:r>
              <a:rPr lang="en-US" sz="1050">
                <a:solidFill>
                  <a:srgbClr val="4F6474"/>
                </a:solidFill>
                <a:latin typeface="Aptos" pitchFamily="34" charset="0"/>
                <a:ea typeface="Aptos" pitchFamily="34" charset="-122"/>
                <a:cs typeface="Aptos" pitchFamily="34" charset="-120"/>
              </a:rPr>
              <a:t>Tool selection and</a:t>
            </a:r>
          </a:p>
          <a:p>
            <a:pPr marL="0" indent="0" algn="ctr">
              <a:buNone/>
            </a:pPr>
            <a:r>
              <a:rPr lang="en-US" sz="1050">
                <a:solidFill>
                  <a:srgbClr val="4F6474"/>
                </a:solidFill>
                <a:latin typeface="Aptos" pitchFamily="34" charset="0"/>
                <a:ea typeface="Aptos" pitchFamily="34" charset="-122"/>
                <a:cs typeface="Aptos" pitchFamily="34" charset="-120"/>
              </a:rPr>
              <a:t>approvals</a:t>
            </a:r>
            <a:endParaRPr lang="en-US" sz="1050" dirty="0"/>
          </a:p>
        </p:txBody>
      </p:sp>
      <p:cxnSp>
        <p:nvCxnSpPr>
          <p:cNvPr id="46" name="Agent Harness Arrow">
            <a:extLst>
              <a:ext uri="{FF2B5EF4-FFF2-40B4-BE49-F238E27FC236}">
                <a16:creationId xmlns:a16="http://schemas.microsoft.com/office/drawing/2014/main" id="{FA9AC0A2-7565-7D1E-0A0D-62DBEE29D9D4}"/>
              </a:ext>
            </a:extLst>
          </p:cNvPr>
          <p:cNvCxnSpPr/>
          <p:nvPr/>
        </p:nvCxnSpPr>
        <p:spPr>
          <a:xfrm>
            <a:off x="3483610" y="3752850"/>
            <a:ext cx="0" cy="471170"/>
          </a:xfrm>
          <a:prstGeom prst="line">
            <a:avLst/>
          </a:prstGeom>
          <a:ln w="19050">
            <a:solidFill>
              <a:srgbClr val="775DA6"/>
            </a:solidFill>
            <a:tailEnd type="arrow"/>
          </a:ln>
        </p:spPr>
        <p:style>
          <a:lnRef idx="1">
            <a:schemeClr val="accent1"/>
          </a:lnRef>
          <a:fillRef idx="0">
            <a:schemeClr val="accent1"/>
          </a:fillRef>
          <a:effectRef idx="0">
            <a:schemeClr val="accent1"/>
          </a:effectRef>
          <a:fontRef idx="minor">
            <a:schemeClr val="tx1"/>
          </a:fontRef>
        </p:style>
      </p:cxnSp>
      <p:cxnSp>
        <p:nvCxnSpPr>
          <p:cNvPr id="47" name="Agent Telemetry Down">
            <a:extLst>
              <a:ext uri="{FF2B5EF4-FFF2-40B4-BE49-F238E27FC236}">
                <a16:creationId xmlns:a16="http://schemas.microsoft.com/office/drawing/2014/main" id="{321ED40C-19D4-6A16-C32E-AF1686FFF715}"/>
              </a:ext>
            </a:extLst>
          </p:cNvPr>
          <p:cNvCxnSpPr/>
          <p:nvPr/>
        </p:nvCxnSpPr>
        <p:spPr>
          <a:xfrm>
            <a:off x="3403600" y="5266690"/>
            <a:ext cx="0" cy="321310"/>
          </a:xfrm>
          <a:prstGeom prst="line">
            <a:avLst/>
          </a:prstGeom>
          <a:ln w="17780">
            <a:solidFill>
              <a:srgbClr val="775DA6"/>
            </a:solidFill>
            <a:prstDash val="dash"/>
          </a:ln>
        </p:spPr>
        <p:style>
          <a:lnRef idx="1">
            <a:schemeClr val="accent1"/>
          </a:lnRef>
          <a:fillRef idx="0">
            <a:schemeClr val="accent1"/>
          </a:fillRef>
          <a:effectRef idx="0">
            <a:schemeClr val="accent1"/>
          </a:effectRef>
          <a:fontRef idx="minor">
            <a:schemeClr val="tx1"/>
          </a:fontRef>
        </p:style>
      </p:cxnSp>
      <p:cxnSp>
        <p:nvCxnSpPr>
          <p:cNvPr id="48" name="Agent Telemetry Across">
            <a:extLst>
              <a:ext uri="{FF2B5EF4-FFF2-40B4-BE49-F238E27FC236}">
                <a16:creationId xmlns:a16="http://schemas.microsoft.com/office/drawing/2014/main" id="{C2DB856A-B82E-D8EF-9F9A-3DC496E0ED9C}"/>
              </a:ext>
            </a:extLst>
          </p:cNvPr>
          <p:cNvCxnSpPr/>
          <p:nvPr/>
        </p:nvCxnSpPr>
        <p:spPr>
          <a:xfrm>
            <a:off x="3403600" y="5588000"/>
            <a:ext cx="5715000" cy="0"/>
          </a:xfrm>
          <a:prstGeom prst="line">
            <a:avLst/>
          </a:prstGeom>
          <a:ln w="17780">
            <a:solidFill>
              <a:srgbClr val="775DA6"/>
            </a:solidFill>
            <a:prstDash val="dash"/>
          </a:ln>
        </p:spPr>
        <p:style>
          <a:lnRef idx="1">
            <a:schemeClr val="accent1"/>
          </a:lnRef>
          <a:fillRef idx="0">
            <a:schemeClr val="accent1"/>
          </a:fillRef>
          <a:effectRef idx="0">
            <a:schemeClr val="accent1"/>
          </a:effectRef>
          <a:fontRef idx="minor">
            <a:schemeClr val="tx1"/>
          </a:fontRef>
        </p:style>
      </p:cxnSp>
      <p:cxnSp>
        <p:nvCxnSpPr>
          <p:cNvPr id="50" name="Agent Telemetry Up">
            <a:extLst>
              <a:ext uri="{FF2B5EF4-FFF2-40B4-BE49-F238E27FC236}">
                <a16:creationId xmlns:a16="http://schemas.microsoft.com/office/drawing/2014/main" id="{8F88F55E-16F6-0D19-7A4C-209702CA3521}"/>
              </a:ext>
            </a:extLst>
          </p:cNvPr>
          <p:cNvCxnSpPr/>
          <p:nvPr/>
        </p:nvCxnSpPr>
        <p:spPr>
          <a:xfrm flipV="1">
            <a:off x="9118600" y="5266690"/>
            <a:ext cx="0" cy="321310"/>
          </a:xfrm>
          <a:prstGeom prst="line">
            <a:avLst/>
          </a:prstGeom>
          <a:ln w="17780">
            <a:solidFill>
              <a:srgbClr val="775DA6"/>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2" name="Agent Telemetry Label">
            <a:extLst>
              <a:ext uri="{FF2B5EF4-FFF2-40B4-BE49-F238E27FC236}">
                <a16:creationId xmlns:a16="http://schemas.microsoft.com/office/drawing/2014/main" id="{416A440F-3289-2310-7139-65D5B9CD4ED9}"/>
              </a:ext>
            </a:extLst>
          </p:cNvPr>
          <p:cNvSpPr txBox="1"/>
          <p:nvPr/>
        </p:nvSpPr>
        <p:spPr>
          <a:xfrm>
            <a:off x="5308600" y="5384800"/>
            <a:ext cx="1333500" cy="138499"/>
          </a:xfrm>
          <a:prstGeom prst="rect">
            <a:avLst/>
          </a:prstGeom>
          <a:noFill/>
        </p:spPr>
        <p:txBody>
          <a:bodyPr vert="horz" lIns="0" tIns="0" rIns="0" bIns="0" rtlCol="0">
            <a:spAutoFit/>
          </a:bodyPr>
          <a:lstStyle/>
          <a:p>
            <a:r>
              <a:rPr lang="en-US" sz="900" b="1">
                <a:solidFill>
                  <a:srgbClr val="775DA6"/>
                </a:solidFill>
                <a:latin typeface="Aptos" panose="020B0004020202020204" pitchFamily="34" charset="0"/>
              </a:rPr>
              <a:t>Agent telemetry</a:t>
            </a:r>
          </a:p>
        </p:txBody>
      </p:sp>
      <p:sp>
        <p:nvSpPr>
          <p:cNvPr id="53" name="Agent 365 Badge">
            <a:extLst>
              <a:ext uri="{FF2B5EF4-FFF2-40B4-BE49-F238E27FC236}">
                <a16:creationId xmlns:a16="http://schemas.microsoft.com/office/drawing/2014/main" id="{020CD871-57B2-8109-AB9B-98269BA65176}"/>
              </a:ext>
            </a:extLst>
          </p:cNvPr>
          <p:cNvSpPr/>
          <p:nvPr/>
        </p:nvSpPr>
        <p:spPr>
          <a:xfrm>
            <a:off x="2514600" y="1587500"/>
            <a:ext cx="1938020" cy="3556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2628900" y="16510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2933700" y="1619250"/>
            <a:ext cx="1422400" cy="146194"/>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2933700" y="1784350"/>
            <a:ext cx="1422400" cy="115416"/>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43100"/>
            <a:ext cx="0" cy="160020"/>
          </a:xfrm>
          <a:prstGeom prst="line">
            <a:avLst/>
          </a:prstGeom>
          <a:ln w="15240">
            <a:solidFill>
              <a:srgbClr val="775DA6"/>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59" name="APIM Telemetry Arrow">
            <a:extLst>
              <a:ext uri="{FF2B5EF4-FFF2-40B4-BE49-F238E27FC236}">
                <a16:creationId xmlns:a16="http://schemas.microsoft.com/office/drawing/2014/main" id="{A488F9CD-B0E1-A76B-B990-6CA08965FDE4}"/>
              </a:ext>
            </a:extLst>
          </p:cNvPr>
          <p:cNvCxnSpPr/>
          <p:nvPr/>
        </p:nvCxnSpPr>
        <p:spPr>
          <a:xfrm>
            <a:off x="6604000" y="3703320"/>
            <a:ext cx="1968500" cy="520700"/>
          </a:xfrm>
          <a:prstGeom prst="line">
            <a:avLst/>
          </a:prstGeom>
          <a:ln w="19050">
            <a:solidFill>
              <a:srgbClr val="FF7A59"/>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4005072" y="2999232"/>
            <a:ext cx="914400" cy="1115568"/>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3977640" y="3255264"/>
            <a:ext cx="969264" cy="347472"/>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APIM</a:t>
            </a:r>
            <a:endParaRPr lang="en-US" sz="850" dirty="0"/>
          </a:p>
          <a:p>
            <a:pPr marL="0" indent="0" algn="ctr">
              <a:buNone/>
            </a:pPr>
            <a:r>
              <a:rPr lang="en-US" sz="850" b="1" dirty="0">
                <a:solidFill>
                  <a:srgbClr val="102A43"/>
                </a:solidFill>
                <a:latin typeface="Aptos" pitchFamily="34" charset="0"/>
                <a:ea typeface="Aptos" pitchFamily="34" charset="-122"/>
                <a:cs typeface="Aptos" pitchFamily="34" charset="-120"/>
              </a:rPr>
              <a:t>REST to MCP</a:t>
            </a:r>
            <a:endParaRPr lang="en-US" sz="850" dirty="0"/>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5" name="Shape 3"/>
          <p:cNvSpPr/>
          <p:nvPr/>
        </p:nvSpPr>
        <p:spPr>
          <a:xfrm>
            <a:off x="658368" y="1755648"/>
            <a:ext cx="10972800" cy="4041648"/>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5433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7373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1938528"/>
            <a:ext cx="292608" cy="292608"/>
          </a:xfrm>
          <a:prstGeom prst="rect">
            <a:avLst/>
          </a:prstGeom>
        </p:spPr>
      </p:pic>
      <p:sp>
        <p:nvSpPr>
          <p:cNvPr id="7" name="Text 4"/>
          <p:cNvSpPr/>
          <p:nvPr/>
        </p:nvSpPr>
        <p:spPr>
          <a:xfrm>
            <a:off x="1569568" y="18653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18928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6060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807208"/>
            <a:ext cx="292608" cy="292608"/>
          </a:xfrm>
          <a:prstGeom prst="rect">
            <a:avLst/>
          </a:prstGeom>
        </p:spPr>
      </p:pic>
      <p:sp>
        <p:nvSpPr>
          <p:cNvPr id="11" name="Text 7"/>
          <p:cNvSpPr/>
          <p:nvPr/>
        </p:nvSpPr>
        <p:spPr>
          <a:xfrm>
            <a:off x="2118208" y="27340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7614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4747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675888"/>
            <a:ext cx="292608" cy="292608"/>
          </a:xfrm>
          <a:prstGeom prst="rect">
            <a:avLst/>
          </a:prstGeom>
        </p:spPr>
      </p:pic>
      <p:sp>
        <p:nvSpPr>
          <p:cNvPr id="15" name="Text 10"/>
          <p:cNvSpPr/>
          <p:nvPr/>
        </p:nvSpPr>
        <p:spPr>
          <a:xfrm>
            <a:off x="2666848" y="36027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6301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3434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544568"/>
            <a:ext cx="292608" cy="292608"/>
          </a:xfrm>
          <a:prstGeom prst="rect">
            <a:avLst/>
          </a:prstGeom>
        </p:spPr>
      </p:pic>
      <p:sp>
        <p:nvSpPr>
          <p:cNvPr id="19" name="Text 13"/>
          <p:cNvSpPr/>
          <p:nvPr/>
        </p:nvSpPr>
        <p:spPr>
          <a:xfrm>
            <a:off x="3215488" y="44714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4988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9048" y="5056632"/>
            <a:ext cx="0" cy="219456"/>
          </a:xfrm>
          <a:prstGeom prst="line">
            <a:avLst/>
          </a:prstGeom>
          <a:noFill/>
          <a:ln w="19050">
            <a:solidFill>
              <a:srgbClr val="12304A"/>
            </a:solidFill>
            <a:prstDash val="solid"/>
            <a:tailEnd type="triangle"/>
          </a:ln>
        </p:spPr>
        <p:txBody>
          <a:bodyPr/>
          <a:lstStyle/>
          <a:p>
            <a:endParaRPr lang="en-US"/>
          </a:p>
        </p:txBody>
      </p:sp>
      <p:sp>
        <p:nvSpPr>
          <p:cNvPr id="22" name="Shape 16"/>
          <p:cNvSpPr/>
          <p:nvPr/>
        </p:nvSpPr>
        <p:spPr>
          <a:xfrm>
            <a:off x="5193792" y="5285232"/>
            <a:ext cx="1810512" cy="676656"/>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504688"/>
            <a:ext cx="1536192" cy="164592"/>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 xmlns:ma14="http://schemas.microsoft.com/office/mac/drawingml/2011/main"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3317</Words>
  <Application>Microsoft Office PowerPoint</Application>
  <PresentationFormat>Widescreen</PresentationFormat>
  <Paragraphs>466</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2026-09-25T23:34:13Z</dcterms:modified>
</cp:coreProperties>
</file>