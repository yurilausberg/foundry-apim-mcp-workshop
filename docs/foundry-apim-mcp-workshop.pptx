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what is deployed. Participants deploy agent code to Foundry Agent Service. They do not build or operate Azure Container Apps or Azure Container Registry for this workshop path.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correlation ID to join the client request, agent run, APIM request, API operation, and backend call. Discuss which team owns each signal and who receives alerts.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sp>
      <p:sp>
        <p:nvSpPr>
          <p:cNvPr id="21" name="Shape 19"/>
          <p:cNvSpPr/>
          <p:nvPr/>
        </p:nvSpPr>
        <p:spPr>
          <a:xfrm>
            <a:off x="7626096" y="2953512"/>
            <a:ext cx="731520" cy="0"/>
          </a:xfrm>
          <a:prstGeom prst="line">
            <a:avLst/>
          </a:prstGeom>
          <a:noFill/>
          <a:ln w="25400">
            <a:solidFill>
              <a:srgbClr val="748494"/>
            </a:solidFill>
            <a:prstDash val="solid"/>
            <a:tailEnd type="triangle"/>
          </a:ln>
        </p:spPr>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sp>
      <p:sp>
        <p:nvSpPr>
          <p:cNvPr id="10" name="Shape 7"/>
          <p:cNvSpPr/>
          <p:nvPr/>
        </p:nvSpPr>
        <p:spPr>
          <a:xfrm>
            <a:off x="3657600" y="4160520"/>
            <a:ext cx="914400" cy="594360"/>
          </a:xfrm>
          <a:prstGeom prst="line">
            <a:avLst/>
          </a:prstGeom>
          <a:noFill/>
          <a:ln w="25400">
            <a:solidFill>
              <a:srgbClr val="F4B942"/>
            </a:solidFill>
            <a:prstDash val="solid"/>
            <a:tailEnd type="triangle"/>
          </a:ln>
        </p:spPr>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Two deployment interfaces target the same code deployment model.</a:t>
            </a:r>
            <a:endParaRPr lang="en-US" sz="1250" dirty="0"/>
          </a:p>
        </p:txBody>
      </p:sp>
      <p:sp>
        <p:nvSpPr>
          <p:cNvPr id="5" name="Shape 3"/>
          <p:cNvSpPr/>
          <p:nvPr/>
        </p:nvSpPr>
        <p:spPr>
          <a:xfrm>
            <a:off x="658368"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15468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824"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VS Code deployment experience.</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Select the agent service, bind the Foundry project, and deploy from the editor.</a:t>
            </a:r>
            <a:endParaRPr lang="en-US" sz="1050" dirty="0"/>
          </a:p>
        </p:txBody>
      </p:sp>
      <p:sp>
        <p:nvSpPr>
          <p:cNvPr id="10" name="Shape 7"/>
          <p:cNvSpPr/>
          <p:nvPr/>
        </p:nvSpPr>
        <p:spPr>
          <a:xfrm>
            <a:off x="7872984" y="1828800"/>
            <a:ext cx="3657600" cy="315468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7872984" y="1828800"/>
            <a:ext cx="73152" cy="3154680"/>
          </a:xfrm>
          <a:prstGeom prst="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74152" y="2011680"/>
            <a:ext cx="347472" cy="347472"/>
          </a:xfrm>
          <a:prstGeom prst="rect">
            <a:avLst/>
          </a:prstGeom>
        </p:spPr>
      </p:pic>
      <p:sp>
        <p:nvSpPr>
          <p:cNvPr id="13" name="Text 9"/>
          <p:cNvSpPr/>
          <p:nvPr/>
        </p:nvSpPr>
        <p:spPr>
          <a:xfrm>
            <a:off x="8567928" y="2002536"/>
            <a:ext cx="27614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092440" y="2450592"/>
            <a:ext cx="3218688" cy="235000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the repository's azure.yaml.</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Set the project context, then deploy one named agent service with azd deploy.</a:t>
            </a:r>
            <a:endParaRPr lang="en-US" sz="1050" dirty="0"/>
          </a:p>
        </p:txBody>
      </p:sp>
      <p:sp>
        <p:nvSpPr>
          <p:cNvPr id="15" name="Shape 11"/>
          <p:cNvSpPr/>
          <p:nvPr/>
        </p:nvSpPr>
        <p:spPr>
          <a:xfrm>
            <a:off x="4617720" y="2084832"/>
            <a:ext cx="2944368" cy="265176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5000" y="2404872"/>
            <a:ext cx="713232" cy="713232"/>
          </a:xfrm>
          <a:prstGeom prst="rect">
            <a:avLst/>
          </a:prstGeom>
        </p:spPr>
      </p:pic>
      <p:sp>
        <p:nvSpPr>
          <p:cNvPr id="17" name="Text 12"/>
          <p:cNvSpPr/>
          <p:nvPr/>
        </p:nvSpPr>
        <p:spPr>
          <a:xfrm>
            <a:off x="4956048" y="3310128"/>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5138928" y="3977640"/>
            <a:ext cx="1920240" cy="548640"/>
          </a:xfrm>
          <a:prstGeom prst="rect">
            <a:avLst/>
          </a:prstGeom>
          <a:noFill/>
          <a:ln/>
        </p:spPr>
        <p:txBody>
          <a:bodyPr wrap="square" lIns="0" tIns="0" rIns="0" bIns="0" rtlCol="0" anchor="ctr">
            <a:normAutofit/>
          </a:bodyPr>
          <a:lstStyle/>
          <a:p>
            <a:pPr marL="0" indent="0" algn="ctr">
              <a:buNone/>
            </a:pPr>
            <a:r>
              <a:rPr lang="en-US" sz="950" dirty="0">
                <a:solidFill>
                  <a:srgbClr val="DDEAF2"/>
                </a:solidFill>
                <a:latin typeface="Aptos" pitchFamily="34" charset="0"/>
                <a:ea typeface="Aptos" pitchFamily="34" charset="-122"/>
                <a:cs typeface="Aptos" pitchFamily="34" charset="-120"/>
              </a:rPr>
              <a:t>Managed compute</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Managed sandbox</a:t>
            </a:r>
            <a:endParaRPr lang="en-US" sz="950" dirty="0"/>
          </a:p>
          <a:p>
            <a:pPr marL="0" indent="0" algn="ctr">
              <a:buNone/>
            </a:pPr>
            <a:r>
              <a:rPr lang="en-US" sz="950" dirty="0">
                <a:solidFill>
                  <a:srgbClr val="DDEAF2"/>
                </a:solidFill>
                <a:latin typeface="Aptos" pitchFamily="34" charset="0"/>
                <a:ea typeface="Aptos" pitchFamily="34" charset="-122"/>
                <a:cs typeface="Aptos" pitchFamily="34" charset="-120"/>
              </a:rPr>
              <a:t>Immutable version</a:t>
            </a:r>
            <a:endParaRPr lang="en-US" sz="950" dirty="0"/>
          </a:p>
        </p:txBody>
      </p:sp>
      <p:sp>
        <p:nvSpPr>
          <p:cNvPr id="19" name="Shape 14"/>
          <p:cNvSpPr/>
          <p:nvPr/>
        </p:nvSpPr>
        <p:spPr>
          <a:xfrm>
            <a:off x="4361688" y="3346704"/>
            <a:ext cx="256032" cy="0"/>
          </a:xfrm>
          <a:prstGeom prst="line">
            <a:avLst/>
          </a:prstGeom>
          <a:noFill/>
          <a:ln w="25400">
            <a:solidFill>
              <a:srgbClr val="4F8EF7"/>
            </a:solidFill>
            <a:prstDash val="solid"/>
            <a:tailEnd type="triangle"/>
          </a:ln>
        </p:spPr>
      </p:sp>
      <p:sp>
        <p:nvSpPr>
          <p:cNvPr id="20" name="Shape 15"/>
          <p:cNvSpPr/>
          <p:nvPr/>
        </p:nvSpPr>
        <p:spPr>
          <a:xfrm>
            <a:off x="7580376" y="3346704"/>
            <a:ext cx="256032" cy="0"/>
          </a:xfrm>
          <a:prstGeom prst="line">
            <a:avLst/>
          </a:prstGeom>
          <a:noFill/>
          <a:ln w="25400">
            <a:solidFill>
              <a:srgbClr val="0F8B8D"/>
            </a:solidFill>
            <a:prstDash val="solid"/>
            <a:headEnd type="triangle"/>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394960"/>
            <a:ext cx="256032" cy="256032"/>
          </a:xfrm>
          <a:prstGeom prst="rect">
            <a:avLst/>
          </a:prstGeom>
        </p:spPr>
      </p:pic>
      <p:sp>
        <p:nvSpPr>
          <p:cNvPr id="22" name="Text 16"/>
          <p:cNvSpPr/>
          <p:nvPr/>
        </p:nvSpPr>
        <p:spPr>
          <a:xfrm>
            <a:off x="118872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394960"/>
            <a:ext cx="256032" cy="256032"/>
          </a:xfrm>
          <a:prstGeom prst="rect">
            <a:avLst/>
          </a:prstGeom>
        </p:spPr>
      </p:pic>
      <p:sp>
        <p:nvSpPr>
          <p:cNvPr id="24" name="Text 17"/>
          <p:cNvSpPr/>
          <p:nvPr/>
        </p:nvSpPr>
        <p:spPr>
          <a:xfrm>
            <a:off x="402336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394960"/>
            <a:ext cx="256032" cy="256032"/>
          </a:xfrm>
          <a:prstGeom prst="rect">
            <a:avLst/>
          </a:prstGeom>
        </p:spPr>
      </p:pic>
      <p:sp>
        <p:nvSpPr>
          <p:cNvPr id="26" name="Text 18"/>
          <p:cNvSpPr/>
          <p:nvPr/>
        </p:nvSpPr>
        <p:spPr>
          <a:xfrm>
            <a:off x="685800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394960"/>
            <a:ext cx="256032" cy="256032"/>
          </a:xfrm>
          <a:prstGeom prst="rect">
            <a:avLst/>
          </a:prstGeom>
        </p:spPr>
      </p:pic>
      <p:sp>
        <p:nvSpPr>
          <p:cNvPr id="28" name="Text 19"/>
          <p:cNvSpPr/>
          <p:nvPr/>
        </p:nvSpPr>
        <p:spPr>
          <a:xfrm>
            <a:off x="9692640" y="5413248"/>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IDENTITY CHOICES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how the client obtains the delegated access token</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Both authenticated paths send the </a:t>
            </a:r>
            <a:r>
              <a:rPr lang="en-US" sz="1250" b="1">
                <a:solidFill>
                  <a:srgbClr val="4F8BEF"/>
                </a:solidFill>
                <a:latin typeface="Aptos" pitchFamily="34" charset="0"/>
                <a:ea typeface="Aptos" pitchFamily="34" charset="-122"/>
                <a:cs typeface="Aptos" pitchFamily="34" charset="-120"/>
              </a:rPr>
              <a:t>same bearer token</a:t>
            </a:r>
            <a:r>
              <a:rPr lang="en-US" sz="1250">
                <a:solidFill>
                  <a:srgbClr val="4F6474"/>
                </a:solidFill>
                <a:latin typeface="Aptos" pitchFamily="34" charset="0"/>
                <a:ea typeface="Aptos" pitchFamily="34" charset="-122"/>
                <a:cs typeface="Aptos" pitchFamily="34" charset="-120"/>
              </a:rPr>
              <a:t>. </a:t>
            </a:r>
            <a:r>
              <a:rPr lang="en-US" sz="1250" b="1">
                <a:solidFill>
                  <a:srgbClr val="7B5FA3"/>
                </a:solidFill>
                <a:latin typeface="Aptos" pitchFamily="34" charset="0"/>
                <a:ea typeface="Aptos" pitchFamily="34" charset="-122"/>
                <a:cs typeface="Aptos" pitchFamily="34" charset="-120"/>
              </a:rPr>
              <a:t>OAuth + PKCE</a:t>
            </a:r>
            <a:r>
              <a:rPr lang="en-US" sz="1250">
                <a:solidFill>
                  <a:srgbClr val="4F6474"/>
                </a:solidFill>
                <a:latin typeface="Aptos" pitchFamily="34" charset="0"/>
                <a:ea typeface="Aptos" pitchFamily="34" charset="-122"/>
                <a:cs typeface="Aptos" pitchFamily="34" charset="-120"/>
              </a:rPr>
              <a:t> handles discovery, sign-in, consent, and token lifecycle.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OPERATE THE PATTERN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Observe one request across every boundary</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Correlation turns a multi-service tool call into a supportable system.</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841248" y="3611880"/>
            <a:ext cx="10497312" cy="0"/>
          </a:xfrm>
          <a:prstGeom prst="line">
            <a:avLst/>
          </a:prstGeom>
          <a:noFill/>
          <a:ln w="25400">
            <a:solidFill>
              <a:srgbClr val="FF7A59"/>
            </a:solidFill>
            <a:prstDash val="solid"/>
            <a:tailEnd type="triangle"/>
          </a:ln>
        </p:spPr>
      </p:sp>
      <p:sp>
        <p:nvSpPr>
          <p:cNvPr id="25" name="Text 18"/>
          <p:cNvSpPr/>
          <p:nvPr/>
        </p:nvSpPr>
        <p:spPr>
          <a:xfrm>
            <a:off x="5193792" y="3310128"/>
            <a:ext cx="1792224" cy="164592"/>
          </a:xfrm>
          <a:prstGeom prst="rect">
            <a:avLst/>
          </a:prstGeom>
          <a:noFill/>
          <a:ln/>
        </p:spPr>
        <p:txBody>
          <a:bodyPr wrap="square" lIns="0" tIns="0" rIns="0" bIns="0" rtlCol="0" anchor="ctr"/>
          <a:lstStyle/>
          <a:p>
            <a:pPr marL="0" indent="0" algn="ctr">
              <a:buNone/>
            </a:pPr>
            <a:r>
              <a:rPr lang="en-US" sz="1000" b="1" dirty="0">
                <a:solidFill>
                  <a:srgbClr val="D95B3E"/>
                </a:solidFill>
                <a:latin typeface="Consolas" pitchFamily="34" charset="0"/>
                <a:ea typeface="Consolas" pitchFamily="34" charset="-122"/>
                <a:cs typeface="Consolas" pitchFamily="34" charset="-120"/>
              </a:rPr>
              <a:t>correlation-id</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Monitoring: one trace, many boundaries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3028</Words>
  <Application>Microsoft Office PowerPoint</Application>
  <PresentationFormat>Widescreen</PresentationFormat>
  <Paragraphs>452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2026-09-25T15:47:25Z</dcterms:modified>
</cp:coreProperties>
</file>