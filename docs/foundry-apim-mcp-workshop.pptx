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2035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participant outcome: one governed tool layer that can serve both code-first and low-code agents. Frame the workshop as a build sequence rather than a product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set the success criteria. The workshop is complete only when the tool call is grounded, controlled, and observable.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separation of responsibilities. APIM is the stable governed MCP boundary. The backend can be a mock, a public API, or a real enterprise service without changing the agent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timeline to protect time. The longest blocks are the API to MCP transformation and the code-first agent. Optional extensions should not displace the core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start with configuration drift. Resolve identity and network issues here. Keep customer or production data out of the workshop sandbox.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ordering: prove REST behavior before generating MCP tools. The mock path keeps the group moving. The Petstore path adds a live backend without changing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REST to MCP step is a transformation, not a rewrite. Point out how operation IDs and descriptions influence the model's tool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checkpoint saves time. If MCP Inspector cannot list and call the tools, stop here. Agent troubleshooting should begin only after the direct MCP client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the sample as a reusable profile-driven host. The application code stays stable while endpoints, tool lists, names, and approval behavior change through environment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tool examples to make approval concrete. The read path should feel fluid. Creates and status changes should pause before execution so participants can discuss consent and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both methods. PowerShell is the fastest pass or fail check. Agent Inspector is the teaching view because it exposes the complete run and approval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reinforces reuse. The Petstore profile is not a second application. It proves that the host can be configured for a different MCP server and approval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what is deployed. Participants deploy agent code to Foundry Agent Service. They do not build or operate Azure Container Apps or Azure Container Registry for this workshop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Avoid declaring one approach universally better. The value is the shared governed tool layer. Selection depends on customization needs, delivery ownership, and the target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from outside to inside. Identity determines who connects. APIM enforces gateway controls. The agent limits tools and asks for approval. Operations teams monitor and respond.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identity caveat. Validating a bearer token at APIM is useful, but it is not the complete MCP OAuth experience. Discovery and compatible client registration still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correlation ID to join the client request, agent run, APIM request, API operation, and backend call. Discuss which team owns each signal and who receives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Narrate the increasing risk. Retrieval is automatic. Recommendation stays grounded in retrieved data. The final state change pauses for approval and makes the control boundary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for the architecture discussion. For each row, identify an owner and the evidence needed before a production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recovery routes are part of the workshop design. The facilitator should preserve the learning sequence instead of spending the session debugging optional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converting learning into decisions. Capture the candidate API, business owner, platform owner, identity pattern, approval rules, deployment method, and the next validation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0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2.svg"/><Relationship Id="rId4" Type="http://schemas.openxmlformats.org/officeDocument/2006/relationships/image" Target="../media/image3.svg"/><Relationship Id="rId9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32.svg"/><Relationship Id="rId4" Type="http://schemas.openxmlformats.org/officeDocument/2006/relationships/image" Target="../media/image31.svg"/><Relationship Id="rId9" Type="http://schemas.openxmlformats.org/officeDocument/2006/relationships/image" Target="../media/image3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svg"/><Relationship Id="rId4" Type="http://schemas.openxmlformats.org/officeDocument/2006/relationships/image" Target="../media/image3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svg"/><Relationship Id="rId4" Type="http://schemas.openxmlformats.org/officeDocument/2006/relationships/image" Target="../media/image40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2.svg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44.svg"/><Relationship Id="rId4" Type="http://schemas.openxmlformats.org/officeDocument/2006/relationships/image" Target="../media/image43.svg"/><Relationship Id="rId9" Type="http://schemas.openxmlformats.org/officeDocument/2006/relationships/image" Target="../media/image2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52.svg"/><Relationship Id="rId4" Type="http://schemas.openxmlformats.org/officeDocument/2006/relationships/image" Target="../media/image51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3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11" Type="http://schemas.openxmlformats.org/officeDocument/2006/relationships/image" Target="../media/image57.svg"/><Relationship Id="rId5" Type="http://schemas.openxmlformats.org/officeDocument/2006/relationships/image" Target="../media/image54.svg"/><Relationship Id="rId10" Type="http://schemas.openxmlformats.org/officeDocument/2006/relationships/image" Target="../media/image56.svg"/><Relationship Id="rId4" Type="http://schemas.openxmlformats.org/officeDocument/2006/relationships/image" Target="../media/image7.svg"/><Relationship Id="rId9" Type="http://schemas.openxmlformats.org/officeDocument/2006/relationships/image" Target="../media/image26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svg"/><Relationship Id="rId4" Type="http://schemas.openxmlformats.org/officeDocument/2006/relationships/image" Target="../media/image58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60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svg"/><Relationship Id="rId5" Type="http://schemas.openxmlformats.org/officeDocument/2006/relationships/image" Target="../media/image48.svg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svg" /><Relationship Id="rId2" Type="http://schemas.openxmlformats.org/officeDocument/2006/relationships/notesSlide" Target="../notesSlides/notesSlide21.xml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64.svg" /><Relationship Id="rId5" Type="http://schemas.openxmlformats.org/officeDocument/2006/relationships/image" Target="../media/image63.svg" /><Relationship Id="rId4" Type="http://schemas.openxmlformats.org/officeDocument/2006/relationships/image" Target="../media/image62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09560" y="-1097280"/>
            <a:ext cx="5120640" cy="5120640"/>
          </a:xfrm>
          <a:prstGeom prst="ellipse">
            <a:avLst/>
          </a:prstGeom>
          <a:solidFill>
            <a:srgbClr val="0F8B8D">
              <a:alpha val="88000"/>
            </a:srgbClr>
          </a:solidFill>
          <a:ln w="12700">
            <a:solidFill>
              <a:srgbClr val="0F8B8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3611880"/>
            <a:ext cx="3566160" cy="3566160"/>
          </a:xfrm>
          <a:prstGeom prst="ellipse">
            <a:avLst/>
          </a:prstGeom>
          <a:solidFill>
            <a:srgbClr val="F4B942">
              <a:alpha val="94000"/>
            </a:srgbClr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011680"/>
            <a:ext cx="2468880" cy="2286000"/>
          </a:xfrm>
          <a:prstGeom prst="line">
            <a:avLst/>
          </a:prstGeom>
          <a:noFill/>
          <a:ln w="1905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280160"/>
            <a:ext cx="1828800" cy="3749040"/>
          </a:xfrm>
          <a:prstGeom prst="line">
            <a:avLst/>
          </a:prstGeom>
          <a:noFill/>
          <a:ln w="19050">
            <a:solidFill>
              <a:srgbClr val="FFFFFF">
                <a:alpha val="45000"/>
              </a:srgbClr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0" y="1325880"/>
            <a:ext cx="658368" cy="65836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46920" y="2331720"/>
            <a:ext cx="658368" cy="658368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66760" y="3977640"/>
            <a:ext cx="658368" cy="658368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8440" y="4709160"/>
            <a:ext cx="658368" cy="65836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40080" y="621792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5BD6C5"/>
          </a:solidFill>
          <a:ln w="12700">
            <a:solidFill>
              <a:srgbClr val="5BD6C5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713232" y="685800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HANDS-ON WORKSHOP</a:t>
            </a:r>
            <a:endParaRPr lang="en-US" sz="850" dirty="0"/>
          </a:p>
        </p:txBody>
      </p:sp>
      <p:sp>
        <p:nvSpPr>
          <p:cNvPr id="12" name="Text 6"/>
          <p:cNvSpPr/>
          <p:nvPr/>
        </p:nvSpPr>
        <p:spPr>
          <a:xfrm>
            <a:off x="640080" y="132588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a Governed</a:t>
            </a:r>
            <a:endParaRPr lang="en-US" sz="36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Agent</a:t>
            </a:r>
            <a:endParaRPr lang="en-US" sz="3600" dirty="0"/>
          </a:p>
        </p:txBody>
      </p:sp>
      <p:sp>
        <p:nvSpPr>
          <p:cNvPr id="13" name="Text 7"/>
          <p:cNvSpPr/>
          <p:nvPr/>
        </p:nvSpPr>
        <p:spPr>
          <a:xfrm>
            <a:off x="658368" y="3063240"/>
            <a:ext cx="6355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D9E8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REST API to APIM-hosted MCP tools, Microsoft Foundry agents, and production controls</a:t>
            </a:r>
            <a:endParaRPr lang="en-US" sz="1750" dirty="0"/>
          </a:p>
        </p:txBody>
      </p:sp>
      <p:sp>
        <p:nvSpPr>
          <p:cNvPr id="14" name="Shape 8"/>
          <p:cNvSpPr/>
          <p:nvPr/>
        </p:nvSpPr>
        <p:spPr>
          <a:xfrm>
            <a:off x="658368" y="4096512"/>
            <a:ext cx="5257800" cy="0"/>
          </a:xfrm>
          <a:prstGeom prst="line">
            <a:avLst/>
          </a:prstGeom>
          <a:noFill/>
          <a:ln w="38100">
            <a:solidFill>
              <a:srgbClr val="5BD6C5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658368" y="4315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D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Six-hour workshop | Labs 0 through 6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658368" y="473659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 Foundry + Azure API Management + Model Context Protocol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58368" y="60167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FC7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workshop edition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WORKSHOP PROMISE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participants will build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 complete path from an API contract to a governed agent experience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2578608" cy="3044952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74520"/>
            <a:ext cx="73152" cy="30449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5528" y="205740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9304" y="20482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Reliable API surface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3816" y="2496312"/>
            <a:ext cx="21396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a synthetic OpenAPI contract and use APIM mock responses for a repeatable sandbox.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09544" y="3273552"/>
            <a:ext cx="201168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401568" y="1874520"/>
            <a:ext cx="2578608" cy="3044952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01568" y="1874520"/>
            <a:ext cx="73152" cy="304495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2736" y="20574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96512" y="20482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tool layer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621024" y="2496312"/>
            <a:ext cx="21396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selected operations as MCP tools and validate them before an agent enters the flow.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16752" y="3273552"/>
            <a:ext cx="201168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208776" y="1874520"/>
            <a:ext cx="2578608" cy="3044952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08776" y="1874520"/>
            <a:ext cx="73152" cy="3044952"/>
          </a:xfrm>
          <a:prstGeom prst="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9944" y="205740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903720" y="20482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experiences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428232" y="2496312"/>
            <a:ext cx="21396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a .NET Foundry agent and compare the same tools in Copilot Studio.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823960" y="3273552"/>
            <a:ext cx="201168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9015984" y="1874520"/>
            <a:ext cx="2578608" cy="3044952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015984" y="1874520"/>
            <a:ext cx="73152" cy="3044952"/>
          </a:xfrm>
          <a:prstGeom prst="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17152" y="2057400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710928" y="20482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Production controls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9235440" y="2496312"/>
            <a:ext cx="21396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identity, approvals, policies, monitoring, and ownership boundaries.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2011680" y="5230368"/>
            <a:ext cx="8156448" cy="70408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67712" y="5404104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2697480" y="536752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Success = the final prompt is grounded in the API, protected by clear approval boundaries, and observable end to end.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 first: build, validate, govern</a:t>
            </a:r>
            <a:endParaRPr lang="en-US" sz="7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REFERENCE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governed tool layer, two agent paths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APIM hosts the MCP boundary. Agents focus on intent, tool selection, and response composition.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1572768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88136" y="2331720"/>
            <a:ext cx="530352" cy="530352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6152" y="245973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" y="2999232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Participant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76656" y="332841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or client</a:t>
            </a:r>
            <a:endParaRPr lang="en-US" sz="870" dirty="0"/>
          </a:p>
        </p:txBody>
      </p:sp>
      <p:sp>
        <p:nvSpPr>
          <p:cNvPr id="10" name="Shape 7"/>
          <p:cNvSpPr/>
          <p:nvPr/>
        </p:nvSpPr>
        <p:spPr>
          <a:xfrm>
            <a:off x="2185416" y="2907792"/>
            <a:ext cx="283464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514600" y="2103120"/>
            <a:ext cx="1938528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75DA6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18688" y="2331720"/>
            <a:ext cx="530352" cy="530352"/>
          </a:xfrm>
          <a:prstGeom prst="ellipse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6704" y="245973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24328" y="29992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experience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624328" y="3328416"/>
            <a:ext cx="1719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or Copilot Studio</a:t>
            </a:r>
            <a:endParaRPr lang="en-US" sz="870" dirty="0"/>
          </a:p>
        </p:txBody>
      </p:sp>
      <p:sp>
        <p:nvSpPr>
          <p:cNvPr id="16" name="Shape 12"/>
          <p:cNvSpPr/>
          <p:nvPr/>
        </p:nvSpPr>
        <p:spPr>
          <a:xfrm>
            <a:off x="4498848" y="2907792"/>
            <a:ext cx="329184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873752" y="2103120"/>
            <a:ext cx="196596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8B8D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91556" y="2331720"/>
            <a:ext cx="530352" cy="530352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19572" y="2459736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983480" y="2999232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APIM MCP server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983480" y="3328416"/>
            <a:ext cx="1746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and policy boundary</a:t>
            </a:r>
            <a:endParaRPr lang="en-US" sz="870" dirty="0"/>
          </a:p>
        </p:txBody>
      </p:sp>
      <p:sp>
        <p:nvSpPr>
          <p:cNvPr id="22" name="Shape 17"/>
          <p:cNvSpPr/>
          <p:nvPr/>
        </p:nvSpPr>
        <p:spPr>
          <a:xfrm>
            <a:off x="6885432" y="2907792"/>
            <a:ext cx="338328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7269480" y="2103120"/>
            <a:ext cx="18745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41564" y="2331720"/>
            <a:ext cx="530352" cy="530352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69580" y="2459736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79208" y="29992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 contract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379208" y="3328416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OpenAPI operations</a:t>
            </a:r>
            <a:endParaRPr lang="en-US" sz="870" dirty="0"/>
          </a:p>
        </p:txBody>
      </p:sp>
      <p:sp>
        <p:nvSpPr>
          <p:cNvPr id="28" name="Shape 22"/>
          <p:cNvSpPr/>
          <p:nvPr/>
        </p:nvSpPr>
        <p:spPr>
          <a:xfrm>
            <a:off x="9189720" y="2907792"/>
            <a:ext cx="338328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9573768" y="2103120"/>
            <a:ext cx="2029968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B942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0323576" y="2331720"/>
            <a:ext cx="530352" cy="530352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51592" y="2459736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683496" y="299923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9683496" y="3328416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 response or Petstore</a:t>
            </a:r>
            <a:endParaRPr lang="en-US" sz="870" dirty="0"/>
          </a:p>
        </p:txBody>
      </p:sp>
      <p:sp>
        <p:nvSpPr>
          <p:cNvPr id="34" name="Shape 27"/>
          <p:cNvSpPr/>
          <p:nvPr/>
        </p:nvSpPr>
        <p:spPr>
          <a:xfrm>
            <a:off x="4407408" y="4224528"/>
            <a:ext cx="2926080" cy="1042416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5152" y="4480560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5120640" y="437083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Policies and approvals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5120640" y="4645152"/>
            <a:ext cx="19019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Authentication, rate limits, correlation, tracing, logging, and state-change consent</a:t>
            </a:r>
            <a:endParaRPr lang="en-US" sz="870" dirty="0"/>
          </a:p>
        </p:txBody>
      </p:sp>
      <p:sp>
        <p:nvSpPr>
          <p:cNvPr id="38" name="Shape 30"/>
          <p:cNvSpPr/>
          <p:nvPr/>
        </p:nvSpPr>
        <p:spPr>
          <a:xfrm>
            <a:off x="5870448" y="3758184"/>
            <a:ext cx="0" cy="457200"/>
          </a:xfrm>
          <a:prstGeom prst="line">
            <a:avLst/>
          </a:prstGeom>
          <a:noFill/>
          <a:ln w="25400">
            <a:solidFill>
              <a:srgbClr val="5BD6C5"/>
            </a:solidFill>
            <a:prstDash val="solid"/>
            <a:headEnd type="triangle"/>
          </a:ln>
        </p:spPr>
      </p:sp>
      <p:sp>
        <p:nvSpPr>
          <p:cNvPr id="39" name="Shape 31"/>
          <p:cNvSpPr/>
          <p:nvPr/>
        </p:nvSpPr>
        <p:spPr>
          <a:xfrm>
            <a:off x="7680960" y="4224528"/>
            <a:ext cx="2880360" cy="10424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36992" y="4480560"/>
            <a:ext cx="329184" cy="32918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8394192" y="437083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Azure Monitor + App Insights</a:t>
            </a:r>
            <a:endParaRPr lang="en-US" sz="1300" dirty="0"/>
          </a:p>
        </p:txBody>
      </p:sp>
      <p:sp>
        <p:nvSpPr>
          <p:cNvPr id="42" name="Text 33"/>
          <p:cNvSpPr/>
          <p:nvPr/>
        </p:nvSpPr>
        <p:spPr>
          <a:xfrm>
            <a:off x="8394192" y="46451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Latency, failures, usage, request correlation, and audit evidence</a:t>
            </a:r>
            <a:endParaRPr lang="en-US" sz="870" dirty="0"/>
          </a:p>
        </p:txBody>
      </p:sp>
      <p:sp>
        <p:nvSpPr>
          <p:cNvPr id="43" name="Shape 34"/>
          <p:cNvSpPr/>
          <p:nvPr/>
        </p:nvSpPr>
        <p:spPr>
          <a:xfrm>
            <a:off x="6858000" y="3749040"/>
            <a:ext cx="1691640" cy="475488"/>
          </a:xfrm>
          <a:prstGeom prst="line">
            <a:avLst/>
          </a:prstGeom>
          <a:noFill/>
          <a:ln w="19050">
            <a:solidFill>
              <a:srgbClr val="FF7A59"/>
            </a:solidFill>
            <a:prstDash val="solid"/>
            <a:tailEnd type="triangle"/>
          </a:ln>
        </p:spPr>
      </p:sp>
      <p:sp>
        <p:nvSpPr>
          <p:cNvPr id="44" name="Text 35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Architecture: intent stays with the agent, controls stay at the boundary</a:t>
            </a:r>
            <a:endParaRPr lang="en-US" sz="7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WORKSHOP JOURNEY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Six hours from sandbox to production decisions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Breaks and lunch sit outside the six hours.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2057400"/>
            <a:ext cx="1913084" cy="713232"/>
          </a:xfrm>
          <a:prstGeom prst="rect">
            <a:avLst/>
          </a:prstGeom>
          <a:solidFill>
            <a:srgbClr val="4F8E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203704"/>
            <a:ext cx="1803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0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min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07444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07444" y="2057400"/>
            <a:ext cx="2869626" cy="713232"/>
          </a:xfrm>
          <a:prstGeom prst="rect">
            <a:avLst/>
          </a:prstGeom>
          <a:solidFill>
            <a:srgbClr val="0F8B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2308" y="2203704"/>
            <a:ext cx="275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Labs 1 + 2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77070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77070" y="2057400"/>
            <a:ext cx="2391355" cy="713232"/>
          </a:xfrm>
          <a:prstGeom prst="rect">
            <a:avLst/>
          </a:prstGeom>
          <a:solidFill>
            <a:srgbClr val="775D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31934" y="2203704"/>
            <a:ext cx="2281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3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68424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68424" y="2057400"/>
            <a:ext cx="956542" cy="713232"/>
          </a:xfrm>
          <a:prstGeom prst="rect">
            <a:avLst/>
          </a:prstGeom>
          <a:solidFill>
            <a:srgbClr val="F4B9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23288" y="2203704"/>
            <a:ext cx="846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4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min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724966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24966" y="2057400"/>
            <a:ext cx="1434813" cy="713232"/>
          </a:xfrm>
          <a:prstGeom prst="rect">
            <a:avLst/>
          </a:prstGeom>
          <a:solidFill>
            <a:srgbClr val="FF7A5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9830" y="2203704"/>
            <a:ext cx="13250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5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 min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159779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59779" y="2057400"/>
            <a:ext cx="1434813" cy="713232"/>
          </a:xfrm>
          <a:prstGeom prst="rect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14643" y="2203704"/>
            <a:ext cx="13250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6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 min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0664" y="3401568"/>
            <a:ext cx="365760" cy="36576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70432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Confirm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0664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sandbox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832104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F8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0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441448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587752" y="3401568"/>
            <a:ext cx="365760" cy="36576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87752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017520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Expose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587752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 API as MCP tools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2679192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52344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LABS 1 + 2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288536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434840" y="3401568"/>
            <a:ext cx="365760" cy="365760"/>
          </a:xfrm>
          <a:prstGeom prst="ellipse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34840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64608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434840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Code-first agent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4526280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99432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75D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3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135624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281928" y="3401568"/>
            <a:ext cx="365760" cy="36576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81928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711696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281928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Low-code path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6373368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6520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B9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4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982712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129016" y="3401568"/>
            <a:ext cx="365760" cy="365760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129016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8558784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29016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and monitoring</a:t>
            </a:r>
            <a:endParaRPr lang="en-US" sz="1020" dirty="0"/>
          </a:p>
        </p:txBody>
      </p:sp>
      <p:sp>
        <p:nvSpPr>
          <p:cNvPr id="55" name="Shape 53"/>
          <p:cNvSpPr/>
          <p:nvPr/>
        </p:nvSpPr>
        <p:spPr>
          <a:xfrm>
            <a:off x="8220456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293608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7A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9829800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976104" y="3401568"/>
            <a:ext cx="365760" cy="36576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976104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405872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Demonstrate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976104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pattern</a:t>
            </a:r>
            <a:endParaRPr lang="en-US" sz="1020" dirty="0"/>
          </a:p>
        </p:txBody>
      </p:sp>
      <p:sp>
        <p:nvSpPr>
          <p:cNvPr id="62" name="Shape 60"/>
          <p:cNvSpPr/>
          <p:nvPr/>
        </p:nvSpPr>
        <p:spPr>
          <a:xfrm>
            <a:off x="10067544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140696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FA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6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 hours of guided build time</a:t>
            </a:r>
            <a:endParaRPr lang="en-US" sz="750" dirty="0"/>
          </a:p>
        </p:txBody>
      </p:sp>
      <p:sp>
        <p:nvSpPr>
          <p:cNvPr id="6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0 | CONFIRM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a sandbox that can succeed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Validate identity, network, tools, quota, and synthetic data before the build begins.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21792" y="1783080"/>
            <a:ext cx="5193792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783080"/>
            <a:ext cx="73152" cy="124358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96596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16736" y="19568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tools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1248" y="2404872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.NET 10, Azure CLI, azd, Node.js, VS Code, Foundry Toolkit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53912" y="1783080"/>
            <a:ext cx="5193792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153912" y="1783080"/>
            <a:ext cx="73152" cy="1243584"/>
          </a:xfrm>
          <a:prstGeom prst="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5080" y="19659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48856" y="19568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373368" y="2404872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 CLI sign-in, project access, APIM access, and model deployment permissions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21792" y="3319272"/>
            <a:ext cx="5193792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1792" y="3319272"/>
            <a:ext cx="73152" cy="1243584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2960" y="3502152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16736" y="34930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1248" y="3941064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Reach Foundry, APIM, model endpoints, and package feeds from the participant laptop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53912" y="3319272"/>
            <a:ext cx="5193792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153912" y="3319272"/>
            <a:ext cx="73152" cy="1243584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5080" y="3502152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48856" y="34930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Sandbox values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373368" y="3941064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endpoint, APIM gateway URL, MCP path, deployment name, and test data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1828800" y="5074920"/>
            <a:ext cx="8522208" cy="74980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21408" y="5285232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578608" y="525780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Gate: every participant can call the model endpoint and reach the APIM gateway before Lab 1.</a:t>
            </a:r>
            <a:endParaRPr lang="en-US" sz="1220" dirty="0"/>
          </a:p>
        </p:txBody>
      </p:sp>
      <p:sp>
        <p:nvSpPr>
          <p:cNvPr id="28" name="Text 21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0 output: verified prerequisites</a:t>
            </a:r>
            <a:endParaRPr lang="en-US" sz="7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1 | IMPORT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 an OpenAPI contract into a reliable sandbox API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APIM mock responses remove backend dependencies while preserving realistic operations and schemas.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063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93392"/>
            <a:ext cx="393192" cy="393192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84832"/>
            <a:ext cx="3931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25880" y="1975104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Import the contract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2441448"/>
            <a:ext cx="2697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the work-request API from OpenAPI. Preserve operation IDs, schemas, and example payloads.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53712" y="1828800"/>
            <a:ext cx="3063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1993392"/>
            <a:ext cx="393192" cy="393192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2084832"/>
            <a:ext cx="3931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221224" y="1975104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mock-response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736592" y="2441448"/>
            <a:ext cx="2697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static examples through APIM so every participant sees the same data and errors.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449056" y="1828800"/>
            <a:ext cx="3063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13648" y="1993392"/>
            <a:ext cx="393192" cy="393192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13648" y="2084832"/>
            <a:ext cx="3931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16568" y="1975104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REST first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631936" y="2441448"/>
            <a:ext cx="2697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 each operation directly. Confirm status codes, payload shape, and the selected subscription model.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30752" y="2953512"/>
            <a:ext cx="731520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26096" y="2953512"/>
            <a:ext cx="731520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" y="4590288"/>
            <a:ext cx="5193792" cy="987552"/>
          </a:xfrm>
          <a:prstGeom prst="roundRect">
            <a:avLst/>
          </a:prstGeom>
          <a:solidFill>
            <a:srgbClr val="FFF4D7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882896"/>
            <a:ext cx="301752" cy="30175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53312" y="47548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Sandbox simplification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353312" y="5029200"/>
            <a:ext cx="4160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mocks do not persist creates or updates. Discuss this limit before the final demonstration.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144768" y="4590288"/>
            <a:ext cx="5367528" cy="987552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9088" y="4882896"/>
            <a:ext cx="301752" cy="30175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6858000" y="47548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Optional live profile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858000" y="502920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Swagger Petstore to demonstrate the same pattern against a public backend.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1 output: tested REST API</a:t>
            </a:r>
            <a:endParaRPr lang="en-US" sz="75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2 | EXPOSE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 selected REST operations into MCP tools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Tool names, schemas, and descriptions come from the API contract. Good OpenAPI becomes good tool design.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971800" cy="35204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21396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 operations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2688" y="281635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8803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700784" y="28895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F64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/work-requests/{id}</a:t>
            </a:r>
            <a:endParaRPr lang="en-US" sz="870" dirty="0"/>
          </a:p>
        </p:txBody>
      </p:sp>
      <p:sp>
        <p:nvSpPr>
          <p:cNvPr id="11" name="Shape 8"/>
          <p:cNvSpPr/>
          <p:nvPr/>
        </p:nvSpPr>
        <p:spPr>
          <a:xfrm>
            <a:off x="932688" y="34838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3547872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700784" y="35570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F64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/work-requests</a:t>
            </a:r>
            <a:endParaRPr lang="en-US" sz="870" dirty="0"/>
          </a:p>
        </p:txBody>
      </p:sp>
      <p:sp>
        <p:nvSpPr>
          <p:cNvPr id="14" name="Shape 11"/>
          <p:cNvSpPr/>
          <p:nvPr/>
        </p:nvSpPr>
        <p:spPr>
          <a:xfrm>
            <a:off x="932688" y="415137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21538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700784" y="42245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F64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/work-requests/{id}/status</a:t>
            </a:r>
            <a:endParaRPr lang="en-US" sz="870" dirty="0"/>
          </a:p>
        </p:txBody>
      </p:sp>
      <p:sp>
        <p:nvSpPr>
          <p:cNvPr id="17" name="Shape 14"/>
          <p:cNvSpPr/>
          <p:nvPr/>
        </p:nvSpPr>
        <p:spPr>
          <a:xfrm>
            <a:off x="4005072" y="2999232"/>
            <a:ext cx="914400" cy="1115568"/>
          </a:xfrm>
          <a:prstGeom prst="chevron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977640" y="3255264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 to MCP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321808" y="1828800"/>
            <a:ext cx="6199632" cy="352044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96128" y="2103120"/>
            <a:ext cx="457200" cy="4572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236208" y="21396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Generated MCP tools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632704" y="2743200"/>
            <a:ext cx="5449824" cy="512064"/>
          </a:xfrm>
          <a:prstGeom prst="roundRect">
            <a:avLst/>
          </a:prstGeom>
          <a:solidFill>
            <a:srgbClr val="24465F"/>
          </a:solidFill>
          <a:ln w="12700">
            <a:solidFill>
              <a:srgbClr val="315A7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815584" y="284378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888736" y="290779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6858000" y="288036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getAWorkRequest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632704" y="3429000"/>
            <a:ext cx="5449824" cy="512064"/>
          </a:xfrm>
          <a:prstGeom prst="roundRect">
            <a:avLst/>
          </a:prstGeom>
          <a:solidFill>
            <a:srgbClr val="24465F"/>
          </a:solidFill>
          <a:ln w="12700">
            <a:solidFill>
              <a:srgbClr val="315A7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815584" y="352958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888736" y="359359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6858000" y="356616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createAWorkRequest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5632704" y="4114800"/>
            <a:ext cx="5449824" cy="512064"/>
          </a:xfrm>
          <a:prstGeom prst="roundRect">
            <a:avLst/>
          </a:prstGeom>
          <a:solidFill>
            <a:srgbClr val="24465F"/>
          </a:solidFill>
          <a:ln w="12700">
            <a:solidFill>
              <a:srgbClr val="315A7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815584" y="421538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888736" y="427939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6858000" y="425196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updateWorkRequestStatus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5650992" y="488289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5BD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endpoint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6812280" y="4864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DDEA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https://&lt;gateway&gt;/&lt;mcp-path&gt;/mcp</a:t>
            </a:r>
            <a:endParaRPr lang="en-US" sz="920" dirty="0"/>
          </a:p>
        </p:txBody>
      </p:sp>
      <p:sp>
        <p:nvSpPr>
          <p:cNvPr id="36" name="Text 32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2 output: working MCP endpoint</a:t>
            </a:r>
            <a:endParaRPr lang="en-US" sz="7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VALIDATION CHECKPOINT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the MCP server before connecting an agent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 direct client separates tool and policy issues from agent orchestration issues.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324612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73152" cy="318211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6968" y="201168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0744" y="2002536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Inspector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05256" y="2450592"/>
            <a:ext cx="2807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 protocol visibility.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 tools, inspect schemas, add headers, and run individual tools with explicit arguments.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80560" y="1828800"/>
            <a:ext cx="324612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828800"/>
            <a:ext cx="73152" cy="318211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1728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75504" y="2002536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 Code MCP client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00016" y="2450592"/>
            <a:ext cx="2807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 developer workflow.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server configuration, discover tools, and validate the endpoint from the editor.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275320" y="1828800"/>
            <a:ext cx="324612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828800"/>
            <a:ext cx="73152" cy="3182112"/>
          </a:xfrm>
          <a:prstGeom prst="rect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76488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70264" y="2002536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 criteria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94776" y="2450592"/>
            <a:ext cx="2807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list successfully.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read-only tool returns the expected payload. Errors are understandable and traceable.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1463040" y="5321808"/>
            <a:ext cx="9281160" cy="512064"/>
          </a:xfrm>
          <a:prstGeom prst="roundRect">
            <a:avLst/>
          </a:prstGeom>
          <a:solidFill>
            <a:srgbClr val="FFE9E3"/>
          </a:solidFill>
          <a:ln w="12700">
            <a:solidFill>
              <a:srgbClr val="FF7A59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91640" y="5440680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103120" y="544982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Streaming rule: keep frontend response payload logging at 0 bytes and do not access context.Response.Body in MCP policies.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Checkpoint: prove the protocol before the agent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3 | BUILD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Create a code-first Foundry agent that uses MCP tools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ASP.NET Core application exposes the Responses protocol and keeps the tool profile in configuration.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822192" cy="388620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1832" y="20574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0939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.NET 10 agent app</a:t>
            </a:r>
            <a:endParaRPr lang="en-US" sz="19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2816352"/>
            <a:ext cx="210312" cy="2103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3312" y="28163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ASP.NET Core hosted agent</a:t>
            </a:r>
            <a:endParaRPr lang="en-US" sz="103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3319272"/>
            <a:ext cx="210312" cy="2103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53312" y="331927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Responses protocol endpoint</a:t>
            </a:r>
            <a:endParaRPr lang="en-US" sz="103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3822192"/>
            <a:ext cx="210312" cy="21031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353312" y="382219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AzureCliCredential for local auth</a:t>
            </a:r>
            <a:endParaRPr lang="en-US" sz="103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4325112"/>
            <a:ext cx="210312" cy="21031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353312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Environment-driven MCP profile</a:t>
            </a:r>
            <a:endParaRPr lang="en-US" sz="103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4828032"/>
            <a:ext cx="210312" cy="210312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353312" y="48280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groups for write tools</a:t>
            </a:r>
            <a:endParaRPr lang="en-US" sz="1030" dirty="0"/>
          </a:p>
        </p:txBody>
      </p:sp>
      <p:sp>
        <p:nvSpPr>
          <p:cNvPr id="18" name="Text 10"/>
          <p:cNvSpPr/>
          <p:nvPr/>
        </p:nvSpPr>
        <p:spPr>
          <a:xfrm>
            <a:off x="5010912" y="18745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Configuration drives behavior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4983480" y="2395728"/>
            <a:ext cx="6291072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0" name="Text 12"/>
          <p:cNvSpPr/>
          <p:nvPr/>
        </p:nvSpPr>
        <p:spPr>
          <a:xfrm>
            <a:off x="5193792" y="25146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PROJECT_ENDPOINT</a:t>
            </a:r>
            <a:endParaRPr lang="en-US" sz="950" dirty="0"/>
          </a:p>
        </p:txBody>
      </p:sp>
      <p:sp>
        <p:nvSpPr>
          <p:cNvPr id="21" name="Text 13"/>
          <p:cNvSpPr/>
          <p:nvPr/>
        </p:nvSpPr>
        <p:spPr>
          <a:xfrm>
            <a:off x="7754112" y="251460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project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4983480" y="2962656"/>
            <a:ext cx="6291072" cy="429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5193792" y="30815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MODEL_DEPLOYMENT</a:t>
            </a:r>
            <a:endParaRPr lang="en-US" sz="950" dirty="0"/>
          </a:p>
        </p:txBody>
      </p:sp>
      <p:sp>
        <p:nvSpPr>
          <p:cNvPr id="24" name="Text 16"/>
          <p:cNvSpPr/>
          <p:nvPr/>
        </p:nvSpPr>
        <p:spPr>
          <a:xfrm>
            <a:off x="7754112" y="3081528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 model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4983480" y="3529584"/>
            <a:ext cx="6291072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5193792" y="364845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MCP_ENDPOINT</a:t>
            </a:r>
            <a:endParaRPr lang="en-US" sz="950" dirty="0"/>
          </a:p>
        </p:txBody>
      </p:sp>
      <p:sp>
        <p:nvSpPr>
          <p:cNvPr id="27" name="Text 19"/>
          <p:cNvSpPr/>
          <p:nvPr/>
        </p:nvSpPr>
        <p:spPr>
          <a:xfrm>
            <a:off x="7754112" y="3648456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 MCP URL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4983480" y="4096512"/>
            <a:ext cx="6291072" cy="429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5193792" y="421538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ALLOWED_TOOLS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7754112" y="421538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allowlist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4983480" y="4663440"/>
            <a:ext cx="6291072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5193792" y="478231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APPROVAL_TOOLS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7754112" y="478231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changes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943600" y="5321808"/>
            <a:ext cx="4343400" cy="420624"/>
          </a:xfrm>
          <a:prstGeom prst="roundRect">
            <a:avLst/>
          </a:prstGeom>
          <a:solidFill>
            <a:srgbClr val="DFF7F2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44768" y="5413248"/>
            <a:ext cx="228600" cy="22860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519672" y="5431536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compiled app supports multiple workshop profiles.</a:t>
            </a:r>
            <a:endParaRPr lang="en-US" sz="980" dirty="0"/>
          </a:p>
        </p:txBody>
      </p:sp>
      <p:sp>
        <p:nvSpPr>
          <p:cNvPr id="37" name="Text 28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3 output: configurable code-first agent</a:t>
            </a:r>
            <a:endParaRPr lang="en-US" sz="75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AGENT BEHAVIOR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reads automatic. Require consent for material state changes.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agent approval boundary complements APIM policy. It does not replace API authorization.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24712" y="1828800"/>
            <a:ext cx="676656" cy="676656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25880" y="20299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2648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the request and select a tool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2331720" y="2167128"/>
            <a:ext cx="548640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429000" y="1828800"/>
            <a:ext cx="676656" cy="676656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30168" y="20299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16936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916936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the allowed MCP tool schema</a:t>
            </a:r>
            <a:endParaRPr lang="en-US" sz="920" dirty="0"/>
          </a:p>
        </p:txBody>
      </p:sp>
      <p:sp>
        <p:nvSpPr>
          <p:cNvPr id="14" name="Shape 10"/>
          <p:cNvSpPr/>
          <p:nvPr/>
        </p:nvSpPr>
        <p:spPr>
          <a:xfrm>
            <a:off x="4636008" y="2167128"/>
            <a:ext cx="548640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733288" y="1828800"/>
            <a:ext cx="676656" cy="676656"/>
          </a:xfrm>
          <a:prstGeom prst="ellipse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34456" y="20299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21224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221224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whether the tool needs approval</a:t>
            </a:r>
            <a:endParaRPr lang="en-US" sz="920" dirty="0"/>
          </a:p>
        </p:txBody>
      </p:sp>
      <p:sp>
        <p:nvSpPr>
          <p:cNvPr id="19" name="Shape 14"/>
          <p:cNvSpPr/>
          <p:nvPr/>
        </p:nvSpPr>
        <p:spPr>
          <a:xfrm>
            <a:off x="6940296" y="2167128"/>
            <a:ext cx="548640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8037576" y="1828800"/>
            <a:ext cx="676656" cy="6766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38744" y="202996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25512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525512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 APIM and receive the result</a:t>
            </a:r>
            <a:endParaRPr lang="en-US" sz="920" dirty="0"/>
          </a:p>
        </p:txBody>
      </p:sp>
      <p:sp>
        <p:nvSpPr>
          <p:cNvPr id="24" name="Shape 18"/>
          <p:cNvSpPr/>
          <p:nvPr/>
        </p:nvSpPr>
        <p:spPr>
          <a:xfrm>
            <a:off x="9244584" y="2167128"/>
            <a:ext cx="548640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10341864" y="1828800"/>
            <a:ext cx="676656" cy="676656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43032" y="2029968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829800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Compose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9829800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a grounded response</a:t>
            </a:r>
            <a:endParaRPr lang="en-US" sz="920" dirty="0"/>
          </a:p>
        </p:txBody>
      </p:sp>
      <p:sp>
        <p:nvSpPr>
          <p:cNvPr id="29" name="Shape 22"/>
          <p:cNvSpPr/>
          <p:nvPr/>
        </p:nvSpPr>
        <p:spPr>
          <a:xfrm>
            <a:off x="914400" y="4279392"/>
            <a:ext cx="3337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A36B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43000" y="4562856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27632" y="4462272"/>
            <a:ext cx="2340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getAWorkRequest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1627632" y="4882896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1700784" y="4946904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4681728" y="4279392"/>
            <a:ext cx="3337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7A59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10328" y="4562856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5394960" y="4462272"/>
            <a:ext cx="2340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createAWorkRequest</a:t>
            </a:r>
            <a:endParaRPr lang="en-US" sz="950" dirty="0"/>
          </a:p>
        </p:txBody>
      </p:sp>
      <p:sp>
        <p:nvSpPr>
          <p:cNvPr id="37" name="Shape 28"/>
          <p:cNvSpPr/>
          <p:nvPr/>
        </p:nvSpPr>
        <p:spPr>
          <a:xfrm>
            <a:off x="5394960" y="4882896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5468112" y="4946904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REQUIRED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8449056" y="4279392"/>
            <a:ext cx="3337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7A59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77656" y="4562856"/>
            <a:ext cx="310896" cy="310896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162288" y="4462272"/>
            <a:ext cx="2340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updateWorkRequestStatus</a:t>
            </a:r>
            <a:endParaRPr lang="en-US" sz="950" dirty="0"/>
          </a:p>
        </p:txBody>
      </p:sp>
      <p:sp>
        <p:nvSpPr>
          <p:cNvPr id="42" name="Shape 32"/>
          <p:cNvSpPr/>
          <p:nvPr/>
        </p:nvSpPr>
        <p:spPr>
          <a:xfrm>
            <a:off x="9162288" y="4882896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9235440" y="4946904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REQUIRED</a:t>
            </a:r>
            <a:endParaRPr lang="en-US" sz="850" dirty="0"/>
          </a:p>
        </p:txBody>
      </p:sp>
      <p:sp>
        <p:nvSpPr>
          <p:cNvPr id="44" name="Text 34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is a deliberate product boundary</a:t>
            </a:r>
            <a:endParaRPr lang="en-US" sz="7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3A | RUN LOCALLY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two views to test the same Responses endpoint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Command-line calls prove behavior. Agent Inspector makes the run understandable.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507492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47088"/>
            <a:ext cx="73152" cy="33375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536" y="202996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2020824"/>
            <a:ext cx="4178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PowerShell smoke test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77824" y="2468880"/>
            <a:ext cx="4636008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the agent on localhost.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 a Responses request with a work-request prompt.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the model selects the expected MCP tool and returns a grounded recommendation.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987552" y="4151376"/>
            <a:ext cx="4407408" cy="6400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4370832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D6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http://localhost:8090/v1/responses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37376" y="1847088"/>
            <a:ext cx="507492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37376" y="1847088"/>
            <a:ext cx="73152" cy="3337560"/>
          </a:xfrm>
          <a:prstGeom prst="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38544" y="2029968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32320" y="2020824"/>
            <a:ext cx="4178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Agent Inspector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656832" y="2468880"/>
            <a:ext cx="4636008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Foundry Toolkit to localhost.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model input, tool discovery, tool calls, approvals, and the final response in one visual run.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766560" y="4151376"/>
            <a:ext cx="4407408" cy="640080"/>
          </a:xfrm>
          <a:prstGeom prst="roundRect">
            <a:avLst/>
          </a:prstGeom>
          <a:solidFill>
            <a:srgbClr val="EEE8F7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949440" y="4370832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75D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Toolkit: Open Agent Inspector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2148840" y="5413248"/>
            <a:ext cx="7909560" cy="402336"/>
          </a:xfrm>
          <a:prstGeom prst="roundRect">
            <a:avLst/>
          </a:prstGeom>
          <a:solidFill>
            <a:srgbClr val="FFF4D7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59152" y="5504688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724912" y="5522976"/>
            <a:ext cx="7040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auth: set AZURE_TOKEN_CREDENTIALS=AzureCliCredential, then restart the agent.</a:t>
            </a:r>
            <a:endParaRPr lang="en-US" sz="940" dirty="0"/>
          </a:p>
        </p:txBody>
      </p:sp>
      <p:sp>
        <p:nvSpPr>
          <p:cNvPr id="22" name="Text 1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validation: protocol behavior and execution trace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3B | SWITCH PROFILE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Reuse the same agent host against a different MCP server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Configuration changes the endpoint, allowlist, approvals, name, and instructions. The binary stays the same.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926080" cy="324612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4208" y="2304288"/>
            <a:ext cx="868680" cy="868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429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Shared agent host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39776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ASP.NET Core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Responses protocol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integration</a:t>
            </a:r>
            <a:endParaRPr lang="en-US" sz="1020" dirty="0"/>
          </a:p>
        </p:txBody>
      </p:sp>
      <p:sp>
        <p:nvSpPr>
          <p:cNvPr id="9" name="Shape 6"/>
          <p:cNvSpPr/>
          <p:nvPr/>
        </p:nvSpPr>
        <p:spPr>
          <a:xfrm flipV="1">
            <a:off x="3657600" y="2286000"/>
            <a:ext cx="914400" cy="594360"/>
          </a:xfrm>
          <a:prstGeom prst="line">
            <a:avLst/>
          </a:prstGeom>
          <a:noFill/>
          <a:ln w="25400">
            <a:solidFill>
              <a:srgbClr val="4F8EF7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657600" y="4160520"/>
            <a:ext cx="914400" cy="594360"/>
          </a:xfrm>
          <a:prstGeom prst="line">
            <a:avLst/>
          </a:prstGeom>
          <a:noFill/>
          <a:ln w="25400">
            <a:solidFill>
              <a:srgbClr val="F4B94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709160" y="1664208"/>
            <a:ext cx="6720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664208"/>
            <a:ext cx="73152" cy="18288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10328" y="184708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04104" y="1837944"/>
            <a:ext cx="5824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Work-request profile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928616" y="2286000"/>
            <a:ext cx="62819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Endpoint: work-request MCP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Allowed: get, create, update status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Approval: create and update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Backend: APIM mock-response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09160" y="3730752"/>
            <a:ext cx="6720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09160" y="3730752"/>
            <a:ext cx="73152" cy="182880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0328" y="391363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04104" y="3904488"/>
            <a:ext cx="5824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Petstore profile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4928616" y="4352544"/>
            <a:ext cx="62819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Endpoint: Petstore MCP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Allowed: find by ID, find by status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Approval: none for read-only tools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Backend: public Swagger Petstore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2194560" y="580644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Profile-driven design separates reusable hosting code from scenario-specific tool policy.</a:t>
            </a:r>
            <a:endParaRPr lang="en-US" sz="1120" dirty="0"/>
          </a:p>
        </p:txBody>
      </p:sp>
      <p:sp>
        <p:nvSpPr>
          <p:cNvPr id="22" name="Text 1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extension: same host, different tool profile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3C | DEPLOY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Move from localhost to a Foundry-managed agent runtime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Two deployment interfaces target the same code deployment model.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28800"/>
            <a:ext cx="73152" cy="315468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536" y="201168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2002536"/>
            <a:ext cx="2761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 A: Foundry Toolkit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77824" y="2450592"/>
            <a:ext cx="3218688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VS Code deployment experience.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agent service, bind the Foundry project, and deploy from the editor.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72984" y="1828800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72984" y="1828800"/>
            <a:ext cx="73152" cy="315468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74152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67928" y="2002536"/>
            <a:ext cx="2761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 B: Azure Developer CLI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092440" y="2450592"/>
            <a:ext cx="3218688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repository's azure.yaml.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the project context, then deploy one named agent service with azd deploy.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617720" y="2084832"/>
            <a:ext cx="2944368" cy="265176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15000" y="2404872"/>
            <a:ext cx="713232" cy="7132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956048" y="33101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Agent Service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5138928" y="3977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compute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sandbox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Immutable version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361688" y="3346704"/>
            <a:ext cx="256032" cy="0"/>
          </a:xfrm>
          <a:prstGeom prst="line">
            <a:avLst/>
          </a:prstGeom>
          <a:noFill/>
          <a:ln w="25400">
            <a:solidFill>
              <a:srgbClr val="4F8EF7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7580376" y="3346704"/>
            <a:ext cx="256032" cy="0"/>
          </a:xfrm>
          <a:prstGeom prst="line">
            <a:avLst/>
          </a:prstGeom>
          <a:noFill/>
          <a:ln w="25400">
            <a:solidFill>
              <a:srgbClr val="0F8B8D"/>
            </a:solidFill>
            <a:prstDash val="solid"/>
            <a:headEnd type="triangle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5394960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88720" y="54132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deployment</a:t>
            </a:r>
            <a:endParaRPr lang="en-US" sz="92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57600" y="5394960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023360" y="54132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Remote dependency resolution</a:t>
            </a:r>
            <a:endParaRPr lang="en-US" sz="92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92240" y="5394960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858000" y="54132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participant-managed ACA or ACR</a:t>
            </a:r>
            <a:endParaRPr lang="en-US" sz="92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26880" y="5394960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692640" y="54132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physical infra folder required</a:t>
            </a:r>
            <a:endParaRPr lang="en-US" sz="920" dirty="0"/>
          </a:p>
        </p:txBody>
      </p:sp>
      <p:sp>
        <p:nvSpPr>
          <p:cNvPr id="29" name="Text 20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option: Foundry manages the runtime</a:t>
            </a:r>
            <a:endParaRPr lang="en-US" sz="75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4 | COMPARE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the same MCP tools in two agent experiences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governed tool layer is reusable. The orchestration and maker experience can vary.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972800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755648"/>
            <a:ext cx="10972800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0" y="1938528"/>
            <a:ext cx="265176" cy="265176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193852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19476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Comparison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956048" y="19476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code-first agent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13648" y="19476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Studio agent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58368" y="2414016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261518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audience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26280" y="261518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Developers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8183880" y="261518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Makers and fusion teams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58368" y="3072384"/>
            <a:ext cx="10972800" cy="658368"/>
          </a:xfrm>
          <a:prstGeom prst="rect">
            <a:avLst/>
          </a:prstGeom>
          <a:solidFill>
            <a:srgbClr val="EDF2F5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14400" y="32735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surface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26280" y="32735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Code, config, SDKs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183880" y="32735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authoring and connectors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58368" y="3730752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14400" y="39319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526280" y="393192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Agent Service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183880" y="393192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Studio environment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58368" y="4389120"/>
            <a:ext cx="10972800" cy="658368"/>
          </a:xfrm>
          <a:prstGeom prst="rect">
            <a:avLst/>
          </a:prstGeom>
          <a:solidFill>
            <a:srgbClr val="EDF2F5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914400" y="459028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UX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526280" y="4590288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Application-defined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183880" y="4590288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 and flow dependent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58368" y="5047488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914400" y="524865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fit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26280" y="524865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runtime behavior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8183880" y="524865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business workflow iteration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063240" y="5879592"/>
            <a:ext cx="6053328" cy="384048"/>
          </a:xfrm>
          <a:prstGeom prst="roundRect">
            <a:avLst/>
          </a:prstGeom>
          <a:solidFill>
            <a:srgbClr val="DFF7F2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291840" y="5980176"/>
            <a:ext cx="5596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agent experience by workflow and operating model, not by tool access.</a:t>
            </a:r>
            <a:endParaRPr lang="en-US" sz="980" dirty="0"/>
          </a:p>
        </p:txBody>
      </p:sp>
      <p:sp>
        <p:nvSpPr>
          <p:cNvPr id="34" name="Text 30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4 output: low-code path using the same tools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5 | GOVERN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Layer controls across identity, APIM, agents, and operations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No single control answers every question. Use defense in depth with clear ownership.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83768" y="1737360"/>
            <a:ext cx="10424160" cy="713232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1512" y="193852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69568" y="1865376"/>
            <a:ext cx="2286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 and access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3791560" y="1892808"/>
            <a:ext cx="7242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can connect? Which tenant, application, user, or workload identity is trusted?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1432408" y="2606040"/>
            <a:ext cx="9326880" cy="713232"/>
          </a:xfrm>
          <a:prstGeom prst="round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0152" y="280720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18208" y="2734056"/>
            <a:ext cx="2286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APIM gateway policy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340200" y="2761488"/>
            <a:ext cx="6144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tokens, limit rates, add correlation, protect backends, and shape audit evidence.</a:t>
            </a:r>
            <a:endParaRPr lang="en-US" sz="930" dirty="0"/>
          </a:p>
        </p:txBody>
      </p:sp>
      <p:sp>
        <p:nvSpPr>
          <p:cNvPr id="13" name="Shape 9"/>
          <p:cNvSpPr/>
          <p:nvPr/>
        </p:nvSpPr>
        <p:spPr>
          <a:xfrm>
            <a:off x="1981048" y="3474720"/>
            <a:ext cx="8229600" cy="713232"/>
          </a:xfrm>
          <a:prstGeom prst="round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18792" y="367588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666848" y="3602736"/>
            <a:ext cx="2286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tool policy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888840" y="3630168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Allowlist tools, define approvals, and constrain the agent's action surface.</a:t>
            </a:r>
            <a:endParaRPr lang="en-US" sz="930" dirty="0"/>
          </a:p>
        </p:txBody>
      </p:sp>
      <p:sp>
        <p:nvSpPr>
          <p:cNvPr id="17" name="Shape 12"/>
          <p:cNvSpPr/>
          <p:nvPr/>
        </p:nvSpPr>
        <p:spPr>
          <a:xfrm>
            <a:off x="2529688" y="4343400"/>
            <a:ext cx="7132320" cy="713232"/>
          </a:xfrm>
          <a:prstGeom prst="round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67432" y="4544568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215488" y="4471416"/>
            <a:ext cx="2286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and response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437480" y="449884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latency, failures, usage, and material actions. Define escalation and support.</a:t>
            </a:r>
            <a:endParaRPr lang="en-US" sz="930" dirty="0"/>
          </a:p>
        </p:txBody>
      </p:sp>
      <p:sp>
        <p:nvSpPr>
          <p:cNvPr id="21" name="Shape 15"/>
          <p:cNvSpPr/>
          <p:nvPr/>
        </p:nvSpPr>
        <p:spPr>
          <a:xfrm>
            <a:off x="6099048" y="5056632"/>
            <a:ext cx="0" cy="219456"/>
          </a:xfrm>
          <a:prstGeom prst="line">
            <a:avLst/>
          </a:prstGeom>
          <a:noFill/>
          <a:ln w="1905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5193792" y="5285232"/>
            <a:ext cx="1810512" cy="67665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330952" y="5504688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BD6C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action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5 output: governed sandbox design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IDENTITY CHOICES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simple, then add delegated access deliberately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workshop baseline focuses on the tool flow. Production identity requires client, API, scope, and discovery design.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29000" cy="3456432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28800"/>
            <a:ext cx="73152" cy="3456432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536" y="201168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2002536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Anonymous sandbox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77824" y="2450592"/>
            <a:ext cx="299008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Fastest workshop path.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correlation, rate limiting, tracing, and a controlled network boundary.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mistake policy controls for authentication.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89120" y="1828800"/>
            <a:ext cx="3429000" cy="3456432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9120" y="1828800"/>
            <a:ext cx="73152" cy="345643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0288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84064" y="2002536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Bearer token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08576" y="2450592"/>
            <a:ext cx="299008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Acquire a token separately and pass it as an HTTP header.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 validates issuer, audience, signature, and delegated scopes.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19872" y="1828800"/>
            <a:ext cx="3429000" cy="3456432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119872" y="1828800"/>
            <a:ext cx="73152" cy="3456432"/>
          </a:xfrm>
          <a:prstGeom prst="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210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14816" y="2002536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MCP OAuth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39328" y="2450592"/>
            <a:ext cx="299008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OAuth discovery metadata and a compatible client registration.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sign-in, consent, token acquisition, scope mapping, and lifecycle.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1965960" y="5468112"/>
            <a:ext cx="8275320" cy="448056"/>
          </a:xfrm>
          <a:prstGeom prst="roundRect">
            <a:avLst/>
          </a:prstGeom>
          <a:solidFill>
            <a:srgbClr val="FFE9E3"/>
          </a:solidFill>
          <a:ln w="12700">
            <a:solidFill>
              <a:srgbClr val="FF7A59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6272" y="557784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560320" y="5586984"/>
            <a:ext cx="7370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 token validation alone does not provide automatic MCP OAuth discovery or sign-in.</a:t>
            </a:r>
            <a:endParaRPr lang="en-US" sz="980" dirty="0"/>
          </a:p>
        </p:txBody>
      </p:sp>
      <p:sp>
        <p:nvSpPr>
          <p:cNvPr id="23" name="Text 1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extension: delegated Microsoft Entra OAuth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OPERATE THE PATTERN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Observe one request across every boundary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Correlation turns a multi-service tool call into a supportable system.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2728" y="2157984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377440" y="2523744"/>
            <a:ext cx="530352" cy="0"/>
          </a:xfrm>
          <a:prstGeom prst="line">
            <a:avLst/>
          </a:prstGeom>
          <a:noFill/>
          <a:ln w="2032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944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75DA6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38728" y="2157984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08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663440" y="2523744"/>
            <a:ext cx="530352" cy="0"/>
          </a:xfrm>
          <a:prstGeom prst="line">
            <a:avLst/>
          </a:prstGeom>
          <a:noFill/>
          <a:ln w="2032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5230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F8B8D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4728" y="2157984"/>
            <a:ext cx="475488" cy="4754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394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APIM MCP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949440" y="2523744"/>
            <a:ext cx="530352" cy="0"/>
          </a:xfrm>
          <a:prstGeom prst="line">
            <a:avLst/>
          </a:prstGeom>
          <a:noFill/>
          <a:ln w="2032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516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10728" y="2157984"/>
            <a:ext cx="475488" cy="4754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680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 API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9235440" y="2523744"/>
            <a:ext cx="530352" cy="0"/>
          </a:xfrm>
          <a:prstGeom prst="line">
            <a:avLst/>
          </a:prstGeom>
          <a:noFill/>
          <a:ln w="2032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9802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F4B942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396728" y="2157984"/>
            <a:ext cx="475488" cy="4754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966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41248" y="3611880"/>
            <a:ext cx="10497312" cy="0"/>
          </a:xfrm>
          <a:prstGeom prst="line">
            <a:avLst/>
          </a:prstGeom>
          <a:noFill/>
          <a:ln w="25400">
            <a:solidFill>
              <a:srgbClr val="FF7A59"/>
            </a:solidFill>
            <a:prstDash val="solid"/>
            <a:tailEnd type="triangle"/>
          </a:ln>
        </p:spPr>
      </p:sp>
      <p:sp>
        <p:nvSpPr>
          <p:cNvPr id="25" name="Text 18"/>
          <p:cNvSpPr/>
          <p:nvPr/>
        </p:nvSpPr>
        <p:spPr>
          <a:xfrm>
            <a:off x="5193792" y="3310128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5B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correlation-id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822960" y="4160520"/>
            <a:ext cx="2487168" cy="1152144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4128" y="4443984"/>
            <a:ext cx="292608" cy="29260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81328" y="42976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Latency</a:t>
            </a:r>
            <a:endParaRPr lang="en-US" sz="1250" dirty="0"/>
          </a:p>
        </p:txBody>
      </p:sp>
      <p:sp>
        <p:nvSpPr>
          <p:cNvPr id="29" name="Text 21"/>
          <p:cNvSpPr/>
          <p:nvPr/>
        </p:nvSpPr>
        <p:spPr>
          <a:xfrm>
            <a:off x="1481328" y="46451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Model, tool, API, backend</a:t>
            </a:r>
            <a:endParaRPr lang="en-US" sz="880" dirty="0"/>
          </a:p>
        </p:txBody>
      </p:sp>
      <p:sp>
        <p:nvSpPr>
          <p:cNvPr id="30" name="Shape 22"/>
          <p:cNvSpPr/>
          <p:nvPr/>
        </p:nvSpPr>
        <p:spPr>
          <a:xfrm>
            <a:off x="3657600" y="4160520"/>
            <a:ext cx="2487168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58768" y="4443984"/>
            <a:ext cx="292608" cy="29260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4315968" y="42976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Failures</a:t>
            </a:r>
            <a:endParaRPr lang="en-US" sz="1250" dirty="0"/>
          </a:p>
        </p:txBody>
      </p:sp>
      <p:sp>
        <p:nvSpPr>
          <p:cNvPr id="33" name="Text 24"/>
          <p:cNvSpPr/>
          <p:nvPr/>
        </p:nvSpPr>
        <p:spPr>
          <a:xfrm>
            <a:off x="4315968" y="46451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Auth, schema, streaming, backend</a:t>
            </a:r>
            <a:endParaRPr lang="en-US" sz="880" dirty="0"/>
          </a:p>
        </p:txBody>
      </p:sp>
      <p:sp>
        <p:nvSpPr>
          <p:cNvPr id="34" name="Shape 25"/>
          <p:cNvSpPr/>
          <p:nvPr/>
        </p:nvSpPr>
        <p:spPr>
          <a:xfrm>
            <a:off x="6492240" y="4160520"/>
            <a:ext cx="2487168" cy="1152144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93408" y="4443984"/>
            <a:ext cx="292608" cy="292608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150608" y="42976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Usage</a:t>
            </a:r>
            <a:endParaRPr lang="en-US" sz="1250" dirty="0"/>
          </a:p>
        </p:txBody>
      </p:sp>
      <p:sp>
        <p:nvSpPr>
          <p:cNvPr id="37" name="Text 27"/>
          <p:cNvSpPr/>
          <p:nvPr/>
        </p:nvSpPr>
        <p:spPr>
          <a:xfrm>
            <a:off x="7150608" y="46451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Requests, tools, tokens, users</a:t>
            </a:r>
            <a:endParaRPr lang="en-US" sz="880" dirty="0"/>
          </a:p>
        </p:txBody>
      </p:sp>
      <p:sp>
        <p:nvSpPr>
          <p:cNvPr id="38" name="Shape 28"/>
          <p:cNvSpPr/>
          <p:nvPr/>
        </p:nvSpPr>
        <p:spPr>
          <a:xfrm>
            <a:off x="9326880" y="4160520"/>
            <a:ext cx="2487168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28048" y="4443984"/>
            <a:ext cx="292608" cy="29260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9985248" y="42976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Audit</a:t>
            </a:r>
            <a:endParaRPr lang="en-US" sz="1250" dirty="0"/>
          </a:p>
        </p:txBody>
      </p:sp>
      <p:sp>
        <p:nvSpPr>
          <p:cNvPr id="41" name="Text 30"/>
          <p:cNvSpPr/>
          <p:nvPr/>
        </p:nvSpPr>
        <p:spPr>
          <a:xfrm>
            <a:off x="9985248" y="46451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Approvals and material actions</a:t>
            </a:r>
            <a:endParaRPr lang="en-US" sz="880" dirty="0"/>
          </a:p>
        </p:txBody>
      </p:sp>
      <p:sp>
        <p:nvSpPr>
          <p:cNvPr id="42" name="Text 31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Monitoring: one trace, many boundaries</a:t>
            </a:r>
            <a:endParaRPr lang="en-US" sz="75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6 | DEMONSTRATE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 one complete story with three prompts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final demo moves from safe retrieval to a governed state change.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3383280" cy="3840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A36B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93392"/>
            <a:ext cx="457200" cy="45720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1031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55848" y="201168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35608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Retrieve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59536" y="2679192"/>
            <a:ext cx="2980944" cy="1572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9848" y="2953512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i="1" dirty="0">
                <a:solidFill>
                  <a:srgbClr val="23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"Get work request WR-1001 and explain what is blocking approval."</a:t>
            </a:r>
            <a:endParaRPr lang="en-US" sz="1120" dirty="0"/>
          </a:p>
        </p:txBody>
      </p:sp>
      <p:sp>
        <p:nvSpPr>
          <p:cNvPr id="12" name="Shape 9"/>
          <p:cNvSpPr/>
          <p:nvPr/>
        </p:nvSpPr>
        <p:spPr>
          <a:xfrm>
            <a:off x="932688" y="4718304"/>
            <a:ext cx="2834640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05840" y="4782312"/>
            <a:ext cx="2688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READ AND GROUNDED SUMMARY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462272" y="1783080"/>
            <a:ext cx="3383280" cy="3840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45152" y="1993392"/>
            <a:ext cx="457200" cy="45720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45152" y="21031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59752" y="201168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239512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663440" y="2679192"/>
            <a:ext cx="2980944" cy="1572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73752" y="2953512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i="1" dirty="0">
                <a:solidFill>
                  <a:srgbClr val="23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"What information should be collected before this request can move forward?"</a:t>
            </a:r>
            <a:endParaRPr lang="en-US" sz="1120" dirty="0"/>
          </a:p>
        </p:txBody>
      </p:sp>
      <p:sp>
        <p:nvSpPr>
          <p:cNvPr id="21" name="Shape 17"/>
          <p:cNvSpPr/>
          <p:nvPr/>
        </p:nvSpPr>
        <p:spPr>
          <a:xfrm>
            <a:off x="4736592" y="4718304"/>
            <a:ext cx="2834640" cy="310896"/>
          </a:xfrm>
          <a:prstGeom prst="roundRect">
            <a:avLst>
              <a:gd name="adj" fmla="val 23529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809744" y="4782312"/>
            <a:ext cx="2688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REASONING OVER TOOL OUTPUT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8266176" y="1783080"/>
            <a:ext cx="3383280" cy="3840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FF7A59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49056" y="1993392"/>
            <a:ext cx="457200" cy="457200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449056" y="21031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63656" y="2011680"/>
            <a:ext cx="384048" cy="38404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9043416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Change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8467344" y="2679192"/>
            <a:ext cx="2980944" cy="1572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677656" y="2953512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i="1" dirty="0">
                <a:solidFill>
                  <a:srgbClr val="23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"Update the status after the required details are confirmed."</a:t>
            </a:r>
            <a:endParaRPr lang="en-US" sz="1120" dirty="0"/>
          </a:p>
        </p:txBody>
      </p:sp>
      <p:sp>
        <p:nvSpPr>
          <p:cNvPr id="30" name="Shape 25"/>
          <p:cNvSpPr/>
          <p:nvPr/>
        </p:nvSpPr>
        <p:spPr>
          <a:xfrm>
            <a:off x="8540496" y="4718304"/>
            <a:ext cx="2834640" cy="310896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613648" y="4782312"/>
            <a:ext cx="2688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BEFORE EXECUTION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6 output: end-to-end validation and action plan</a:t>
            </a:r>
            <a:endParaRPr lang="en-US" sz="7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PRODUCTION ADAPTATION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Replace workshop shortcuts with owned platform decisions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reference pattern is reusable. The production implementation must be explicit about each boundary.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3429000" y="166420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647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Workshop baseline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44968" y="16642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Production decision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2084832"/>
            <a:ext cx="1965960" cy="548640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4942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2788920" y="208483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223113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mock or public API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36208" y="2359152"/>
            <a:ext cx="658368" cy="0"/>
          </a:xfrm>
          <a:prstGeom prst="line">
            <a:avLst/>
          </a:prstGeom>
          <a:noFill/>
          <a:ln w="22860">
            <a:solidFill>
              <a:srgbClr val="4F8EF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059168" y="2084832"/>
            <a:ext cx="4462272" cy="548640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96912" y="221284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API, data lifecycle, and error contract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658368" y="2816352"/>
            <a:ext cx="1965960" cy="548640"/>
          </a:xfrm>
          <a:prstGeom prst="round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98094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2788920" y="281635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71800" y="296265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Anonymous or manual bearer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36208" y="3090672"/>
            <a:ext cx="658368" cy="0"/>
          </a:xfrm>
          <a:prstGeom prst="line">
            <a:avLst/>
          </a:prstGeom>
          <a:noFill/>
          <a:ln w="22860">
            <a:solidFill>
              <a:srgbClr val="775DA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059168" y="2816352"/>
            <a:ext cx="4462272" cy="548640"/>
          </a:xfrm>
          <a:prstGeom prst="round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294436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and delegated identity with lifecycle ownership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658368" y="3547872"/>
            <a:ext cx="1965960" cy="548640"/>
          </a:xfrm>
          <a:prstGeom prst="round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71246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>
            <a:off x="2788920" y="354787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369417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workshop access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36208" y="3822192"/>
            <a:ext cx="658368" cy="0"/>
          </a:xfrm>
          <a:prstGeom prst="line">
            <a:avLst/>
          </a:prstGeom>
          <a:noFill/>
          <a:ln w="22860">
            <a:solidFill>
              <a:srgbClr val="0F8B8D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59168" y="3547872"/>
            <a:ext cx="4462272" cy="548640"/>
          </a:xfrm>
          <a:prstGeom prst="round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96912" y="367588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connectivity, DNS, firewall, and egress controls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658368" y="4279392"/>
            <a:ext cx="1965960" cy="548640"/>
          </a:xfrm>
          <a:prstGeom prst="round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4398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Approvals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2788920" y="427939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442569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tool grouping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36208" y="4553712"/>
            <a:ext cx="658368" cy="0"/>
          </a:xfrm>
          <a:prstGeom prst="line">
            <a:avLst/>
          </a:prstGeom>
          <a:noFill/>
          <a:ln w="22860">
            <a:solidFill>
              <a:srgbClr val="FF7A5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059168" y="4279392"/>
            <a:ext cx="4462272" cy="548640"/>
          </a:xfrm>
          <a:prstGeom prst="round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96912" y="440740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Risk-based approvals tied to business authority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658368" y="5010912"/>
            <a:ext cx="1965960" cy="548640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517550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Operations</a:t>
            </a:r>
            <a:endParaRPr lang="en-US" sz="1180" dirty="0"/>
          </a:p>
        </p:txBody>
      </p:sp>
      <p:sp>
        <p:nvSpPr>
          <p:cNvPr id="37" name="Shape 35"/>
          <p:cNvSpPr/>
          <p:nvPr/>
        </p:nvSpPr>
        <p:spPr>
          <a:xfrm>
            <a:off x="2788920" y="501091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515721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Facilitator monitoring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36208" y="5285232"/>
            <a:ext cx="658368" cy="0"/>
          </a:xfrm>
          <a:prstGeom prst="line">
            <a:avLst/>
          </a:prstGeom>
          <a:noFill/>
          <a:ln w="22860">
            <a:solidFill>
              <a:srgbClr val="F4B942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059168" y="5010912"/>
            <a:ext cx="4462272" cy="548640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513892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SLOs, alerts, runbooks, cost, and support model</a:t>
            </a:r>
            <a:endParaRPr lang="en-US" sz="940" dirty="0"/>
          </a:p>
        </p:txBody>
      </p:sp>
      <p:sp>
        <p:nvSpPr>
          <p:cNvPr id="42" name="Shape 40"/>
          <p:cNvSpPr/>
          <p:nvPr/>
        </p:nvSpPr>
        <p:spPr>
          <a:xfrm>
            <a:off x="2788920" y="5870448"/>
            <a:ext cx="6364224" cy="329184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17520" y="5952744"/>
            <a:ext cx="5907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D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readiness is a set of owned decisions, not a final toggle.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 the pattern without losing the control boundaries</a:t>
            </a:r>
            <a:endParaRPr lang="en-US" sz="7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FACILITATION CHECKPOINTS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 the core path with explicit recovery routes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workshop should continue even when optional tooling or identity paths fail.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3246120" cy="758952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6968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883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 import or mock fails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096512" y="2075688"/>
            <a:ext cx="658368" cy="0"/>
          </a:xfrm>
          <a:prstGeom prst="line">
            <a:avLst/>
          </a:prstGeom>
          <a:noFill/>
          <a:ln w="2159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919472" y="1691640"/>
            <a:ext cx="6601968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212080" y="1874520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facilitator-provided APIM API and continue to MCP.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658368" y="2697480"/>
            <a:ext cx="3246120" cy="758952"/>
          </a:xfrm>
          <a:prstGeom prst="round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968" y="29260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25880" y="288950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streaming fails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096512" y="3081528"/>
            <a:ext cx="658368" cy="0"/>
          </a:xfrm>
          <a:prstGeom prst="line">
            <a:avLst/>
          </a:prstGeom>
          <a:noFill/>
          <a:ln w="2159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919472" y="2697480"/>
            <a:ext cx="6601968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212080" y="2880360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frontend response logging to 0 bytes. Remove response-body policy access.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658368" y="3703320"/>
            <a:ext cx="3246120" cy="758952"/>
          </a:xfrm>
          <a:prstGeom prst="round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968" y="39319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89534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auth reaches IMDS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4096512" y="4087368"/>
            <a:ext cx="658368" cy="0"/>
          </a:xfrm>
          <a:prstGeom prst="line">
            <a:avLst/>
          </a:prstGeom>
          <a:noFill/>
          <a:ln w="2159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4919472" y="3703320"/>
            <a:ext cx="6601968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5212080" y="3886200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AzureCliCredential in the local environment, then restart.</a:t>
            </a:r>
            <a:endParaRPr lang="en-US" sz="1020" dirty="0"/>
          </a:p>
        </p:txBody>
      </p:sp>
      <p:sp>
        <p:nvSpPr>
          <p:cNvPr id="23" name="Shape 18"/>
          <p:cNvSpPr/>
          <p:nvPr/>
        </p:nvSpPr>
        <p:spPr>
          <a:xfrm>
            <a:off x="658368" y="4709160"/>
            <a:ext cx="3246120" cy="758952"/>
          </a:xfrm>
          <a:prstGeom prst="round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" y="493776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90118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OAuth sign-in cannot start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096512" y="5093208"/>
            <a:ext cx="658368" cy="0"/>
          </a:xfrm>
          <a:prstGeom prst="line">
            <a:avLst/>
          </a:prstGeom>
          <a:noFill/>
          <a:ln w="2159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4919472" y="4709160"/>
            <a:ext cx="6601968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212080" y="4892040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separately acquired bearer token. Keep full discovery as an extension.</a:t>
            </a:r>
            <a:endParaRPr lang="en-US" sz="1020" dirty="0"/>
          </a:p>
        </p:txBody>
      </p:sp>
      <p:sp>
        <p:nvSpPr>
          <p:cNvPr id="29" name="Shape 23"/>
          <p:cNvSpPr/>
          <p:nvPr/>
        </p:nvSpPr>
        <p:spPr>
          <a:xfrm>
            <a:off x="2395728" y="5806440"/>
            <a:ext cx="7388352" cy="393192"/>
          </a:xfrm>
          <a:prstGeom prst="roundRect">
            <a:avLst/>
          </a:prstGeom>
          <a:solidFill>
            <a:srgbClr val="FFF4D7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51760" y="5897880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035808" y="5907024"/>
            <a:ext cx="6446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rule: teach the core pattern first. Add Petstore, hosted deployment, and OAuth only after the baseline passes.</a:t>
            </a:r>
            <a:endParaRPr lang="en-US" sz="960" dirty="0"/>
          </a:p>
        </p:txBody>
      </p:sp>
      <p:sp>
        <p:nvSpPr>
          <p:cNvPr id="32" name="Text 25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Facilitator pattern: checkpoint, recover, continue</a:t>
            </a:r>
            <a:endParaRPr lang="en-US" sz="7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023360"/>
            <a:ext cx="4206240" cy="4206240"/>
          </a:xfrm>
          <a:prstGeom prst="ellipse">
            <a:avLst/>
          </a:prstGeom>
          <a:solidFill>
            <a:srgbClr val="0F8B8D">
              <a:alpha val="92000"/>
            </a:srgbClr>
          </a:solidFill>
          <a:ln w="12700">
            <a:solidFill>
              <a:srgbClr val="0F8B8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1371600"/>
            <a:ext cx="4754880" cy="4754880"/>
          </a:xfrm>
          <a:prstGeom prst="ellipse">
            <a:avLst/>
          </a:prstGeom>
          <a:solidFill>
            <a:srgbClr val="775DA6">
              <a:alpha val="90000"/>
            </a:srgbClr>
          </a:solidFill>
          <a:ln w="12700">
            <a:solidFill>
              <a:srgbClr val="775D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566928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5BD6C5"/>
          </a:solidFill>
          <a:ln w="12700">
            <a:solidFill>
              <a:srgbClr val="5BD6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30936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CLOSEOUT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Leave with a pattern and a decision list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76656" y="205740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the next API, owner, identity model, approval boundary, and production evidence.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017520"/>
            <a:ext cx="3383280" cy="1874520"/>
          </a:xfrm>
          <a:prstGeom prst="roundRect">
            <a:avLst/>
          </a:prstGeom>
          <a:solidFill>
            <a:srgbClr val="173A54"/>
          </a:solidFill>
          <a:ln w="12700">
            <a:solidFill>
              <a:srgbClr val="315A76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3544" y="329184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35608" y="3227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 the use case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23544" y="382219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real workflow with a clear API and measurable outcome.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4480560" y="3017520"/>
            <a:ext cx="3383280" cy="1874520"/>
          </a:xfrm>
          <a:prstGeom prst="roundRect">
            <a:avLst/>
          </a:prstGeom>
          <a:solidFill>
            <a:srgbClr val="173A54"/>
          </a:solidFill>
          <a:ln w="12700">
            <a:solidFill>
              <a:srgbClr val="315A76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8304" y="329184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30368" y="3227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Assign control owners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18304" y="382219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Identity, APIM, approvals, monitoring, and support.</a:t>
            </a:r>
            <a:endParaRPr lang="en-US" sz="980" dirty="0"/>
          </a:p>
        </p:txBody>
      </p:sp>
      <p:sp>
        <p:nvSpPr>
          <p:cNvPr id="16" name="Shape 12"/>
          <p:cNvSpPr/>
          <p:nvPr/>
        </p:nvSpPr>
        <p:spPr>
          <a:xfrm>
            <a:off x="8275320" y="3017520"/>
            <a:ext cx="3383280" cy="1874520"/>
          </a:xfrm>
          <a:prstGeom prst="roundRect">
            <a:avLst/>
          </a:prstGeom>
          <a:solidFill>
            <a:srgbClr val="173A54"/>
          </a:solidFill>
          <a:ln w="12700">
            <a:solidFill>
              <a:srgbClr val="315A76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3064" y="329184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25128" y="3227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the delivery path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513064" y="382219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promotion, protected deployment, smoke tests, and rollback.</a:t>
            </a:r>
            <a:endParaRPr lang="en-US" sz="980" dirty="0"/>
          </a:p>
        </p:txBody>
      </p:sp>
      <p:sp>
        <p:nvSpPr>
          <p:cNvPr id="20" name="Shape 15"/>
          <p:cNvSpPr/>
          <p:nvPr/>
        </p:nvSpPr>
        <p:spPr>
          <a:xfrm>
            <a:off x="548640" y="5321808"/>
            <a:ext cx="7863840" cy="932688"/>
          </a:xfrm>
          <a:prstGeom prst="roundRect">
            <a:avLst>
              <a:gd name="adj" fmla="val 588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577840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5559552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Workshop repository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2834640" y="5559552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u="sng">
                <a:solidFill>
                  <a:srgbClr val="5BD6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the repository README for workshop files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1143000" y="5943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FC7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Labs, policies, sample agent, architecture, and deployment guidance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2873</Words>
  <Application>Microsoft Office PowerPoint</Application>
  <PresentationFormat>Widescreen</PresentationFormat>
  <Paragraphs>442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2026-09-25T15:13:44Z</dcterms:created>
  <dcterms:modified xsi:type="dcterms:W3CDTF">2026-09-25T15:13:44Z</dcterms:modified>
</cp:coreProperties>
</file>