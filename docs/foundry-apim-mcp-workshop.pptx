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1" d="100"/>
          <a:sy n="101" d="100"/>
        </p:scale>
        <p:origin x="84"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the ASP.NET Core web project first. Confirm that the Responses API is listening at http://localhost:8088/responses before opening either client. For the PowerShell smoke test, prepare $body from the lab request payload and run the displayed Invoke-RestMethod command. Open Agent Inspector from Foundry Toolkit for the teaching view because it exposes model input, tool discovery, tool calls, approvals, and the final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txBody>
          <a:bodyPr/>
          <a:lstStyle/>
          <a:p>
            <a:endParaRPr lang="en-US"/>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hyperlink" Target="https://aka.ms/MCPWorksho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21.svg"/></Relationships>
</file>

<file path=ppt/slides/_rels/slide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8.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svg"/></Relationships>
</file>

<file path=ppt/slides/_rels/slide10.xml.rels><?xml version="1.0" encoding="UTF-8" standalone="yes"?>
<Relationships xmlns="http://schemas.openxmlformats.org/package/2006/relationships"><Relationship Id="rId8" Type="http://schemas.openxmlformats.org/officeDocument/2006/relationships/image" Target="../media/image40.svg"/><Relationship Id="rId3" Type="http://schemas.openxmlformats.org/officeDocument/2006/relationships/image" Target="../media/image35.svg"/><Relationship Id="rId7" Type="http://schemas.openxmlformats.org/officeDocument/2006/relationships/image" Target="../media/image39.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 Id="rId9" Type="http://schemas.openxmlformats.org/officeDocument/2006/relationships/image" Target="../media/image41.svg"/></Relationships>
</file>

<file path=ppt/slides/_rels/slide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3.svg"/><Relationship Id="rId4" Type="http://schemas.openxmlformats.org/officeDocument/2006/relationships/image" Target="../media/image42.svg"/></Relationships>
</file>

<file path=ppt/slides/_rels/slide12.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svg"/></Relationships>
</file>

<file path=ppt/slides/_rels/slide1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47.svg"/><Relationship Id="rId7" Type="http://schemas.openxmlformats.org/officeDocument/2006/relationships/image" Target="../media/image50.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27.svg"/><Relationship Id="rId4" Type="http://schemas.openxmlformats.org/officeDocument/2006/relationships/image" Target="../media/image48.svg"/><Relationship Id="rId9" Type="http://schemas.openxmlformats.org/officeDocument/2006/relationships/image" Target="../media/image51.svg"/></Relationships>
</file>

<file path=ppt/slides/_rels/slide1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2.svg"/></Relationships>
</file>

<file path=ppt/slides/_rels/slide15.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4.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57.svg"/><Relationship Id="rId4" Type="http://schemas.openxmlformats.org/officeDocument/2006/relationships/image" Target="../media/image56.svg"/></Relationships>
</file>

<file path=ppt/slides/_rels/slide17.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image" Target="../media/image58.svg"/><Relationship Id="rId7" Type="http://schemas.openxmlformats.org/officeDocument/2006/relationships/image" Target="../media/image2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svg"/><Relationship Id="rId11" Type="http://schemas.openxmlformats.org/officeDocument/2006/relationships/image" Target="../media/image62.svg"/><Relationship Id="rId5" Type="http://schemas.openxmlformats.org/officeDocument/2006/relationships/image" Target="../media/image59.svg"/><Relationship Id="rId10" Type="http://schemas.openxmlformats.org/officeDocument/2006/relationships/image" Target="../media/image61.svg"/><Relationship Id="rId4" Type="http://schemas.openxmlformats.org/officeDocument/2006/relationships/image" Target="../media/image8.svg"/><Relationship Id="rId9" Type="http://schemas.openxmlformats.org/officeDocument/2006/relationships/image" Target="../media/image31.svg"/></Relationships>
</file>

<file path=ppt/slides/_rels/slide1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63.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5.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53.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9.svg"/><Relationship Id="rId5" Type="http://schemas.openxmlformats.org/officeDocument/2006/relationships/image" Target="../media/image68.svg"/><Relationship Id="rId4" Type="http://schemas.openxmlformats.org/officeDocument/2006/relationships/image" Target="../media/image67.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299200"/>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pic>
        <p:nvPicPr>
          <p:cNvPr id="19" name="Workshop Repo QR" descr="QR code linking to https://aka.ms/MCPWorkshop">
            <a:hlinkClick r:id="rId7"/>
            <a:extLst>
              <a:ext uri="{FF2B5EF4-FFF2-40B4-BE49-F238E27FC236}">
                <a16:creationId xmlns:a16="http://schemas.microsoft.com/office/drawing/2014/main" id="{A73C613E-4750-90AF-FDF0-3A81E526DA7B}"/>
              </a:ext>
            </a:extLst>
          </p:cNvPr>
          <p:cNvPicPr>
            <a:picLocks/>
          </p:cNvPicPr>
          <p:nvPr/>
        </p:nvPicPr>
        <p:blipFill>
          <a:blip r:embed="rId8"/>
          <a:stretch>
            <a:fillRect/>
          </a:stretch>
        </p:blipFill>
        <p:spPr>
          <a:xfrm>
            <a:off x="660400" y="5181600"/>
            <a:ext cx="914400" cy="914400"/>
          </a:xfrm>
          <a:prstGeom prst="rect">
            <a:avLst/>
          </a:prstGeom>
        </p:spPr>
      </p:pic>
      <p:sp>
        <p:nvSpPr>
          <p:cNvPr id="20" name="Workshop Repo Label">
            <a:extLst>
              <a:ext uri="{FF2B5EF4-FFF2-40B4-BE49-F238E27FC236}">
                <a16:creationId xmlns:a16="http://schemas.microsoft.com/office/drawing/2014/main" id="{3ED29ABE-FEF1-FE94-4EFE-FCC2CD734316}"/>
              </a:ext>
            </a:extLst>
          </p:cNvPr>
          <p:cNvSpPr txBox="1"/>
          <p:nvPr/>
        </p:nvSpPr>
        <p:spPr>
          <a:xfrm>
            <a:off x="1739900" y="5334000"/>
            <a:ext cx="2286000" cy="138499"/>
          </a:xfrm>
          <a:prstGeom prst="rect">
            <a:avLst/>
          </a:prstGeom>
          <a:noFill/>
        </p:spPr>
        <p:txBody>
          <a:bodyPr vert="horz" lIns="0" tIns="0" rIns="0" bIns="0" rtlCol="0">
            <a:spAutoFit/>
          </a:bodyPr>
          <a:lstStyle/>
          <a:p>
            <a:r>
              <a:rPr lang="en-US" sz="900" b="1">
                <a:solidFill>
                  <a:srgbClr val="60D4CB"/>
                </a:solidFill>
                <a:latin typeface="Aptos" panose="020B0004020202020204" pitchFamily="34" charset="0"/>
              </a:rPr>
              <a:t>WORKSHOP REPO</a:t>
            </a:r>
          </a:p>
        </p:txBody>
      </p:sp>
      <p:sp>
        <p:nvSpPr>
          <p:cNvPr id="21" name="Workshop Repo URL">
            <a:hlinkClick r:id="rId7"/>
            <a:extLst>
              <a:ext uri="{FF2B5EF4-FFF2-40B4-BE49-F238E27FC236}">
                <a16:creationId xmlns:a16="http://schemas.microsoft.com/office/drawing/2014/main" id="{B5CECEF4-17F6-8571-E785-BB9F4D6F939F}"/>
              </a:ext>
            </a:extLst>
          </p:cNvPr>
          <p:cNvSpPr txBox="1"/>
          <p:nvPr/>
        </p:nvSpPr>
        <p:spPr>
          <a:xfrm>
            <a:off x="1739900" y="5600700"/>
            <a:ext cx="2413000" cy="215444"/>
          </a:xfrm>
          <a:prstGeom prst="rect">
            <a:avLst/>
          </a:prstGeom>
          <a:noFill/>
        </p:spPr>
        <p:txBody>
          <a:bodyPr vert="horz" lIns="0" tIns="0" rIns="0" bIns="0" rtlCol="0">
            <a:spAutoFit/>
          </a:bodyPr>
          <a:lstStyle/>
          <a:p>
            <a:r>
              <a:rPr lang="en-US" sz="1400" b="1">
                <a:solidFill>
                  <a:srgbClr val="FFFFFF"/>
                </a:solidFill>
                <a:latin typeface="Aptos" panose="020B0004020202020204" pitchFamily="34" charset="0"/>
              </a:rPr>
              <a:t>aka.ms/MCPWorkshop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5" name="REST Telemetry Arrow">
            <a:extLst>
              <a:ext uri="{FF2B5EF4-FFF2-40B4-BE49-F238E27FC236}">
                <a16:creationId xmlns:a16="http://schemas.microsoft.com/office/drawing/2014/main" id="{7E4B0AB1-5054-6D6B-7006-3BEE6C8341C0}"/>
              </a:ext>
            </a:extLst>
          </p:cNvPr>
          <p:cNvSpPr/>
          <p:nvPr/>
        </p:nvSpPr>
        <p:spPr>
          <a:xfrm>
            <a:off x="8206740" y="4445000"/>
            <a:ext cx="0" cy="558800"/>
          </a:xfrm>
          <a:prstGeom prst="line">
            <a:avLst/>
          </a:prstGeom>
          <a:noFill/>
          <a:ln w="22225">
            <a:solidFill>
              <a:srgbClr val="5BD6C5"/>
            </a:solidFill>
            <a:prstDash val="solid"/>
            <a:headEnd type="none"/>
            <a:tailEnd type="arrow"/>
          </a:ln>
        </p:spPr>
        <p:txBody>
          <a:bodyPr/>
          <a:lstStyle/>
          <a:p>
            <a:endParaRPr lang="en-US"/>
          </a:p>
        </p:txBody>
      </p:sp>
      <p:sp>
        <p:nvSpPr>
          <p:cNvPr id="38" name="APIM Telemetry Arrow"/>
          <p:cNvSpPr/>
          <p:nvPr/>
        </p:nvSpPr>
        <p:spPr>
          <a:xfrm>
            <a:off x="5857240" y="4445000"/>
            <a:ext cx="0" cy="558800"/>
          </a:xfrm>
          <a:prstGeom prst="line">
            <a:avLst/>
          </a:prstGeom>
          <a:noFill/>
          <a:ln w="22225">
            <a:solidFill>
              <a:srgbClr val="5BD6C5"/>
            </a:solidFill>
            <a:prstDash val="solid"/>
            <a:headEnd type="none"/>
            <a:tailEnd type="arrow"/>
          </a:ln>
        </p:spPr>
        <p:txBody>
          <a:bodyPr/>
          <a:lstStyle/>
          <a:p>
            <a:endParaRPr lang="en-US"/>
          </a:p>
        </p:txBody>
      </p:sp>
      <p:cxnSp>
        <p:nvCxnSpPr>
          <p:cNvPr id="46" name="Agent Telemetry Arrow">
            <a:extLst>
              <a:ext uri="{FF2B5EF4-FFF2-40B4-BE49-F238E27FC236}">
                <a16:creationId xmlns:a16="http://schemas.microsoft.com/office/drawing/2014/main" id="{FA9AC0A2-7565-7D1E-0A0D-62DBEE29D9D4}"/>
              </a:ext>
            </a:extLst>
          </p:cNvPr>
          <p:cNvCxnSpPr/>
          <p:nvPr/>
        </p:nvCxnSpPr>
        <p:spPr>
          <a:xfrm>
            <a:off x="3483610" y="4445000"/>
            <a:ext cx="0" cy="558800"/>
          </a:xfrm>
          <a:prstGeom prst="line">
            <a:avLst/>
          </a:prstGeom>
          <a:ln w="22225">
            <a:solidFill>
              <a:srgbClr val="775DA6"/>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4" name="APIM REST Connector">
            <a:extLst>
              <a:ext uri="{FF2B5EF4-FFF2-40B4-BE49-F238E27FC236}">
                <a16:creationId xmlns:a16="http://schemas.microsoft.com/office/drawing/2014/main" id="{545BE33A-AB25-9E5F-0E83-963B511BE5DF}"/>
              </a:ext>
            </a:extLst>
          </p:cNvPr>
          <p:cNvCxnSpPr/>
          <p:nvPr/>
        </p:nvCxnSpPr>
        <p:spPr>
          <a:xfrm>
            <a:off x="82067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61" name="APIM Control Plane Connector">
            <a:extLst>
              <a:ext uri="{FF2B5EF4-FFF2-40B4-BE49-F238E27FC236}">
                <a16:creationId xmlns:a16="http://schemas.microsoft.com/office/drawing/2014/main" id="{BE07AF09-DCC1-5A6D-64B0-E7024656B9E7}"/>
              </a:ext>
            </a:extLst>
          </p:cNvPr>
          <p:cNvCxnSpPr/>
          <p:nvPr/>
        </p:nvCxnSpPr>
        <p:spPr>
          <a:xfrm>
            <a:off x="58572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58" name="Agent 365 Connector">
            <a:extLst>
              <a:ext uri="{FF2B5EF4-FFF2-40B4-BE49-F238E27FC236}">
                <a16:creationId xmlns:a16="http://schemas.microsoft.com/office/drawing/2014/main" id="{D736F929-2089-7C86-D8F3-2E549E293323}"/>
              </a:ext>
            </a:extLst>
          </p:cNvPr>
          <p:cNvCxnSpPr/>
          <p:nvPr/>
        </p:nvCxnSpPr>
        <p:spPr>
          <a:xfrm>
            <a:off x="3483610" y="1981200"/>
            <a:ext cx="0" cy="8636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18" name="Agent 365 APIM Connector">
            <a:extLst>
              <a:ext uri="{FF2B5EF4-FFF2-40B4-BE49-F238E27FC236}">
                <a16:creationId xmlns:a16="http://schemas.microsoft.com/office/drawing/2014/main" id="{C98DA599-5661-3FAD-E212-F71F7E71723C}"/>
              </a:ext>
            </a:extLst>
          </p:cNvPr>
          <p:cNvCxnSpPr/>
          <p:nvPr/>
        </p:nvCxnSpPr>
        <p:spPr>
          <a:xfrm>
            <a:off x="5857240" y="19812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84480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307340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3201670"/>
            <a:ext cx="274320" cy="274320"/>
          </a:xfrm>
          <a:prstGeom prst="rect">
            <a:avLst/>
          </a:prstGeom>
        </p:spPr>
      </p:pic>
      <p:sp>
        <p:nvSpPr>
          <p:cNvPr id="8" name="Text 5"/>
          <p:cNvSpPr/>
          <p:nvPr/>
        </p:nvSpPr>
        <p:spPr>
          <a:xfrm>
            <a:off x="676656" y="3741420"/>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4070350"/>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38680" y="3649980"/>
            <a:ext cx="375920" cy="0"/>
          </a:xfrm>
          <a:prstGeom prst="line">
            <a:avLst/>
          </a:prstGeom>
          <a:noFill/>
          <a:ln w="22225">
            <a:solidFill>
              <a:srgbClr val="748494"/>
            </a:solidFill>
            <a:prstDash val="solid"/>
            <a:tailEnd type="triangle"/>
          </a:ln>
        </p:spPr>
        <p:txBody>
          <a:bodyPr/>
          <a:lstStyle/>
          <a:p>
            <a:endParaRPr lang="en-US"/>
          </a:p>
        </p:txBody>
      </p:sp>
      <p:sp>
        <p:nvSpPr>
          <p:cNvPr id="11" name="Shape 8"/>
          <p:cNvSpPr/>
          <p:nvPr/>
        </p:nvSpPr>
        <p:spPr>
          <a:xfrm>
            <a:off x="2514600" y="284480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4" name="Text 10"/>
          <p:cNvSpPr/>
          <p:nvPr/>
        </p:nvSpPr>
        <p:spPr>
          <a:xfrm>
            <a:off x="2624328" y="3741420"/>
            <a:ext cx="1719072"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Agent Harness</a:t>
            </a:r>
            <a:endParaRPr lang="en-US" sz="1300" dirty="0"/>
          </a:p>
        </p:txBody>
      </p:sp>
      <p:sp>
        <p:nvSpPr>
          <p:cNvPr id="15" name="Text 11"/>
          <p:cNvSpPr/>
          <p:nvPr/>
        </p:nvSpPr>
        <p:spPr>
          <a:xfrm>
            <a:off x="2624328" y="4070350"/>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52620" y="3649980"/>
            <a:ext cx="421640" cy="0"/>
          </a:xfrm>
          <a:prstGeom prst="line">
            <a:avLst/>
          </a:prstGeom>
          <a:noFill/>
          <a:ln w="22225">
            <a:solidFill>
              <a:srgbClr val="748494"/>
            </a:solidFill>
            <a:prstDash val="solid"/>
            <a:tailEnd type="triangle"/>
          </a:ln>
        </p:spPr>
        <p:txBody>
          <a:bodyPr/>
          <a:lstStyle/>
          <a:p>
            <a:endParaRPr lang="en-US"/>
          </a:p>
        </p:txBody>
      </p:sp>
      <p:sp>
        <p:nvSpPr>
          <p:cNvPr id="17" name="Shape 13"/>
          <p:cNvSpPr/>
          <p:nvPr/>
        </p:nvSpPr>
        <p:spPr>
          <a:xfrm>
            <a:off x="4873752" y="284480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20" name="Text 15"/>
          <p:cNvSpPr/>
          <p:nvPr/>
        </p:nvSpPr>
        <p:spPr>
          <a:xfrm>
            <a:off x="4983480" y="3741420"/>
            <a:ext cx="1746504"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MCP Server</a:t>
            </a:r>
            <a:endParaRPr lang="en-US" sz="1300" dirty="0"/>
          </a:p>
        </p:txBody>
      </p:sp>
      <p:sp>
        <p:nvSpPr>
          <p:cNvPr id="21" name="Text 16"/>
          <p:cNvSpPr/>
          <p:nvPr/>
        </p:nvSpPr>
        <p:spPr>
          <a:xfrm>
            <a:off x="4983480" y="4070350"/>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40220" y="3649980"/>
            <a:ext cx="429260" cy="0"/>
          </a:xfrm>
          <a:prstGeom prst="line">
            <a:avLst/>
          </a:prstGeom>
          <a:noFill/>
          <a:ln w="22225">
            <a:solidFill>
              <a:srgbClr val="748494"/>
            </a:solidFill>
            <a:prstDash val="solid"/>
            <a:tailEnd type="triangle"/>
          </a:ln>
        </p:spPr>
        <p:txBody>
          <a:bodyPr/>
          <a:lstStyle/>
          <a:p>
            <a:endParaRPr lang="en-US"/>
          </a:p>
        </p:txBody>
      </p:sp>
      <p:sp>
        <p:nvSpPr>
          <p:cNvPr id="23" name="Shape 18"/>
          <p:cNvSpPr/>
          <p:nvPr/>
        </p:nvSpPr>
        <p:spPr>
          <a:xfrm>
            <a:off x="7269480" y="284480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6" name="Text 20"/>
          <p:cNvSpPr/>
          <p:nvPr/>
        </p:nvSpPr>
        <p:spPr>
          <a:xfrm>
            <a:off x="7379208" y="3741420"/>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4070350"/>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44000" y="3649980"/>
            <a:ext cx="429260" cy="0"/>
          </a:xfrm>
          <a:prstGeom prst="line">
            <a:avLst/>
          </a:prstGeom>
          <a:noFill/>
          <a:ln w="22225">
            <a:solidFill>
              <a:srgbClr val="748494"/>
            </a:solidFill>
            <a:prstDash val="solid"/>
            <a:tailEnd type="triangle"/>
          </a:ln>
        </p:spPr>
        <p:txBody>
          <a:bodyPr/>
          <a:lstStyle/>
          <a:p>
            <a:endParaRPr lang="en-US"/>
          </a:p>
        </p:txBody>
      </p:sp>
      <p:sp>
        <p:nvSpPr>
          <p:cNvPr id="29" name="Shape 23"/>
          <p:cNvSpPr/>
          <p:nvPr/>
        </p:nvSpPr>
        <p:spPr>
          <a:xfrm>
            <a:off x="9573768" y="284480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307340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51592" y="3201670"/>
            <a:ext cx="274320" cy="274320"/>
          </a:xfrm>
          <a:prstGeom prst="rect">
            <a:avLst/>
          </a:prstGeom>
        </p:spPr>
      </p:pic>
      <p:sp>
        <p:nvSpPr>
          <p:cNvPr id="32" name="Text 25"/>
          <p:cNvSpPr/>
          <p:nvPr/>
        </p:nvSpPr>
        <p:spPr>
          <a:xfrm>
            <a:off x="9683496" y="3741420"/>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4070350"/>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pic>
        <p:nvPicPr>
          <p:cNvPr id="49" name="Microsoft Copilot Studio Icon">
            <a:extLst>
              <a:ext uri="{FF2B5EF4-FFF2-40B4-BE49-F238E27FC236}">
                <a16:creationId xmlns:a16="http://schemas.microsoft.com/office/drawing/2014/main" id="{7D163EBB-95FE-D701-C53B-0FDA5E90DB9F}"/>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3528314" y="3173730"/>
            <a:ext cx="330200" cy="330200"/>
          </a:xfrm>
          <a:prstGeom prst="rect">
            <a:avLst/>
          </a:prstGeom>
        </p:spPr>
      </p:pic>
      <p:pic>
        <p:nvPicPr>
          <p:cNvPr id="13" name="Microsoft Foundry Agent Service Icon">
            <a:extLst>
              <a:ext uri="{FF2B5EF4-FFF2-40B4-BE49-F238E27FC236}">
                <a16:creationId xmlns:a16="http://schemas.microsoft.com/office/drawing/2014/main" id="{7CA32E2E-6B9A-7AED-FDF5-EF9F21CDEB73}"/>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109214" y="3173730"/>
            <a:ext cx="330200" cy="330200"/>
          </a:xfrm>
          <a:prstGeom prst="rect">
            <a:avLst/>
          </a:prstGeom>
        </p:spPr>
      </p:pic>
      <p:sp>
        <p:nvSpPr>
          <p:cNvPr id="44" name="Text 35"/>
          <p:cNvSpPr/>
          <p:nvPr/>
        </p:nvSpPr>
        <p:spPr>
          <a:xfrm>
            <a:off x="566928" y="6528816"/>
            <a:ext cx="711200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Architecture: intent stays with the agent harness, controls stay in APIM, and telemetry converges in Application Insights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pic>
        <p:nvPicPr>
          <p:cNvPr id="19" name="MCP Logo">
            <a:extLst>
              <a:ext uri="{FF2B5EF4-FFF2-40B4-BE49-F238E27FC236}">
                <a16:creationId xmlns:a16="http://schemas.microsoft.com/office/drawing/2014/main" id="{C3017197-2A60-8421-3387-1932A693B652}"/>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5654040" y="3135630"/>
            <a:ext cx="406400" cy="406400"/>
          </a:xfrm>
          <a:prstGeom prst="rect">
            <a:avLst/>
          </a:prstGeom>
        </p:spPr>
      </p:pic>
      <p:pic>
        <p:nvPicPr>
          <p:cNvPr id="34" name="OpenAPI Logo">
            <a:extLst>
              <a:ext uri="{FF2B5EF4-FFF2-40B4-BE49-F238E27FC236}">
                <a16:creationId xmlns:a16="http://schemas.microsoft.com/office/drawing/2014/main" id="{22A7C1B4-D38F-A410-EF85-2FEFA5CA8DB6}"/>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7762240" y="2997200"/>
            <a:ext cx="889000" cy="635000"/>
          </a:xfrm>
          <a:prstGeom prst="rect">
            <a:avLst/>
          </a:prstGeom>
        </p:spPr>
      </p:pic>
      <p:sp>
        <p:nvSpPr>
          <p:cNvPr id="53" name="Agent 365 Badge">
            <a:extLst>
              <a:ext uri="{FF2B5EF4-FFF2-40B4-BE49-F238E27FC236}">
                <a16:creationId xmlns:a16="http://schemas.microsoft.com/office/drawing/2014/main" id="{020CD871-57B2-8109-AB9B-98269BA65176}"/>
              </a:ext>
            </a:extLst>
          </p:cNvPr>
          <p:cNvSpPr/>
          <p:nvPr/>
        </p:nvSpPr>
        <p:spPr>
          <a:xfrm>
            <a:off x="2514600" y="1524000"/>
            <a:ext cx="432816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Agent 365 Icon" descr="Microsoft Agent 365 logo">
            <a:extLst>
              <a:ext uri="{FF2B5EF4-FFF2-40B4-BE49-F238E27FC236}">
                <a16:creationId xmlns:a16="http://schemas.microsoft.com/office/drawing/2014/main" id="{0E01942D-C819-6E73-4C24-976FDCFB9D6F}"/>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3810000" y="1638300"/>
            <a:ext cx="228600" cy="228600"/>
          </a:xfrm>
          <a:prstGeom prst="rect">
            <a:avLst/>
          </a:prstGeom>
        </p:spPr>
      </p:pic>
      <p:sp>
        <p:nvSpPr>
          <p:cNvPr id="56" name="Agent 365 Title">
            <a:extLst>
              <a:ext uri="{FF2B5EF4-FFF2-40B4-BE49-F238E27FC236}">
                <a16:creationId xmlns:a16="http://schemas.microsoft.com/office/drawing/2014/main" id="{D56BD24A-C115-90CB-34D8-507DA2801959}"/>
              </a:ext>
            </a:extLst>
          </p:cNvPr>
          <p:cNvSpPr txBox="1"/>
          <p:nvPr/>
        </p:nvSpPr>
        <p:spPr>
          <a:xfrm>
            <a:off x="4114800" y="1600200"/>
            <a:ext cx="1625600" cy="146050"/>
          </a:xfrm>
          <a:prstGeom prst="rect">
            <a:avLst/>
          </a:prstGeom>
          <a:noFill/>
        </p:spPr>
        <p:txBody>
          <a:bodyPr vert="horz" lIns="0" tIns="0" rIns="0" bIns="0" rtlCol="0">
            <a:spAutoFit/>
          </a:bodyPr>
          <a:lstStyle/>
          <a:p>
            <a:r>
              <a:rPr lang="en-US" sz="950" b="1">
                <a:solidFill>
                  <a:srgbClr val="102A43"/>
                </a:solidFill>
                <a:latin typeface="Aptos" panose="020B0004020202020204" pitchFamily="34" charset="0"/>
              </a:rPr>
              <a:t>Microsoft Agent 365</a:t>
            </a:r>
          </a:p>
        </p:txBody>
      </p:sp>
      <p:sp>
        <p:nvSpPr>
          <p:cNvPr id="57" name="Agent 365 Subtitle">
            <a:extLst>
              <a:ext uri="{FF2B5EF4-FFF2-40B4-BE49-F238E27FC236}">
                <a16:creationId xmlns:a16="http://schemas.microsoft.com/office/drawing/2014/main" id="{A60B4BAF-6633-7728-5907-FDA6E77638D7}"/>
              </a:ext>
            </a:extLst>
          </p:cNvPr>
          <p:cNvSpPr txBox="1"/>
          <p:nvPr/>
        </p:nvSpPr>
        <p:spPr>
          <a:xfrm>
            <a:off x="4114800" y="1771650"/>
            <a:ext cx="1625600" cy="115570"/>
          </a:xfrm>
          <a:prstGeom prst="rect">
            <a:avLst/>
          </a:prstGeom>
          <a:noFill/>
        </p:spPr>
        <p:txBody>
          <a:bodyPr vert="horz" lIns="0" tIns="0" rIns="0" bIns="0" rtlCol="0">
            <a:spAutoFit/>
          </a:bodyPr>
          <a:lstStyle/>
          <a:p>
            <a:r>
              <a:rPr lang="en-US" sz="750">
                <a:solidFill>
                  <a:srgbClr val="526980"/>
                </a:solidFill>
                <a:latin typeface="Aptos" panose="020B0004020202020204" pitchFamily="34" charset="0"/>
              </a:rPr>
              <a:t>Governance plane</a:t>
            </a:r>
          </a:p>
        </p:txBody>
      </p:sp>
      <p:sp>
        <p:nvSpPr>
          <p:cNvPr id="43" name="APIM Control Plane Badge">
            <a:extLst>
              <a:ext uri="{FF2B5EF4-FFF2-40B4-BE49-F238E27FC236}">
                <a16:creationId xmlns:a16="http://schemas.microsoft.com/office/drawing/2014/main" id="{98D26CB3-9376-F472-7DD8-F24ED57C4915}"/>
              </a:ext>
            </a:extLst>
          </p:cNvPr>
          <p:cNvSpPr/>
          <p:nvPr/>
        </p:nvSpPr>
        <p:spPr>
          <a:xfrm>
            <a:off x="4874260" y="2184400"/>
            <a:ext cx="426974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APIM Control Plane Icon">
            <a:extLst>
              <a:ext uri="{FF2B5EF4-FFF2-40B4-BE49-F238E27FC236}">
                <a16:creationId xmlns:a16="http://schemas.microsoft.com/office/drawing/2014/main" id="{C0B8048B-43C1-A91F-B283-A31417C0F3D0}"/>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6261100" y="2298700"/>
            <a:ext cx="228600" cy="228600"/>
          </a:xfrm>
          <a:prstGeom prst="rect">
            <a:avLst/>
          </a:prstGeom>
        </p:spPr>
      </p:pic>
      <p:sp>
        <p:nvSpPr>
          <p:cNvPr id="54" name="APIM Control Plane Title">
            <a:extLst>
              <a:ext uri="{FF2B5EF4-FFF2-40B4-BE49-F238E27FC236}">
                <a16:creationId xmlns:a16="http://schemas.microsoft.com/office/drawing/2014/main" id="{801203E0-1ECC-B010-5318-48DBDD9F61E4}"/>
              </a:ext>
            </a:extLst>
          </p:cNvPr>
          <p:cNvSpPr txBox="1"/>
          <p:nvPr/>
        </p:nvSpPr>
        <p:spPr>
          <a:xfrm>
            <a:off x="6565900" y="2260600"/>
            <a:ext cx="1270000" cy="146050"/>
          </a:xfrm>
          <a:prstGeom prst="rect">
            <a:avLst/>
          </a:prstGeom>
          <a:noFill/>
        </p:spPr>
        <p:txBody>
          <a:bodyPr vert="horz" lIns="0" tIns="0" rIns="0" bIns="0" rtlCol="0">
            <a:spAutoFit/>
          </a:bodyPr>
          <a:lstStyle/>
          <a:p>
            <a:pPr algn="ctr"/>
            <a:r>
              <a:rPr lang="en-US" sz="950" b="1">
                <a:solidFill>
                  <a:srgbClr val="102A43"/>
                </a:solidFill>
                <a:latin typeface="Aptos" panose="020B0004020202020204" pitchFamily="34" charset="0"/>
              </a:rPr>
              <a:t>APIM Control Plane</a:t>
            </a:r>
          </a:p>
        </p:txBody>
      </p:sp>
      <p:sp>
        <p:nvSpPr>
          <p:cNvPr id="60" name="APIM Control Plane Subtitle">
            <a:extLst>
              <a:ext uri="{FF2B5EF4-FFF2-40B4-BE49-F238E27FC236}">
                <a16:creationId xmlns:a16="http://schemas.microsoft.com/office/drawing/2014/main" id="{71299352-C14F-9B05-9938-70E48A87CCB8}"/>
              </a:ext>
            </a:extLst>
          </p:cNvPr>
          <p:cNvSpPr txBox="1"/>
          <p:nvPr/>
        </p:nvSpPr>
        <p:spPr>
          <a:xfrm>
            <a:off x="6565900" y="2432050"/>
            <a:ext cx="1270000" cy="115570"/>
          </a:xfrm>
          <a:prstGeom prst="rect">
            <a:avLst/>
          </a:prstGeom>
          <a:noFill/>
        </p:spPr>
        <p:txBody>
          <a:bodyPr vert="horz" lIns="0" tIns="0" rIns="0" bIns="0" rtlCol="0">
            <a:spAutoFit/>
          </a:bodyPr>
          <a:lstStyle/>
          <a:p>
            <a:pPr algn="ctr"/>
            <a:r>
              <a:rPr lang="en-US" sz="750">
                <a:solidFill>
                  <a:srgbClr val="526980"/>
                </a:solidFill>
                <a:latin typeface="Aptos" panose="020B0004020202020204" pitchFamily="34" charset="0"/>
              </a:rPr>
              <a:t>Policies and controls</a:t>
            </a:r>
          </a:p>
        </p:txBody>
      </p:sp>
      <p:sp>
        <p:nvSpPr>
          <p:cNvPr id="39" name="Application Insights Layer"/>
          <p:cNvSpPr/>
          <p:nvPr/>
        </p:nvSpPr>
        <p:spPr>
          <a:xfrm>
            <a:off x="2514600" y="5003800"/>
            <a:ext cx="6629400" cy="457200"/>
          </a:xfrm>
          <a:prstGeom prst="roundRect">
            <a:avLst/>
          </a:prstGeom>
          <a:solidFill>
            <a:srgbClr val="FFFFFF"/>
          </a:solidFill>
          <a:ln w="12700">
            <a:solidFill>
              <a:srgbClr val="DDE6EC"/>
            </a:solidFill>
            <a:prstDash val="solid"/>
          </a:ln>
        </p:spPr>
        <p:txBody>
          <a:bodyPr/>
          <a:lstStyle/>
          <a:p>
            <a:endParaRPr lang="en-US"/>
          </a:p>
        </p:txBody>
      </p:sp>
      <p:pic>
        <p:nvPicPr>
          <p:cNvPr id="36" name="Application Insights Icon">
            <a:extLst>
              <a:ext uri="{FF2B5EF4-FFF2-40B4-BE49-F238E27FC236}">
                <a16:creationId xmlns:a16="http://schemas.microsoft.com/office/drawing/2014/main" id="{04534135-1108-534F-0976-55C24FE7C67C}"/>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4914900" y="5118100"/>
            <a:ext cx="228600" cy="228600"/>
          </a:xfrm>
          <a:prstGeom prst="rect">
            <a:avLst/>
          </a:prstGeom>
        </p:spPr>
      </p:pic>
      <p:sp>
        <p:nvSpPr>
          <p:cNvPr id="41" name="Application Insights Title"/>
          <p:cNvSpPr/>
          <p:nvPr/>
        </p:nvSpPr>
        <p:spPr>
          <a:xfrm>
            <a:off x="5219700" y="5080000"/>
            <a:ext cx="1524000" cy="146050"/>
          </a:xfrm>
          <a:prstGeom prst="rect">
            <a:avLst/>
          </a:prstGeom>
          <a:noFill/>
          <a:ln/>
        </p:spPr>
        <p:txBody>
          <a:bodyPr wrap="square" lIns="0" tIns="0" rIns="0" bIns="0" rtlCol="0" anchor="ctr">
            <a:normAutofit fontScale="85000" lnSpcReduction="20000"/>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Application Insights</a:t>
            </a:r>
            <a:endParaRPr lang="en-US" sz="1300" dirty="0"/>
          </a:p>
        </p:txBody>
      </p:sp>
      <p:sp>
        <p:nvSpPr>
          <p:cNvPr id="42" name="Application Insights Body"/>
          <p:cNvSpPr/>
          <p:nvPr/>
        </p:nvSpPr>
        <p:spPr>
          <a:xfrm>
            <a:off x="5219700" y="5251450"/>
            <a:ext cx="1524000" cy="115570"/>
          </a:xfrm>
          <a:prstGeom prst="rect">
            <a:avLst/>
          </a:prstGeom>
          <a:noFill/>
          <a:ln/>
        </p:spPr>
        <p:txBody>
          <a:bodyPr wrap="square" lIns="0" tIns="0" rIns="0" bIns="0" rtlCol="0" anchor="ctr">
            <a:normAutofit fontScale="92500" lnSpcReduction="10000"/>
          </a:bodyPr>
          <a:lstStyle/>
          <a:p>
            <a:pPr marL="0" indent="0" algn="ctr">
              <a:buNone/>
            </a:pPr>
            <a:r>
              <a:rPr lang="en-US" sz="870"/>
              <a:t>Agent and APIM telemetry</a:t>
            </a:r>
            <a:endParaRPr lang="en-US" sz="87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a:solidFill>
                  <a:srgbClr val="775DA6"/>
                </a:solidFill>
                <a:latin typeface="Aptos" pitchFamily="34" charset="0"/>
                <a:ea typeface="Aptos" pitchFamily="34" charset="-122"/>
                <a:cs typeface="Aptos" pitchFamily="34" charset="-120"/>
              </a:rPr>
              <a:t>Foundry 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5" name="Shape 3"/>
          <p:cNvSpPr/>
          <p:nvPr/>
        </p:nvSpPr>
        <p:spPr>
          <a:xfrm>
            <a:off x="658368" y="1755648"/>
            <a:ext cx="10972800" cy="4041648"/>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txBody>
          <a:bodyPr/>
          <a:lstStyle/>
          <a:p>
            <a:endParaRPr lang="en-US"/>
          </a:p>
        </p:txBody>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3294</Words>
  <Application>Microsoft Office PowerPoint</Application>
  <PresentationFormat>Widescreen</PresentationFormat>
  <Paragraphs>462</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2026-09-25T23:58:24Z</dcterms:modified>
</cp:coreProperties>
</file>