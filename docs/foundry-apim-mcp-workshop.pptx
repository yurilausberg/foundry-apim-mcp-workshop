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1" d="100"/>
          <a:sy n="101" d="100"/>
        </p:scale>
        <p:origin x="84"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Run the ASP.NET Core web project first. Confirm that the Responses API is listening at http://localhost:8088/responses before opening either client. For the PowerShell smoke test, prepare $body from the lab request payload and run the displayed Invoke-RestMethod command. Open Agent Inspector from Foundry Toolkit for the teaching view because it exposes model input, tool discovery, tool calls, approvals, and the final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txBody>
          <a:bodyPr/>
          <a:lstStyle/>
          <a:p>
            <a:endParaRPr lang="en-US"/>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svg"/><Relationship Id="rId7" Type="http://schemas.openxmlformats.org/officeDocument/2006/relationships/hyperlink" Target="https://aka.ms/MCPWorksho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4.svg"/><Relationship Id="rId11" Type="http://schemas.openxmlformats.org/officeDocument/2006/relationships/image" Target="../media/image19.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3.svg"/><Relationship Id="rId5" Type="http://schemas.openxmlformats.org/officeDocument/2006/relationships/image" Target="../media/image22.svg"/><Relationship Id="rId4" Type="http://schemas.openxmlformats.org/officeDocument/2006/relationships/image" Target="../media/image21.svg"/></Relationships>
</file>

<file path=ppt/slides/_rels/slide6.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8.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7.svg"/></Relationships>
</file>

<file path=ppt/slides/_rels/slide9.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svg"/></Relationships>
</file>

<file path=ppt/slides/_rels/slide10.xml.rels><?xml version="1.0" encoding="UTF-8" standalone="yes"?>
<Relationships xmlns="http://schemas.openxmlformats.org/package/2006/relationships"><Relationship Id="rId8" Type="http://schemas.openxmlformats.org/officeDocument/2006/relationships/image" Target="../media/image40.svg"/><Relationship Id="rId3" Type="http://schemas.openxmlformats.org/officeDocument/2006/relationships/image" Target="../media/image35.svg"/><Relationship Id="rId7" Type="http://schemas.openxmlformats.org/officeDocument/2006/relationships/image" Target="../media/image39.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 Id="rId9" Type="http://schemas.openxmlformats.org/officeDocument/2006/relationships/image" Target="../media/image41.svg"/></Relationships>
</file>

<file path=ppt/slides/_rels/slide11.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43.svg"/><Relationship Id="rId4" Type="http://schemas.openxmlformats.org/officeDocument/2006/relationships/image" Target="../media/image42.svg"/></Relationships>
</file>

<file path=ppt/slides/_rels/slide12.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svg"/></Relationships>
</file>

<file path=ppt/slides/_rels/slide13.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47.svg"/><Relationship Id="rId7" Type="http://schemas.openxmlformats.org/officeDocument/2006/relationships/image" Target="../media/image50.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27.svg"/><Relationship Id="rId4" Type="http://schemas.openxmlformats.org/officeDocument/2006/relationships/image" Target="../media/image48.svg"/><Relationship Id="rId9" Type="http://schemas.openxmlformats.org/officeDocument/2006/relationships/image" Target="../media/image51.svg"/></Relationships>
</file>

<file path=ppt/slides/_rels/slide14.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52.svg"/></Relationships>
</file>

<file path=ppt/slides/_rels/slide15.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4.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57.svg"/><Relationship Id="rId4" Type="http://schemas.openxmlformats.org/officeDocument/2006/relationships/image" Target="../media/image56.svg"/></Relationships>
</file>

<file path=ppt/slides/_rels/slide17.xml.rels><?xml version="1.0" encoding="UTF-8" standalone="yes"?>
<Relationships xmlns="http://schemas.openxmlformats.org/package/2006/relationships"><Relationship Id="rId8" Type="http://schemas.openxmlformats.org/officeDocument/2006/relationships/image" Target="../media/image60.svg"/><Relationship Id="rId3" Type="http://schemas.openxmlformats.org/officeDocument/2006/relationships/image" Target="../media/image58.svg"/><Relationship Id="rId7" Type="http://schemas.openxmlformats.org/officeDocument/2006/relationships/image" Target="../media/image23.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7.svg"/><Relationship Id="rId11" Type="http://schemas.openxmlformats.org/officeDocument/2006/relationships/image" Target="../media/image62.svg"/><Relationship Id="rId5" Type="http://schemas.openxmlformats.org/officeDocument/2006/relationships/image" Target="../media/image59.svg"/><Relationship Id="rId10" Type="http://schemas.openxmlformats.org/officeDocument/2006/relationships/image" Target="../media/image61.svg"/><Relationship Id="rId4" Type="http://schemas.openxmlformats.org/officeDocument/2006/relationships/image" Target="../media/image8.svg"/><Relationship Id="rId9" Type="http://schemas.openxmlformats.org/officeDocument/2006/relationships/image" Target="../media/image31.svg"/></Relationships>
</file>

<file path=ppt/slides/_rels/slide18.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63.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5.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53.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6.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9.svg"/><Relationship Id="rId5" Type="http://schemas.openxmlformats.org/officeDocument/2006/relationships/image" Target="../media/image68.svg"/><Relationship Id="rId4" Type="http://schemas.openxmlformats.org/officeDocument/2006/relationships/image" Target="../media/image67.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txBody>
          <a:bodyPr/>
          <a:lstStyle/>
          <a:p>
            <a:endParaRPr lang="en-US"/>
          </a:p>
        </p:txBody>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txBody>
          <a:bodyPr/>
          <a:lstStyle/>
          <a:p>
            <a:endParaRPr lang="en-US"/>
          </a:p>
        </p:txBody>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txBody>
          <a:bodyPr/>
          <a:lstStyle/>
          <a:p>
            <a:endParaRPr lang="en-US"/>
          </a:p>
        </p:txBody>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txBody>
          <a:bodyPr/>
          <a:lstStyle/>
          <a:p>
            <a:endParaRPr lang="en-US"/>
          </a:p>
        </p:txBody>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299200"/>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pic>
        <p:nvPicPr>
          <p:cNvPr id="19" name="Workshop Repo QR" descr="QR code linking to https://aka.ms/MCPWorkshop">
            <a:hlinkClick r:id="rId7"/>
            <a:extLst>
              <a:ext uri="{FF2B5EF4-FFF2-40B4-BE49-F238E27FC236}">
                <a16:creationId xmlns:a16="http://schemas.microsoft.com/office/drawing/2014/main" id="{A73C613E-4750-90AF-FDF0-3A81E526DA7B}"/>
              </a:ext>
            </a:extLst>
          </p:cNvPr>
          <p:cNvPicPr>
            <a:picLocks/>
          </p:cNvPicPr>
          <p:nvPr/>
        </p:nvPicPr>
        <p:blipFill>
          <a:blip r:embed="rId8"/>
          <a:stretch>
            <a:fillRect/>
          </a:stretch>
        </p:blipFill>
        <p:spPr>
          <a:xfrm>
            <a:off x="660400" y="5181600"/>
            <a:ext cx="914400" cy="914400"/>
          </a:xfrm>
          <a:prstGeom prst="rect">
            <a:avLst/>
          </a:prstGeom>
        </p:spPr>
      </p:pic>
      <p:sp>
        <p:nvSpPr>
          <p:cNvPr id="20" name="Workshop Repo Label">
            <a:extLst>
              <a:ext uri="{FF2B5EF4-FFF2-40B4-BE49-F238E27FC236}">
                <a16:creationId xmlns:a16="http://schemas.microsoft.com/office/drawing/2014/main" id="{3ED29ABE-FEF1-FE94-4EFE-FCC2CD734316}"/>
              </a:ext>
            </a:extLst>
          </p:cNvPr>
          <p:cNvSpPr txBox="1"/>
          <p:nvPr/>
        </p:nvSpPr>
        <p:spPr>
          <a:xfrm>
            <a:off x="1739900" y="5334000"/>
            <a:ext cx="2286000" cy="138499"/>
          </a:xfrm>
          <a:prstGeom prst="rect">
            <a:avLst/>
          </a:prstGeom>
          <a:noFill/>
        </p:spPr>
        <p:txBody>
          <a:bodyPr vert="horz" lIns="0" tIns="0" rIns="0" bIns="0" rtlCol="0">
            <a:spAutoFit/>
          </a:bodyPr>
          <a:lstStyle/>
          <a:p>
            <a:r>
              <a:rPr lang="en-US" sz="900" b="1">
                <a:solidFill>
                  <a:srgbClr val="60D4CB"/>
                </a:solidFill>
                <a:latin typeface="Aptos" panose="020B0004020202020204" pitchFamily="34" charset="0"/>
              </a:rPr>
              <a:t>WORKSHOP REPO</a:t>
            </a:r>
          </a:p>
        </p:txBody>
      </p:sp>
      <p:sp>
        <p:nvSpPr>
          <p:cNvPr id="21" name="Workshop Repo URL">
            <a:hlinkClick r:id="rId7"/>
            <a:extLst>
              <a:ext uri="{FF2B5EF4-FFF2-40B4-BE49-F238E27FC236}">
                <a16:creationId xmlns:a16="http://schemas.microsoft.com/office/drawing/2014/main" id="{B5CECEF4-17F6-8571-E785-BB9F4D6F939F}"/>
              </a:ext>
            </a:extLst>
          </p:cNvPr>
          <p:cNvSpPr txBox="1"/>
          <p:nvPr/>
        </p:nvSpPr>
        <p:spPr>
          <a:xfrm>
            <a:off x="1739900" y="5600700"/>
            <a:ext cx="2413000" cy="215444"/>
          </a:xfrm>
          <a:prstGeom prst="rect">
            <a:avLst/>
          </a:prstGeom>
          <a:noFill/>
        </p:spPr>
        <p:txBody>
          <a:bodyPr vert="horz" lIns="0" tIns="0" rIns="0" bIns="0" rtlCol="0">
            <a:spAutoFit/>
          </a:bodyPr>
          <a:lstStyle/>
          <a:p>
            <a:r>
              <a:rPr lang="en-US" sz="1400" b="1">
                <a:solidFill>
                  <a:srgbClr val="FFFFFF"/>
                </a:solidFill>
                <a:latin typeface="Aptos" panose="020B0004020202020204" pitchFamily="34" charset="0"/>
              </a:rPr>
              <a:t>aka.ms/MCPWorkshop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txBody>
          <a:bodyPr/>
          <a:lstStyle/>
          <a:p>
            <a:endParaRPr lang="en-US"/>
          </a:p>
        </p:txBody>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txBody>
          <a:bodyPr/>
          <a:lstStyle/>
          <a:p>
            <a:endParaRPr lang="en-US"/>
          </a:p>
        </p:txBody>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txBody>
          <a:bodyPr/>
          <a:lstStyle/>
          <a:p>
            <a:endParaRPr lang="en-US"/>
          </a:p>
        </p:txBody>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txBody>
          <a:bodyPr/>
          <a:lstStyle/>
          <a:p>
            <a:endParaRPr lang="en-US"/>
          </a:p>
        </p:txBody>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fontScale="92500" lnSpcReduction="10000"/>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5" name="REST Telemetry Arrow">
            <a:extLst>
              <a:ext uri="{FF2B5EF4-FFF2-40B4-BE49-F238E27FC236}">
                <a16:creationId xmlns:a16="http://schemas.microsoft.com/office/drawing/2014/main" id="{7E4B0AB1-5054-6D6B-7006-3BEE6C8341C0}"/>
              </a:ext>
            </a:extLst>
          </p:cNvPr>
          <p:cNvSpPr/>
          <p:nvPr/>
        </p:nvSpPr>
        <p:spPr>
          <a:xfrm>
            <a:off x="8206740" y="4445000"/>
            <a:ext cx="0" cy="558800"/>
          </a:xfrm>
          <a:prstGeom prst="line">
            <a:avLst/>
          </a:prstGeom>
          <a:noFill/>
          <a:ln w="22225">
            <a:solidFill>
              <a:srgbClr val="5BD6C5"/>
            </a:solidFill>
            <a:prstDash val="solid"/>
            <a:headEnd type="none"/>
            <a:tailEnd type="arrow"/>
          </a:ln>
        </p:spPr>
        <p:txBody>
          <a:bodyPr/>
          <a:lstStyle/>
          <a:p>
            <a:endParaRPr lang="en-US"/>
          </a:p>
        </p:txBody>
      </p:sp>
      <p:sp>
        <p:nvSpPr>
          <p:cNvPr id="38" name="APIM Telemetry Arrow"/>
          <p:cNvSpPr/>
          <p:nvPr/>
        </p:nvSpPr>
        <p:spPr>
          <a:xfrm>
            <a:off x="5857240" y="4445000"/>
            <a:ext cx="0" cy="558800"/>
          </a:xfrm>
          <a:prstGeom prst="line">
            <a:avLst/>
          </a:prstGeom>
          <a:noFill/>
          <a:ln w="22225">
            <a:solidFill>
              <a:srgbClr val="5BD6C5"/>
            </a:solidFill>
            <a:prstDash val="solid"/>
            <a:headEnd type="none"/>
            <a:tailEnd type="arrow"/>
          </a:ln>
        </p:spPr>
        <p:txBody>
          <a:bodyPr/>
          <a:lstStyle/>
          <a:p>
            <a:endParaRPr lang="en-US"/>
          </a:p>
        </p:txBody>
      </p:sp>
      <p:cxnSp>
        <p:nvCxnSpPr>
          <p:cNvPr id="46" name="Agent Telemetry Arrow">
            <a:extLst>
              <a:ext uri="{FF2B5EF4-FFF2-40B4-BE49-F238E27FC236}">
                <a16:creationId xmlns:a16="http://schemas.microsoft.com/office/drawing/2014/main" id="{FA9AC0A2-7565-7D1E-0A0D-62DBEE29D9D4}"/>
              </a:ext>
            </a:extLst>
          </p:cNvPr>
          <p:cNvCxnSpPr/>
          <p:nvPr/>
        </p:nvCxnSpPr>
        <p:spPr>
          <a:xfrm>
            <a:off x="3483610" y="4445000"/>
            <a:ext cx="0" cy="558800"/>
          </a:xfrm>
          <a:prstGeom prst="line">
            <a:avLst/>
          </a:prstGeom>
          <a:ln w="22225">
            <a:solidFill>
              <a:srgbClr val="775DA6"/>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24" name="APIM REST Connector">
            <a:extLst>
              <a:ext uri="{FF2B5EF4-FFF2-40B4-BE49-F238E27FC236}">
                <a16:creationId xmlns:a16="http://schemas.microsoft.com/office/drawing/2014/main" id="{545BE33A-AB25-9E5F-0E83-963B511BE5DF}"/>
              </a:ext>
            </a:extLst>
          </p:cNvPr>
          <p:cNvCxnSpPr/>
          <p:nvPr/>
        </p:nvCxnSpPr>
        <p:spPr>
          <a:xfrm>
            <a:off x="82067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61" name="APIM Control Plane Connector">
            <a:extLst>
              <a:ext uri="{FF2B5EF4-FFF2-40B4-BE49-F238E27FC236}">
                <a16:creationId xmlns:a16="http://schemas.microsoft.com/office/drawing/2014/main" id="{BE07AF09-DCC1-5A6D-64B0-E7024656B9E7}"/>
              </a:ext>
            </a:extLst>
          </p:cNvPr>
          <p:cNvCxnSpPr/>
          <p:nvPr/>
        </p:nvCxnSpPr>
        <p:spPr>
          <a:xfrm>
            <a:off x="58572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58" name="Agent 365 Connector">
            <a:extLst>
              <a:ext uri="{FF2B5EF4-FFF2-40B4-BE49-F238E27FC236}">
                <a16:creationId xmlns:a16="http://schemas.microsoft.com/office/drawing/2014/main" id="{D736F929-2089-7C86-D8F3-2E549E293323}"/>
              </a:ext>
            </a:extLst>
          </p:cNvPr>
          <p:cNvCxnSpPr/>
          <p:nvPr/>
        </p:nvCxnSpPr>
        <p:spPr>
          <a:xfrm>
            <a:off x="3483610" y="1981200"/>
            <a:ext cx="0" cy="8636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18" name="Agent 365 APIM Connector">
            <a:extLst>
              <a:ext uri="{FF2B5EF4-FFF2-40B4-BE49-F238E27FC236}">
                <a16:creationId xmlns:a16="http://schemas.microsoft.com/office/drawing/2014/main" id="{C98DA599-5661-3FAD-E212-F71F7E71723C}"/>
              </a:ext>
            </a:extLst>
          </p:cNvPr>
          <p:cNvCxnSpPr/>
          <p:nvPr/>
        </p:nvCxnSpPr>
        <p:spPr>
          <a:xfrm>
            <a:off x="5857240" y="19812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84480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1088136" y="307340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3201670"/>
            <a:ext cx="274320" cy="274320"/>
          </a:xfrm>
          <a:prstGeom prst="rect">
            <a:avLst/>
          </a:prstGeom>
        </p:spPr>
      </p:pic>
      <p:sp>
        <p:nvSpPr>
          <p:cNvPr id="8" name="Text 5"/>
          <p:cNvSpPr/>
          <p:nvPr/>
        </p:nvSpPr>
        <p:spPr>
          <a:xfrm>
            <a:off x="676656" y="3741420"/>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4070350"/>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38680" y="3649980"/>
            <a:ext cx="375920" cy="0"/>
          </a:xfrm>
          <a:prstGeom prst="line">
            <a:avLst/>
          </a:prstGeom>
          <a:noFill/>
          <a:ln w="22225">
            <a:solidFill>
              <a:srgbClr val="748494"/>
            </a:solidFill>
            <a:prstDash val="solid"/>
            <a:tailEnd type="triangle"/>
          </a:ln>
        </p:spPr>
        <p:txBody>
          <a:bodyPr/>
          <a:lstStyle/>
          <a:p>
            <a:endParaRPr lang="en-US"/>
          </a:p>
        </p:txBody>
      </p:sp>
      <p:sp>
        <p:nvSpPr>
          <p:cNvPr id="11" name="Shape 8"/>
          <p:cNvSpPr/>
          <p:nvPr/>
        </p:nvSpPr>
        <p:spPr>
          <a:xfrm>
            <a:off x="2514600" y="284480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4" name="Text 10"/>
          <p:cNvSpPr/>
          <p:nvPr/>
        </p:nvSpPr>
        <p:spPr>
          <a:xfrm>
            <a:off x="2624328" y="3741420"/>
            <a:ext cx="1719072"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Agent Harness</a:t>
            </a:r>
            <a:endParaRPr lang="en-US" sz="1300" dirty="0"/>
          </a:p>
        </p:txBody>
      </p:sp>
      <p:sp>
        <p:nvSpPr>
          <p:cNvPr id="15" name="Text 11"/>
          <p:cNvSpPr/>
          <p:nvPr/>
        </p:nvSpPr>
        <p:spPr>
          <a:xfrm>
            <a:off x="2624328" y="4070350"/>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52620" y="3649980"/>
            <a:ext cx="421640" cy="0"/>
          </a:xfrm>
          <a:prstGeom prst="line">
            <a:avLst/>
          </a:prstGeom>
          <a:noFill/>
          <a:ln w="22225">
            <a:solidFill>
              <a:srgbClr val="748494"/>
            </a:solidFill>
            <a:prstDash val="solid"/>
            <a:tailEnd type="triangle"/>
          </a:ln>
        </p:spPr>
        <p:txBody>
          <a:bodyPr/>
          <a:lstStyle/>
          <a:p>
            <a:endParaRPr lang="en-US"/>
          </a:p>
        </p:txBody>
      </p:sp>
      <p:sp>
        <p:nvSpPr>
          <p:cNvPr id="17" name="Shape 13"/>
          <p:cNvSpPr/>
          <p:nvPr/>
        </p:nvSpPr>
        <p:spPr>
          <a:xfrm>
            <a:off x="4873752" y="284480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sp>
        <p:nvSpPr>
          <p:cNvPr id="20" name="Text 15"/>
          <p:cNvSpPr/>
          <p:nvPr/>
        </p:nvSpPr>
        <p:spPr>
          <a:xfrm>
            <a:off x="4983480" y="3741420"/>
            <a:ext cx="1746504"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MCP Server</a:t>
            </a:r>
            <a:endParaRPr lang="en-US" sz="1300" dirty="0"/>
          </a:p>
        </p:txBody>
      </p:sp>
      <p:sp>
        <p:nvSpPr>
          <p:cNvPr id="21" name="Text 16"/>
          <p:cNvSpPr/>
          <p:nvPr/>
        </p:nvSpPr>
        <p:spPr>
          <a:xfrm>
            <a:off x="4983480" y="4070350"/>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40220" y="3649980"/>
            <a:ext cx="429260" cy="0"/>
          </a:xfrm>
          <a:prstGeom prst="line">
            <a:avLst/>
          </a:prstGeom>
          <a:noFill/>
          <a:ln w="22225">
            <a:solidFill>
              <a:srgbClr val="748494"/>
            </a:solidFill>
            <a:prstDash val="solid"/>
            <a:tailEnd type="triangle"/>
          </a:ln>
        </p:spPr>
        <p:txBody>
          <a:bodyPr/>
          <a:lstStyle/>
          <a:p>
            <a:endParaRPr lang="en-US"/>
          </a:p>
        </p:txBody>
      </p:sp>
      <p:sp>
        <p:nvSpPr>
          <p:cNvPr id="23" name="Shape 18"/>
          <p:cNvSpPr/>
          <p:nvPr/>
        </p:nvSpPr>
        <p:spPr>
          <a:xfrm>
            <a:off x="7269480" y="284480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26" name="Text 20"/>
          <p:cNvSpPr/>
          <p:nvPr/>
        </p:nvSpPr>
        <p:spPr>
          <a:xfrm>
            <a:off x="7379208" y="3741420"/>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4070350"/>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44000" y="3649980"/>
            <a:ext cx="429260" cy="0"/>
          </a:xfrm>
          <a:prstGeom prst="line">
            <a:avLst/>
          </a:prstGeom>
          <a:noFill/>
          <a:ln w="22225">
            <a:solidFill>
              <a:srgbClr val="748494"/>
            </a:solidFill>
            <a:prstDash val="solid"/>
            <a:tailEnd type="triangle"/>
          </a:ln>
        </p:spPr>
        <p:txBody>
          <a:bodyPr/>
          <a:lstStyle/>
          <a:p>
            <a:endParaRPr lang="en-US"/>
          </a:p>
        </p:txBody>
      </p:sp>
      <p:sp>
        <p:nvSpPr>
          <p:cNvPr id="29" name="Shape 23"/>
          <p:cNvSpPr/>
          <p:nvPr/>
        </p:nvSpPr>
        <p:spPr>
          <a:xfrm>
            <a:off x="9573768" y="284480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4"/>
          <p:cNvSpPr/>
          <p:nvPr/>
        </p:nvSpPr>
        <p:spPr>
          <a:xfrm>
            <a:off x="10323576" y="3073400"/>
            <a:ext cx="530352" cy="530352"/>
          </a:xfrm>
          <a:prstGeom prst="ellipse">
            <a:avLst/>
          </a:prstGeom>
          <a:solidFill>
            <a:srgbClr val="F4B942"/>
          </a:solidFill>
          <a:ln w="12700">
            <a:solidFill>
              <a:srgbClr val="F4B942"/>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51592" y="3201670"/>
            <a:ext cx="274320" cy="274320"/>
          </a:xfrm>
          <a:prstGeom prst="rect">
            <a:avLst/>
          </a:prstGeom>
        </p:spPr>
      </p:pic>
      <p:sp>
        <p:nvSpPr>
          <p:cNvPr id="32" name="Text 25"/>
          <p:cNvSpPr/>
          <p:nvPr/>
        </p:nvSpPr>
        <p:spPr>
          <a:xfrm>
            <a:off x="9683496" y="3741420"/>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4070350"/>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pic>
        <p:nvPicPr>
          <p:cNvPr id="49" name="Microsoft Copilot Studio Icon">
            <a:extLst>
              <a:ext uri="{FF2B5EF4-FFF2-40B4-BE49-F238E27FC236}">
                <a16:creationId xmlns:a16="http://schemas.microsoft.com/office/drawing/2014/main" id="{7D163EBB-95FE-D701-C53B-0FDA5E90DB9F}"/>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3528314" y="3173730"/>
            <a:ext cx="330200" cy="330200"/>
          </a:xfrm>
          <a:prstGeom prst="rect">
            <a:avLst/>
          </a:prstGeom>
        </p:spPr>
      </p:pic>
      <p:pic>
        <p:nvPicPr>
          <p:cNvPr id="13" name="Microsoft Foundry Agent Service Icon">
            <a:extLst>
              <a:ext uri="{FF2B5EF4-FFF2-40B4-BE49-F238E27FC236}">
                <a16:creationId xmlns:a16="http://schemas.microsoft.com/office/drawing/2014/main" id="{7CA32E2E-6B9A-7AED-FDF5-EF9F21CDEB73}"/>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109214" y="3173730"/>
            <a:ext cx="330200" cy="330200"/>
          </a:xfrm>
          <a:prstGeom prst="rect">
            <a:avLst/>
          </a:prstGeom>
        </p:spPr>
      </p:pic>
      <p:sp>
        <p:nvSpPr>
          <p:cNvPr id="44" name="Text 35"/>
          <p:cNvSpPr/>
          <p:nvPr/>
        </p:nvSpPr>
        <p:spPr>
          <a:xfrm>
            <a:off x="566928" y="6528816"/>
            <a:ext cx="711200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Architecture: intent stays with the agent harness, controls stay in APIM, and telemetry converges in Application Insights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pic>
        <p:nvPicPr>
          <p:cNvPr id="19" name="MCP Logo">
            <a:extLst>
              <a:ext uri="{FF2B5EF4-FFF2-40B4-BE49-F238E27FC236}">
                <a16:creationId xmlns:a16="http://schemas.microsoft.com/office/drawing/2014/main" id="{C3017197-2A60-8421-3387-1932A693B652}"/>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5654040" y="3135630"/>
            <a:ext cx="406400" cy="406400"/>
          </a:xfrm>
          <a:prstGeom prst="rect">
            <a:avLst/>
          </a:prstGeom>
        </p:spPr>
      </p:pic>
      <p:pic>
        <p:nvPicPr>
          <p:cNvPr id="34" name="OpenAPI Logo">
            <a:extLst>
              <a:ext uri="{FF2B5EF4-FFF2-40B4-BE49-F238E27FC236}">
                <a16:creationId xmlns:a16="http://schemas.microsoft.com/office/drawing/2014/main" id="{22A7C1B4-D38F-A410-EF85-2FEFA5CA8DB6}"/>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7762240" y="2997200"/>
            <a:ext cx="889000" cy="635000"/>
          </a:xfrm>
          <a:prstGeom prst="rect">
            <a:avLst/>
          </a:prstGeom>
        </p:spPr>
      </p:pic>
      <p:sp>
        <p:nvSpPr>
          <p:cNvPr id="53" name="Agent 365 Badge">
            <a:extLst>
              <a:ext uri="{FF2B5EF4-FFF2-40B4-BE49-F238E27FC236}">
                <a16:creationId xmlns:a16="http://schemas.microsoft.com/office/drawing/2014/main" id="{020CD871-57B2-8109-AB9B-98269BA65176}"/>
              </a:ext>
            </a:extLst>
          </p:cNvPr>
          <p:cNvSpPr/>
          <p:nvPr/>
        </p:nvSpPr>
        <p:spPr>
          <a:xfrm>
            <a:off x="2514600" y="1524000"/>
            <a:ext cx="432816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5" name="Agent 365 Icon" descr="Microsoft Agent 365 logo">
            <a:extLst>
              <a:ext uri="{FF2B5EF4-FFF2-40B4-BE49-F238E27FC236}">
                <a16:creationId xmlns:a16="http://schemas.microsoft.com/office/drawing/2014/main" id="{0E01942D-C819-6E73-4C24-976FDCFB9D6F}"/>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3810000" y="1638300"/>
            <a:ext cx="228600" cy="228600"/>
          </a:xfrm>
          <a:prstGeom prst="rect">
            <a:avLst/>
          </a:prstGeom>
        </p:spPr>
      </p:pic>
      <p:sp>
        <p:nvSpPr>
          <p:cNvPr id="56" name="Agent 365 Title">
            <a:extLst>
              <a:ext uri="{FF2B5EF4-FFF2-40B4-BE49-F238E27FC236}">
                <a16:creationId xmlns:a16="http://schemas.microsoft.com/office/drawing/2014/main" id="{D56BD24A-C115-90CB-34D8-507DA2801959}"/>
              </a:ext>
            </a:extLst>
          </p:cNvPr>
          <p:cNvSpPr txBox="1"/>
          <p:nvPr/>
        </p:nvSpPr>
        <p:spPr>
          <a:xfrm>
            <a:off x="4114800" y="1600200"/>
            <a:ext cx="1625600" cy="146050"/>
          </a:xfrm>
          <a:prstGeom prst="rect">
            <a:avLst/>
          </a:prstGeom>
          <a:noFill/>
        </p:spPr>
        <p:txBody>
          <a:bodyPr vert="horz" lIns="0" tIns="0" rIns="0" bIns="0" rtlCol="0">
            <a:spAutoFit/>
          </a:bodyPr>
          <a:lstStyle/>
          <a:p>
            <a:r>
              <a:rPr lang="en-US" sz="950" b="1">
                <a:solidFill>
                  <a:srgbClr val="102A43"/>
                </a:solidFill>
                <a:latin typeface="Aptos" panose="020B0004020202020204" pitchFamily="34" charset="0"/>
              </a:rPr>
              <a:t>Microsoft Agent 365</a:t>
            </a:r>
          </a:p>
        </p:txBody>
      </p:sp>
      <p:sp>
        <p:nvSpPr>
          <p:cNvPr id="57" name="Agent 365 Subtitle">
            <a:extLst>
              <a:ext uri="{FF2B5EF4-FFF2-40B4-BE49-F238E27FC236}">
                <a16:creationId xmlns:a16="http://schemas.microsoft.com/office/drawing/2014/main" id="{A60B4BAF-6633-7728-5907-FDA6E77638D7}"/>
              </a:ext>
            </a:extLst>
          </p:cNvPr>
          <p:cNvSpPr txBox="1"/>
          <p:nvPr/>
        </p:nvSpPr>
        <p:spPr>
          <a:xfrm>
            <a:off x="4114800" y="1771650"/>
            <a:ext cx="1625600" cy="115570"/>
          </a:xfrm>
          <a:prstGeom prst="rect">
            <a:avLst/>
          </a:prstGeom>
          <a:noFill/>
        </p:spPr>
        <p:txBody>
          <a:bodyPr vert="horz" lIns="0" tIns="0" rIns="0" bIns="0" rtlCol="0">
            <a:spAutoFit/>
          </a:bodyPr>
          <a:lstStyle/>
          <a:p>
            <a:r>
              <a:rPr lang="en-US" sz="750">
                <a:solidFill>
                  <a:srgbClr val="526980"/>
                </a:solidFill>
                <a:latin typeface="Aptos" panose="020B0004020202020204" pitchFamily="34" charset="0"/>
              </a:rPr>
              <a:t>Governance plane</a:t>
            </a:r>
          </a:p>
        </p:txBody>
      </p:sp>
      <p:sp>
        <p:nvSpPr>
          <p:cNvPr id="43" name="APIM Control Plane Badge">
            <a:extLst>
              <a:ext uri="{FF2B5EF4-FFF2-40B4-BE49-F238E27FC236}">
                <a16:creationId xmlns:a16="http://schemas.microsoft.com/office/drawing/2014/main" id="{98D26CB3-9376-F472-7DD8-F24ED57C4915}"/>
              </a:ext>
            </a:extLst>
          </p:cNvPr>
          <p:cNvSpPr/>
          <p:nvPr/>
        </p:nvSpPr>
        <p:spPr>
          <a:xfrm>
            <a:off x="4874260" y="2184400"/>
            <a:ext cx="426974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APIM Control Plane Icon">
            <a:extLst>
              <a:ext uri="{FF2B5EF4-FFF2-40B4-BE49-F238E27FC236}">
                <a16:creationId xmlns:a16="http://schemas.microsoft.com/office/drawing/2014/main" id="{C0B8048B-43C1-A91F-B283-A31417C0F3D0}"/>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6261100" y="2298700"/>
            <a:ext cx="228600" cy="228600"/>
          </a:xfrm>
          <a:prstGeom prst="rect">
            <a:avLst/>
          </a:prstGeom>
        </p:spPr>
      </p:pic>
      <p:sp>
        <p:nvSpPr>
          <p:cNvPr id="54" name="APIM Control Plane Title">
            <a:extLst>
              <a:ext uri="{FF2B5EF4-FFF2-40B4-BE49-F238E27FC236}">
                <a16:creationId xmlns:a16="http://schemas.microsoft.com/office/drawing/2014/main" id="{801203E0-1ECC-B010-5318-48DBDD9F61E4}"/>
              </a:ext>
            </a:extLst>
          </p:cNvPr>
          <p:cNvSpPr txBox="1"/>
          <p:nvPr/>
        </p:nvSpPr>
        <p:spPr>
          <a:xfrm>
            <a:off x="6565900" y="2260600"/>
            <a:ext cx="1270000" cy="146050"/>
          </a:xfrm>
          <a:prstGeom prst="rect">
            <a:avLst/>
          </a:prstGeom>
          <a:noFill/>
        </p:spPr>
        <p:txBody>
          <a:bodyPr vert="horz" lIns="0" tIns="0" rIns="0" bIns="0" rtlCol="0">
            <a:spAutoFit/>
          </a:bodyPr>
          <a:lstStyle/>
          <a:p>
            <a:pPr algn="ctr"/>
            <a:r>
              <a:rPr lang="en-US" sz="950" b="1">
                <a:solidFill>
                  <a:srgbClr val="102A43"/>
                </a:solidFill>
                <a:latin typeface="Aptos" panose="020B0004020202020204" pitchFamily="34" charset="0"/>
              </a:rPr>
              <a:t>APIM Control Plane</a:t>
            </a:r>
          </a:p>
        </p:txBody>
      </p:sp>
      <p:sp>
        <p:nvSpPr>
          <p:cNvPr id="60" name="APIM Control Plane Subtitle">
            <a:extLst>
              <a:ext uri="{FF2B5EF4-FFF2-40B4-BE49-F238E27FC236}">
                <a16:creationId xmlns:a16="http://schemas.microsoft.com/office/drawing/2014/main" id="{71299352-C14F-9B05-9938-70E48A87CCB8}"/>
              </a:ext>
            </a:extLst>
          </p:cNvPr>
          <p:cNvSpPr txBox="1"/>
          <p:nvPr/>
        </p:nvSpPr>
        <p:spPr>
          <a:xfrm>
            <a:off x="6565900" y="2432050"/>
            <a:ext cx="1270000" cy="115570"/>
          </a:xfrm>
          <a:prstGeom prst="rect">
            <a:avLst/>
          </a:prstGeom>
          <a:noFill/>
        </p:spPr>
        <p:txBody>
          <a:bodyPr vert="horz" lIns="0" tIns="0" rIns="0" bIns="0" rtlCol="0">
            <a:spAutoFit/>
          </a:bodyPr>
          <a:lstStyle/>
          <a:p>
            <a:pPr algn="ctr"/>
            <a:r>
              <a:rPr lang="en-US" sz="750">
                <a:solidFill>
                  <a:srgbClr val="526980"/>
                </a:solidFill>
                <a:latin typeface="Aptos" panose="020B0004020202020204" pitchFamily="34" charset="0"/>
              </a:rPr>
              <a:t>Policies and controls</a:t>
            </a:r>
          </a:p>
        </p:txBody>
      </p:sp>
      <p:sp>
        <p:nvSpPr>
          <p:cNvPr id="39" name="Application Insights Layer"/>
          <p:cNvSpPr/>
          <p:nvPr/>
        </p:nvSpPr>
        <p:spPr>
          <a:xfrm>
            <a:off x="2514600" y="5003800"/>
            <a:ext cx="6629400" cy="457200"/>
          </a:xfrm>
          <a:prstGeom prst="roundRect">
            <a:avLst/>
          </a:prstGeom>
          <a:solidFill>
            <a:srgbClr val="FFFFFF"/>
          </a:solidFill>
          <a:ln w="12700">
            <a:solidFill>
              <a:srgbClr val="DDE6EC"/>
            </a:solidFill>
            <a:prstDash val="solid"/>
          </a:ln>
        </p:spPr>
        <p:txBody>
          <a:bodyPr/>
          <a:lstStyle/>
          <a:p>
            <a:endParaRPr lang="en-US"/>
          </a:p>
        </p:txBody>
      </p:sp>
      <p:pic>
        <p:nvPicPr>
          <p:cNvPr id="36" name="Application Insights Icon">
            <a:extLst>
              <a:ext uri="{FF2B5EF4-FFF2-40B4-BE49-F238E27FC236}">
                <a16:creationId xmlns:a16="http://schemas.microsoft.com/office/drawing/2014/main" id="{04534135-1108-534F-0976-55C24FE7C67C}"/>
              </a:ext>
            </a:extLst>
          </p:cNvPr>
          <p:cNvPicPr>
            <a:picLocks/>
          </p:cNvPicPr>
          <p:nvPr/>
        </p:nvPicPr>
        <p:blipFill>
          <a:blip>
            <a:extLst>
              <a:ext uri="{96DAC541-7B7A-43D3-8B79-37D633B846F1}">
                <asvg:svgBlip xmlns:asvg="http://schemas.microsoft.com/office/drawing/2016/SVG/main" r:embed="rId11"/>
              </a:ext>
            </a:extLst>
          </a:blip>
          <a:stretch>
            <a:fillRect/>
          </a:stretch>
        </p:blipFill>
        <p:spPr>
          <a:xfrm>
            <a:off x="4914900" y="5118100"/>
            <a:ext cx="228600" cy="228600"/>
          </a:xfrm>
          <a:prstGeom prst="rect">
            <a:avLst/>
          </a:prstGeom>
        </p:spPr>
      </p:pic>
      <p:sp>
        <p:nvSpPr>
          <p:cNvPr id="41" name="Application Insights Title"/>
          <p:cNvSpPr/>
          <p:nvPr/>
        </p:nvSpPr>
        <p:spPr>
          <a:xfrm>
            <a:off x="5219700" y="5080000"/>
            <a:ext cx="1524000" cy="146050"/>
          </a:xfrm>
          <a:prstGeom prst="rect">
            <a:avLst/>
          </a:prstGeom>
          <a:noFill/>
          <a:ln/>
        </p:spPr>
        <p:txBody>
          <a:bodyPr wrap="square" lIns="0" tIns="0" rIns="0" bIns="0" rtlCol="0" anchor="ctr">
            <a:normAutofit fontScale="85000" lnSpcReduction="20000"/>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Application Insights</a:t>
            </a:r>
            <a:endParaRPr lang="en-US" sz="1300" dirty="0"/>
          </a:p>
        </p:txBody>
      </p:sp>
      <p:sp>
        <p:nvSpPr>
          <p:cNvPr id="42" name="Application Insights Body"/>
          <p:cNvSpPr/>
          <p:nvPr/>
        </p:nvSpPr>
        <p:spPr>
          <a:xfrm>
            <a:off x="5219700" y="5251450"/>
            <a:ext cx="1524000" cy="115570"/>
          </a:xfrm>
          <a:prstGeom prst="rect">
            <a:avLst/>
          </a:prstGeom>
          <a:noFill/>
          <a:ln/>
        </p:spPr>
        <p:txBody>
          <a:bodyPr wrap="square" lIns="0" tIns="0" rIns="0" bIns="0" rtlCol="0" anchor="ctr">
            <a:normAutofit fontScale="92500" lnSpcReduction="10000"/>
          </a:bodyPr>
          <a:lstStyle/>
          <a:p>
            <a:pPr marL="0" indent="0" algn="ctr">
              <a:buNone/>
            </a:pPr>
            <a:r>
              <a:rPr lang="en-US" sz="870"/>
              <a:t>Agent and APIM telemetry</a:t>
            </a:r>
            <a:endParaRPr lang="en-US" sz="87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txBody>
          <a:bodyPr/>
          <a:lstStyle/>
          <a:p>
            <a:endParaRPr lang="en-US"/>
          </a:p>
        </p:txBody>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txBody>
          <a:bodyPr/>
          <a:lstStyle/>
          <a:p>
            <a:endParaRPr lang="en-US"/>
          </a:p>
        </p:txBody>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txBody>
          <a:bodyPr/>
          <a:lstStyle/>
          <a:p>
            <a:endParaRPr lang="en-US"/>
          </a:p>
        </p:txBody>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txBody>
          <a:bodyPr/>
          <a:lstStyle/>
          <a:p>
            <a:endParaRPr lang="en-US"/>
          </a:p>
        </p:txBody>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txBody>
          <a:bodyPr/>
          <a:lstStyle/>
          <a:p>
            <a:endParaRPr lang="en-US"/>
          </a:p>
        </p:txBody>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txBody>
          <a:bodyPr/>
          <a:lstStyle/>
          <a:p>
            <a:endParaRPr lang="en-US"/>
          </a:p>
        </p:txBody>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txBody>
          <a:bodyPr/>
          <a:lstStyle/>
          <a:p>
            <a:endParaRPr lang="en-US"/>
          </a:p>
        </p:txBody>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txBody>
          <a:bodyPr/>
          <a:lstStyle/>
          <a:p>
            <a:endParaRPr lang="en-US"/>
          </a:p>
        </p:txBody>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txBody>
          <a:bodyPr/>
          <a:lstStyle/>
          <a:p>
            <a:endParaRPr lang="en-US"/>
          </a:p>
        </p:txBody>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txBody>
          <a:bodyPr/>
          <a:lstStyle/>
          <a:p>
            <a:endParaRPr lang="en-US"/>
          </a:p>
        </p:txBody>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txBody>
          <a:bodyPr/>
          <a:lstStyle/>
          <a:p>
            <a:endParaRPr lang="en-US"/>
          </a:p>
        </p:txBody>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txBody>
          <a:bodyPr/>
          <a:lstStyle/>
          <a:p>
            <a:endParaRPr lang="en-US"/>
          </a:p>
        </p:txBody>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txBody>
          <a:bodyPr/>
          <a:lstStyle/>
          <a:p>
            <a:endParaRPr lang="en-US"/>
          </a:p>
        </p:txBody>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txBody>
          <a:bodyPr/>
          <a:lstStyle/>
          <a:p>
            <a:endParaRPr lang="en-US"/>
          </a:p>
        </p:txBody>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txBody>
          <a:bodyPr/>
          <a:lstStyle/>
          <a:p>
            <a:endParaRPr lang="en-US"/>
          </a:p>
        </p:txBody>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txBody>
          <a:bodyPr/>
          <a:lstStyle/>
          <a:p>
            <a:endParaRPr lang="en-US"/>
          </a:p>
        </p:txBody>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txBody>
          <a:bodyPr/>
          <a:lstStyle/>
          <a:p>
            <a:endParaRPr lang="en-US"/>
          </a:p>
        </p:txBody>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txBody>
          <a:bodyPr/>
          <a:lstStyle/>
          <a:p>
            <a:endParaRPr lang="en-US"/>
          </a:p>
        </p:txBody>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txBody>
          <a:bodyPr/>
          <a:lstStyle/>
          <a:p>
            <a:endParaRPr lang="en-US"/>
          </a:p>
        </p:txBody>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txBody>
          <a:bodyPr/>
          <a:lstStyle/>
          <a:p>
            <a:endParaRPr lang="en-US"/>
          </a:p>
        </p:txBody>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txBody>
          <a:bodyPr/>
          <a:lstStyle/>
          <a:p>
            <a:endParaRPr lang="en-US"/>
          </a:p>
        </p:txBody>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txBody>
          <a:bodyPr/>
          <a:lstStyle/>
          <a:p>
            <a:endParaRPr lang="en-US"/>
          </a:p>
        </p:txBody>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txBody>
          <a:bodyPr/>
          <a:lstStyle/>
          <a:p>
            <a:endParaRPr lang="en-US"/>
          </a:p>
        </p:txBody>
      </p:sp>
      <p:sp>
        <p:nvSpPr>
          <p:cNvPr id="21" name="Shape 19"/>
          <p:cNvSpPr/>
          <p:nvPr/>
        </p:nvSpPr>
        <p:spPr>
          <a:xfrm>
            <a:off x="7626096" y="2953512"/>
            <a:ext cx="731520" cy="0"/>
          </a:xfrm>
          <a:prstGeom prst="line">
            <a:avLst/>
          </a:prstGeom>
          <a:noFill/>
          <a:ln w="25400">
            <a:solidFill>
              <a:srgbClr val="748494"/>
            </a:solidFill>
            <a:prstDash val="solid"/>
            <a:tailEnd type="triangle"/>
          </a:ln>
        </p:spPr>
        <p:txBody>
          <a:bodyPr/>
          <a:lstStyle/>
          <a:p>
            <a:endParaRPr lang="en-US"/>
          </a:p>
        </p:txBody>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txBody>
          <a:bodyPr/>
          <a:lstStyle/>
          <a:p>
            <a:endParaRPr lang="en-US"/>
          </a:p>
        </p:txBody>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fontScale="92500"/>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4005072" y="2999232"/>
            <a:ext cx="914400" cy="1115568"/>
          </a:xfrm>
          <a:prstGeom prst="chevron">
            <a:avLst/>
          </a:prstGeom>
          <a:solidFill>
            <a:srgbClr val="0F8B8D"/>
          </a:solidFill>
          <a:ln w="12700">
            <a:solidFill>
              <a:srgbClr val="0F8B8D"/>
            </a:solidFill>
            <a:prstDash val="solid"/>
          </a:ln>
        </p:spPr>
        <p:txBody>
          <a:bodyPr/>
          <a:lstStyle/>
          <a:p>
            <a:endParaRPr lang="en-US"/>
          </a:p>
        </p:txBody>
      </p:sp>
      <p:sp>
        <p:nvSpPr>
          <p:cNvPr id="18" name="Text 15"/>
          <p:cNvSpPr/>
          <p:nvPr/>
        </p:nvSpPr>
        <p:spPr>
          <a:xfrm>
            <a:off x="3977640" y="3255264"/>
            <a:ext cx="969264" cy="347472"/>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APIM</a:t>
            </a:r>
            <a:endParaRPr lang="en-US" sz="850" dirty="0"/>
          </a:p>
          <a:p>
            <a:pPr marL="0" indent="0" algn="ctr">
              <a:buNone/>
            </a:pPr>
            <a:r>
              <a:rPr lang="en-US" sz="850" b="1" dirty="0">
                <a:solidFill>
                  <a:srgbClr val="102A43"/>
                </a:solidFill>
                <a:latin typeface="Aptos" pitchFamily="34" charset="0"/>
                <a:ea typeface="Aptos" pitchFamily="34" charset="-122"/>
                <a:cs typeface="Aptos" pitchFamily="34" charset="-120"/>
              </a:rPr>
              <a:t>REST to MCP</a:t>
            </a:r>
            <a:endParaRPr lang="en-US" sz="850" dirty="0"/>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2 | VALIDATE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3 |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txBody>
          <a:bodyPr/>
          <a:lstStyle/>
          <a:p>
            <a:endParaRPr lang="en-US"/>
          </a:p>
        </p:txBody>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txBody>
          <a:bodyPr/>
          <a:lstStyle/>
          <a:p>
            <a:endParaRPr lang="en-US"/>
          </a:p>
        </p:txBody>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txBody>
          <a:bodyPr/>
          <a:lstStyle/>
          <a:p>
            <a:endParaRPr lang="en-US"/>
          </a:p>
        </p:txBody>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txBody>
          <a:bodyPr/>
          <a:lstStyle/>
          <a:p>
            <a:endParaRPr lang="en-US"/>
          </a:p>
        </p:txBody>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Start the Responses API, then test it two ways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Run the ASP.NET Core host on port 8088 before connecting PowerShell or Agent Inspector.</a:t>
            </a:r>
            <a:endParaRPr lang="en-US" sz="1250" dirty="0"/>
          </a:p>
        </p:txBody>
      </p:sp>
      <p:sp>
        <p:nvSpPr>
          <p:cNvPr id="5" name="Shape 3"/>
          <p:cNvSpPr/>
          <p:nvPr/>
        </p:nvSpPr>
        <p:spPr>
          <a:xfrm>
            <a:off x="658368"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2743200"/>
            <a:ext cx="73152" cy="27559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926080"/>
            <a:ext cx="347472" cy="347472"/>
          </a:xfrm>
          <a:prstGeom prst="rect">
            <a:avLst/>
          </a:prstGeom>
        </p:spPr>
      </p:pic>
      <p:sp>
        <p:nvSpPr>
          <p:cNvPr id="8" name="Text 5"/>
          <p:cNvSpPr/>
          <p:nvPr/>
        </p:nvSpPr>
        <p:spPr>
          <a:xfrm>
            <a:off x="1353312"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2A. PowerShell smoke test</a:t>
            </a:r>
            <a:endParaRPr lang="en-US" sz="1500" dirty="0"/>
          </a:p>
        </p:txBody>
      </p:sp>
      <p:sp>
        <p:nvSpPr>
          <p:cNvPr id="9" name="Text 6"/>
          <p:cNvSpPr/>
          <p:nvPr/>
        </p:nvSpPr>
        <p:spPr>
          <a:xfrm>
            <a:off x="877824" y="3365500"/>
            <a:ext cx="4636008" cy="8128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Create $body from the lab payload, then call the running API.</a:t>
            </a:r>
          </a:p>
          <a:p>
            <a:pPr marL="0" indent="0">
              <a:lnSpc>
                <a:spcPct val="95000"/>
              </a:lnSpc>
              <a:buNone/>
            </a:pPr>
            <a:r>
              <a:rPr lang="en-US" sz="1050">
                <a:solidFill>
                  <a:srgbClr val="4F6474"/>
                </a:solidFill>
                <a:latin typeface="Aptos" pitchFamily="34" charset="0"/>
                <a:ea typeface="Aptos" pitchFamily="34" charset="-122"/>
                <a:cs typeface="Aptos" pitchFamily="34" charset="-120"/>
              </a:rPr>
              <a:t>Confirm the expected tool is selected and the response is grounded.</a:t>
            </a:r>
            <a:endParaRPr lang="en-US" sz="1050" dirty="0"/>
          </a:p>
        </p:txBody>
      </p:sp>
      <p:sp>
        <p:nvSpPr>
          <p:cNvPr id="10" name="Shape 7"/>
          <p:cNvSpPr/>
          <p:nvPr/>
        </p:nvSpPr>
        <p:spPr>
          <a:xfrm>
            <a:off x="987552" y="4356100"/>
            <a:ext cx="4407408" cy="914400"/>
          </a:xfrm>
          <a:prstGeom prst="roundRect">
            <a:avLst/>
          </a:prstGeom>
          <a:solidFill>
            <a:srgbClr val="102A43"/>
          </a:solidFill>
          <a:ln w="12700">
            <a:solidFill>
              <a:srgbClr val="102A43"/>
            </a:solidFill>
            <a:prstDash val="solid"/>
          </a:ln>
        </p:spPr>
        <p:txBody>
          <a:bodyPr/>
          <a:lstStyle/>
          <a:p>
            <a:endParaRPr lang="en-US"/>
          </a:p>
        </p:txBody>
      </p:sp>
      <p:sp>
        <p:nvSpPr>
          <p:cNvPr id="11" name="Text 8"/>
          <p:cNvSpPr/>
          <p:nvPr/>
        </p:nvSpPr>
        <p:spPr>
          <a:xfrm>
            <a:off x="1170940" y="4457700"/>
            <a:ext cx="4041140" cy="698500"/>
          </a:xfrm>
          <a:prstGeom prst="rect">
            <a:avLst/>
          </a:prstGeom>
          <a:noFill/>
          <a:ln/>
        </p:spPr>
        <p:txBody>
          <a:bodyPr wrap="square" lIns="0" tIns="0" rIns="0" bIns="0" rtlCol="0" anchor="ctr"/>
          <a:lstStyle/>
          <a:p>
            <a:pPr marL="0" indent="0">
              <a:buNone/>
            </a:pPr>
            <a:r>
              <a:rPr lang="en-US" sz="1050">
                <a:solidFill>
                  <a:srgbClr val="5BD6C5"/>
                </a:solidFill>
                <a:latin typeface="Consolas" panose="020B0609020204030204" pitchFamily="49" charset="0"/>
                <a:ea typeface="Consolas" pitchFamily="34" charset="-122"/>
                <a:cs typeface="Consolas" pitchFamily="34" charset="-120"/>
              </a:rPr>
              <a:t>Invoke-RestMethod -Method Post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-Uri "http://localhost:8088/responses"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-ContentType "application/json"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-Body $body</a:t>
            </a:r>
            <a:endParaRPr lang="en-US" sz="1050" dirty="0">
              <a:latin typeface="Consolas" panose="020B0609020204030204" pitchFamily="49" charset="0"/>
            </a:endParaRPr>
          </a:p>
        </p:txBody>
      </p:sp>
      <p:sp>
        <p:nvSpPr>
          <p:cNvPr id="12" name="Shape 9"/>
          <p:cNvSpPr/>
          <p:nvPr/>
        </p:nvSpPr>
        <p:spPr>
          <a:xfrm>
            <a:off x="6437376"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3" name="Shape 10"/>
          <p:cNvSpPr/>
          <p:nvPr/>
        </p:nvSpPr>
        <p:spPr>
          <a:xfrm>
            <a:off x="6437376" y="2743200"/>
            <a:ext cx="73152" cy="2755900"/>
          </a:xfrm>
          <a:prstGeom prst="rect">
            <a:avLst/>
          </a:prstGeom>
          <a:solidFill>
            <a:srgbClr val="775DA6"/>
          </a:solidFill>
          <a:ln w="12700">
            <a:solidFill>
              <a:srgbClr val="775DA6"/>
            </a:solidFill>
            <a:prstDash val="solid"/>
          </a:ln>
        </p:spPr>
        <p:txBody>
          <a:bodyPr/>
          <a:lstStyle/>
          <a:p>
            <a:endParaRPr lang="en-US"/>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926080"/>
            <a:ext cx="347472" cy="347472"/>
          </a:xfrm>
          <a:prstGeom prst="rect">
            <a:avLst/>
          </a:prstGeom>
        </p:spPr>
      </p:pic>
      <p:sp>
        <p:nvSpPr>
          <p:cNvPr id="15" name="Text 11"/>
          <p:cNvSpPr/>
          <p:nvPr/>
        </p:nvSpPr>
        <p:spPr>
          <a:xfrm>
            <a:off x="7132320"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2B. Foundry Agent Inspector</a:t>
            </a:r>
            <a:endParaRPr lang="en-US" sz="1500" dirty="0"/>
          </a:p>
        </p:txBody>
      </p:sp>
      <p:sp>
        <p:nvSpPr>
          <p:cNvPr id="16" name="Text 12"/>
          <p:cNvSpPr/>
          <p:nvPr/>
        </p:nvSpPr>
        <p:spPr>
          <a:xfrm>
            <a:off x="6656832" y="3365500"/>
            <a:ext cx="4636008" cy="11176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Open Agent Inspector from Foundry Toolkit and connect to http://localhost:8088.</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/responses if the connection form requires the full endpoint, then inspect the complete run.</a:t>
            </a:r>
            <a:endParaRPr lang="en-US" sz="1050" dirty="0"/>
          </a:p>
        </p:txBody>
      </p:sp>
      <p:sp>
        <p:nvSpPr>
          <p:cNvPr id="17" name="Shape 13"/>
          <p:cNvSpPr/>
          <p:nvPr/>
        </p:nvSpPr>
        <p:spPr>
          <a:xfrm>
            <a:off x="6766560" y="4635500"/>
            <a:ext cx="4407408" cy="558800"/>
          </a:xfrm>
          <a:prstGeom prst="roundRect">
            <a:avLst/>
          </a:prstGeom>
          <a:solidFill>
            <a:srgbClr val="EEE8F7"/>
          </a:solidFill>
          <a:ln w="12700">
            <a:solidFill>
              <a:srgbClr val="775DA6"/>
            </a:solidFill>
            <a:prstDash val="solid"/>
          </a:ln>
        </p:spPr>
        <p:txBody>
          <a:bodyPr/>
          <a:lstStyle/>
          <a:p>
            <a:endParaRPr lang="en-US"/>
          </a:p>
        </p:txBody>
      </p:sp>
      <p:sp>
        <p:nvSpPr>
          <p:cNvPr id="18" name="Text 14"/>
          <p:cNvSpPr/>
          <p:nvPr/>
        </p:nvSpPr>
        <p:spPr>
          <a:xfrm>
            <a:off x="6949440" y="4822190"/>
            <a:ext cx="4041648" cy="182880"/>
          </a:xfrm>
          <a:prstGeom prst="rect">
            <a:avLst/>
          </a:prstGeom>
          <a:noFill/>
          <a:ln/>
        </p:spPr>
        <p:txBody>
          <a:bodyPr wrap="square" lIns="0" tIns="0" rIns="0" bIns="0" rtlCol="0" anchor="ctr"/>
          <a:lstStyle/>
          <a:p>
            <a:pPr marL="0" indent="0" algn="ctr">
              <a:buNone/>
            </a:pPr>
            <a:r>
              <a:rPr lang="en-US" sz="1050" b="1">
                <a:solidFill>
                  <a:srgbClr val="775DA6"/>
                </a:solidFill>
                <a:latin typeface="Aptos" pitchFamily="34" charset="0"/>
                <a:ea typeface="Aptos" pitchFamily="34" charset="-122"/>
                <a:cs typeface="Aptos" pitchFamily="34" charset="-120"/>
              </a:rPr>
              <a:t>Foundry Toolkit: Open Agent Inspector</a:t>
            </a:r>
            <a:endParaRPr lang="en-US" sz="1050" dirty="0"/>
          </a:p>
        </p:txBody>
      </p:sp>
      <p:sp>
        <p:nvSpPr>
          <p:cNvPr id="19" name="Shape 15"/>
          <p:cNvSpPr/>
          <p:nvPr/>
        </p:nvSpPr>
        <p:spPr>
          <a:xfrm>
            <a:off x="2148840" y="5715000"/>
            <a:ext cx="7909560" cy="402336"/>
          </a:xfrm>
          <a:prstGeom prst="roundRect">
            <a:avLst/>
          </a:prstGeom>
          <a:solidFill>
            <a:srgbClr val="FFF4D7"/>
          </a:solidFill>
          <a:ln w="12700">
            <a:solidFill>
              <a:srgbClr val="F4B942"/>
            </a:solidFill>
            <a:prstDash val="solid"/>
          </a:ln>
        </p:spPr>
        <p:txBody>
          <a:bodyPr/>
          <a:lstStyle/>
          <a:p>
            <a:endParaRPr lang="en-US"/>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806440"/>
            <a:ext cx="210312" cy="210312"/>
          </a:xfrm>
          <a:prstGeom prst="rect">
            <a:avLst/>
          </a:prstGeom>
        </p:spPr>
      </p:pic>
      <p:sp>
        <p:nvSpPr>
          <p:cNvPr id="21" name="Text 16"/>
          <p:cNvSpPr/>
          <p:nvPr/>
        </p:nvSpPr>
        <p:spPr>
          <a:xfrm>
            <a:off x="2724912" y="5825490"/>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
        <p:nvSpPr>
          <p:cNvPr id="23" name="Run First Background">
            <a:extLst>
              <a:ext uri="{FF2B5EF4-FFF2-40B4-BE49-F238E27FC236}">
                <a16:creationId xmlns:a16="http://schemas.microsoft.com/office/drawing/2014/main" id="{F727555A-5A48-80B7-50A1-3464F7467A99}"/>
              </a:ext>
            </a:extLst>
          </p:cNvPr>
          <p:cNvSpPr/>
          <p:nvPr/>
        </p:nvSpPr>
        <p:spPr>
          <a:xfrm>
            <a:off x="657860" y="1625600"/>
            <a:ext cx="10854690" cy="914400"/>
          </a:xfrm>
          <a:prstGeom prst="roundRect">
            <a:avLst/>
          </a:prstGeom>
          <a:solidFill>
            <a:srgbClr val="102A43"/>
          </a:solidFill>
          <a:ln w="12700">
            <a:solidFill>
              <a:srgbClr val="102A43"/>
            </a:solidFill>
            <a:prstDash val="solid"/>
          </a:ln>
        </p:spPr>
        <p:txBody>
          <a:bodyPr/>
          <a:lstStyle/>
          <a:p>
            <a:endParaRPr lang="en-US"/>
          </a:p>
        </p:txBody>
      </p:sp>
      <p:sp>
        <p:nvSpPr>
          <p:cNvPr id="24" name="Run First Heading">
            <a:extLst>
              <a:ext uri="{FF2B5EF4-FFF2-40B4-BE49-F238E27FC236}">
                <a16:creationId xmlns:a16="http://schemas.microsoft.com/office/drawing/2014/main" id="{6A085B01-A6FF-5F40-465D-0739CCFFD804}"/>
              </a:ext>
            </a:extLst>
          </p:cNvPr>
          <p:cNvSpPr/>
          <p:nvPr/>
        </p:nvSpPr>
        <p:spPr>
          <a:xfrm>
            <a:off x="877570" y="1765300"/>
            <a:ext cx="5207000" cy="279400"/>
          </a:xfrm>
          <a:prstGeom prst="rect">
            <a:avLst/>
          </a:prstGeom>
          <a:noFill/>
          <a:ln/>
        </p:spPr>
        <p:txBody>
          <a:bodyPr wrap="square" lIns="0" tIns="0" rIns="0" bIns="0" rtlCol="0" anchor="ctr">
            <a:normAutofit/>
          </a:bodyPr>
          <a:lstStyle/>
          <a:p>
            <a:pPr marL="0" indent="0">
              <a:buNone/>
            </a:pPr>
            <a:r>
              <a:rPr lang="en-US" sz="1500" b="1">
                <a:solidFill>
                  <a:srgbClr val="FFFFFF"/>
                </a:solidFill>
                <a:latin typeface="Aptos Display" pitchFamily="34" charset="0"/>
                <a:ea typeface="Aptos Display" pitchFamily="34" charset="-122"/>
                <a:cs typeface="Aptos Display" pitchFamily="34" charset="-120"/>
              </a:rPr>
              <a:t>1. Run the ASP.NET Core web project</a:t>
            </a:r>
            <a:endParaRPr lang="en-US" sz="1500" dirty="0">
              <a:solidFill>
                <a:srgbClr val="FFFFFF"/>
              </a:solidFill>
            </a:endParaRPr>
          </a:p>
        </p:txBody>
      </p:sp>
      <p:sp>
        <p:nvSpPr>
          <p:cNvPr id="26" name="Run First Command">
            <a:extLst>
              <a:ext uri="{FF2B5EF4-FFF2-40B4-BE49-F238E27FC236}">
                <a16:creationId xmlns:a16="http://schemas.microsoft.com/office/drawing/2014/main" id="{C65A9F33-8C2C-2FDB-6E6B-1F643513A72A}"/>
              </a:ext>
            </a:extLst>
          </p:cNvPr>
          <p:cNvSpPr/>
          <p:nvPr/>
        </p:nvSpPr>
        <p:spPr>
          <a:xfrm>
            <a:off x="877570" y="2146300"/>
            <a:ext cx="6604000" cy="190500"/>
          </a:xfrm>
          <a:prstGeom prst="rect">
            <a:avLst/>
          </a:prstGeom>
          <a:noFill/>
          <a:ln/>
        </p:spPr>
        <p:txBody>
          <a:bodyPr wrap="square" lIns="0" tIns="0" rIns="0" bIns="0" rtlCol="0" anchor="ctr"/>
          <a:lstStyle/>
          <a:p>
            <a:pPr marL="0" indent="0">
              <a:buNone/>
            </a:pPr>
            <a:r>
              <a:rPr lang="en-US" sz="1050">
                <a:solidFill>
                  <a:srgbClr val="4DD6C9"/>
                </a:solidFill>
                <a:latin typeface="Consolas" pitchFamily="34" charset="0"/>
                <a:ea typeface="Consolas" pitchFamily="34" charset="-122"/>
                <a:cs typeface="Consolas" pitchFamily="34" charset="-120"/>
              </a:rPr>
              <a:t>dotnet run --project .\src\Workshop.Agent\Workshop.Agent.csproj</a:t>
            </a:r>
            <a:endParaRPr lang="en-US" sz="1050" dirty="0">
              <a:solidFill>
                <a:srgbClr val="4DD6C9"/>
              </a:solidFill>
            </a:endParaRPr>
          </a:p>
        </p:txBody>
      </p:sp>
      <p:sp>
        <p:nvSpPr>
          <p:cNvPr id="27" name="Run First Endpoint">
            <a:extLst>
              <a:ext uri="{FF2B5EF4-FFF2-40B4-BE49-F238E27FC236}">
                <a16:creationId xmlns:a16="http://schemas.microsoft.com/office/drawing/2014/main" id="{4A60DA5C-F5CC-5C41-C47E-C86662935B79}"/>
              </a:ext>
            </a:extLst>
          </p:cNvPr>
          <p:cNvSpPr/>
          <p:nvPr/>
        </p:nvSpPr>
        <p:spPr>
          <a:xfrm>
            <a:off x="7747000" y="1943100"/>
            <a:ext cx="3429000" cy="393700"/>
          </a:xfrm>
          <a:prstGeom prst="rect">
            <a:avLst/>
          </a:prstGeom>
          <a:noFill/>
          <a:ln/>
        </p:spPr>
        <p:txBody>
          <a:bodyPr wrap="square" lIns="0" tIns="0" rIns="0" bIns="0" rtlCol="0" anchor="ctr"/>
          <a:lstStyle/>
          <a:p>
            <a:pPr marL="0" indent="0" algn="ctr">
              <a:buNone/>
            </a:pPr>
            <a:r>
              <a:rPr lang="en-US" sz="1050">
                <a:solidFill>
                  <a:srgbClr val="FFFFFF"/>
                </a:solidFill>
                <a:latin typeface="Consolas" pitchFamily="34" charset="0"/>
                <a:ea typeface="Consolas" pitchFamily="34" charset="-122"/>
                <a:cs typeface="Consolas" pitchFamily="34" charset="-120"/>
              </a:rPr>
              <a:t>Responses endpoint</a:t>
            </a:r>
          </a:p>
          <a:p>
            <a:pPr marL="0" indent="0" algn="ctr">
              <a:buNone/>
            </a:pPr>
            <a:r>
              <a:rPr lang="en-US" sz="1050">
                <a:solidFill>
                  <a:srgbClr val="FFFFFF"/>
                </a:solidFill>
                <a:latin typeface="Consolas" pitchFamily="34" charset="0"/>
                <a:ea typeface="Consolas" pitchFamily="34" charset="-122"/>
                <a:cs typeface="Consolas" pitchFamily="34" charset="-120"/>
              </a:rPr>
              <a:t>http://localhost:8088/responses</a:t>
            </a:r>
            <a:endParaRPr lang="en-US" sz="1050" dirty="0">
              <a:solidFill>
                <a:srgbClr val="FFFFFF"/>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txBody>
          <a:bodyPr/>
          <a:lstStyle/>
          <a:p>
            <a:endParaRPr lang="en-US"/>
          </a:p>
        </p:txBody>
      </p:sp>
      <p:sp>
        <p:nvSpPr>
          <p:cNvPr id="10" name="Shape 7"/>
          <p:cNvSpPr/>
          <p:nvPr/>
        </p:nvSpPr>
        <p:spPr>
          <a:xfrm>
            <a:off x="3657600" y="4160520"/>
            <a:ext cx="914400" cy="594360"/>
          </a:xfrm>
          <a:prstGeom prst="line">
            <a:avLst/>
          </a:prstGeom>
          <a:noFill/>
          <a:ln w="25400">
            <a:solidFill>
              <a:srgbClr val="F4B942"/>
            </a:solidFill>
            <a:prstDash val="solid"/>
            <a:tailEnd type="triangle"/>
          </a:ln>
        </p:spPr>
        <p:txBody>
          <a:bodyPr/>
          <a:lstStyle/>
          <a:p>
            <a:endParaRPr lang="en-US"/>
          </a:p>
        </p:txBody>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19" name="Path A Direct Arrow">
            <a:extLst>
              <a:ext uri="{FF2B5EF4-FFF2-40B4-BE49-F238E27FC236}">
                <a16:creationId xmlns:a16="http://schemas.microsoft.com/office/drawing/2014/main" id="{3FAA1174-B7CC-01C1-9A04-872126AFF9F7}"/>
              </a:ext>
            </a:extLst>
          </p:cNvPr>
          <p:cNvCxnSpPr/>
          <p:nvPr/>
        </p:nvCxnSpPr>
        <p:spPr>
          <a:xfrm>
            <a:off x="7388860" y="2580640"/>
            <a:ext cx="1234440" cy="988060"/>
          </a:xfrm>
          <a:prstGeom prst="line">
            <a:avLst/>
          </a:prstGeom>
          <a:ln w="19050">
            <a:solidFill>
              <a:srgbClr val="4F8BEF"/>
            </a:solidFill>
            <a:tailEnd type="triangle"/>
          </a:ln>
        </p:spPr>
        <p:style>
          <a:lnRef idx="1">
            <a:schemeClr val="accent1"/>
          </a:lnRef>
          <a:fillRef idx="0">
            <a:schemeClr val="accent1"/>
          </a:fillRef>
          <a:effectRef idx="0">
            <a:schemeClr val="accent1"/>
          </a:effectRef>
          <a:fontRef idx="minor">
            <a:schemeClr val="tx1"/>
          </a:fontRef>
        </p:style>
      </p:cxnSp>
      <p:cxnSp>
        <p:nvCxnSpPr>
          <p:cNvPr id="20" name="Path B Direct Arrow">
            <a:extLst>
              <a:ext uri="{FF2B5EF4-FFF2-40B4-BE49-F238E27FC236}">
                <a16:creationId xmlns:a16="http://schemas.microsoft.com/office/drawing/2014/main" id="{76947109-DAB5-1AD9-E6BE-91C1D9300453}"/>
              </a:ext>
            </a:extLst>
          </p:cNvPr>
          <p:cNvCxnSpPr/>
          <p:nvPr/>
        </p:nvCxnSpPr>
        <p:spPr>
          <a:xfrm flipV="1">
            <a:off x="7388860" y="3568700"/>
            <a:ext cx="1234440" cy="1085850"/>
          </a:xfrm>
          <a:prstGeom prst="line">
            <a:avLst/>
          </a:prstGeom>
          <a:ln w="19050">
            <a:solidFill>
              <a:srgbClr val="008B8B"/>
            </a:solidFill>
            <a:tailEnd type="triangle"/>
          </a:ln>
        </p:spPr>
        <p:style>
          <a:lnRef idx="1">
            <a:schemeClr val="accent1"/>
          </a:lnRef>
          <a:fillRef idx="0">
            <a:schemeClr val="accent1"/>
          </a:fillRef>
          <a:effectRef idx="0">
            <a:schemeClr val="accent1"/>
          </a:effectRef>
          <a:fontRef idx="minor">
            <a:schemeClr val="tx1"/>
          </a:fontRef>
        </p:style>
      </p:cxnSp>
      <p:pic>
        <p:nvPicPr>
          <p:cNvPr id="33" name="Microsoft Foundry Logo" descr="Microsoft Foundry logo">
            <a:extLst>
              <a:ext uri="{FF2B5EF4-FFF2-40B4-BE49-F238E27FC236}">
                <a16:creationId xmlns:a16="http://schemas.microsoft.com/office/drawing/2014/main" id="{43D4787C-7CE1-4882-EAF0-465DE7DC05EE}"/>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9726930" y="2357120"/>
            <a:ext cx="713232" cy="7132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txBody>
          <a:bodyPr/>
          <a:lstStyle/>
          <a:p>
            <a:endParaRPr lang="en-US"/>
          </a:p>
        </p:txBody>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txBody>
          <a:bodyPr/>
          <a:lstStyle/>
          <a:p>
            <a:endParaRPr lang="en-US"/>
          </a:p>
        </p:txBody>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txBody>
          <a:bodyPr/>
          <a:lstStyle/>
          <a:p>
            <a:endParaRPr lang="en-US"/>
          </a:p>
        </p:txBody>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txBody>
          <a:bodyPr/>
          <a:lstStyle/>
          <a:p>
            <a:endParaRPr lang="en-US"/>
          </a:p>
        </p:txBody>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txBody>
          <a:bodyPr/>
          <a:lstStyle/>
          <a:p>
            <a:endParaRPr lang="en-US"/>
          </a:p>
        </p:txBody>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txBody>
          <a:bodyPr/>
          <a:lstStyle/>
          <a:p>
            <a:endParaRPr lang="en-US"/>
          </a:p>
        </p:txBody>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5433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7373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1938528"/>
            <a:ext cx="292608" cy="292608"/>
          </a:xfrm>
          <a:prstGeom prst="rect">
            <a:avLst/>
          </a:prstGeom>
        </p:spPr>
      </p:pic>
      <p:sp>
        <p:nvSpPr>
          <p:cNvPr id="7" name="Text 4"/>
          <p:cNvSpPr/>
          <p:nvPr/>
        </p:nvSpPr>
        <p:spPr>
          <a:xfrm>
            <a:off x="1569568" y="18653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18928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6060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807208"/>
            <a:ext cx="292608" cy="292608"/>
          </a:xfrm>
          <a:prstGeom prst="rect">
            <a:avLst/>
          </a:prstGeom>
        </p:spPr>
      </p:pic>
      <p:sp>
        <p:nvSpPr>
          <p:cNvPr id="11" name="Text 7"/>
          <p:cNvSpPr/>
          <p:nvPr/>
        </p:nvSpPr>
        <p:spPr>
          <a:xfrm>
            <a:off x="2118208" y="27340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7614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4747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675888"/>
            <a:ext cx="292608" cy="292608"/>
          </a:xfrm>
          <a:prstGeom prst="rect">
            <a:avLst/>
          </a:prstGeom>
        </p:spPr>
      </p:pic>
      <p:sp>
        <p:nvSpPr>
          <p:cNvPr id="15" name="Text 10"/>
          <p:cNvSpPr/>
          <p:nvPr/>
        </p:nvSpPr>
        <p:spPr>
          <a:xfrm>
            <a:off x="2666848" y="36027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6301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3434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544568"/>
            <a:ext cx="292608" cy="292608"/>
          </a:xfrm>
          <a:prstGeom prst="rect">
            <a:avLst/>
          </a:prstGeom>
        </p:spPr>
      </p:pic>
      <p:sp>
        <p:nvSpPr>
          <p:cNvPr id="19" name="Text 13"/>
          <p:cNvSpPr/>
          <p:nvPr/>
        </p:nvSpPr>
        <p:spPr>
          <a:xfrm>
            <a:off x="3215488" y="44714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4988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9048" y="5056632"/>
            <a:ext cx="0" cy="219456"/>
          </a:xfrm>
          <a:prstGeom prst="line">
            <a:avLst/>
          </a:prstGeom>
          <a:noFill/>
          <a:ln w="19050">
            <a:solidFill>
              <a:srgbClr val="12304A"/>
            </a:solidFill>
            <a:prstDash val="solid"/>
            <a:tailEnd type="triangle"/>
          </a:ln>
        </p:spPr>
        <p:txBody>
          <a:bodyPr/>
          <a:lstStyle/>
          <a:p>
            <a:endParaRPr lang="en-US"/>
          </a:p>
        </p:txBody>
      </p:sp>
      <p:sp>
        <p:nvSpPr>
          <p:cNvPr id="22" name="Shape 16"/>
          <p:cNvSpPr/>
          <p:nvPr/>
        </p:nvSpPr>
        <p:spPr>
          <a:xfrm>
            <a:off x="5193792" y="5285232"/>
            <a:ext cx="1810512" cy="676656"/>
          </a:xfrm>
          <a:prstGeom prst="ellipse">
            <a:avLst/>
          </a:prstGeom>
          <a:solidFill>
            <a:srgbClr val="102A43"/>
          </a:solidFill>
          <a:ln w="12700">
            <a:solidFill>
              <a:srgbClr val="102A43"/>
            </a:solidFill>
            <a:prstDash val="solid"/>
          </a:ln>
        </p:spPr>
        <p:txBody>
          <a:bodyPr/>
          <a:lstStyle/>
          <a:p>
            <a:endParaRPr lang="en-US"/>
          </a:p>
        </p:txBody>
      </p:sp>
      <p:sp>
        <p:nvSpPr>
          <p:cNvPr id="23" name="Text 17"/>
          <p:cNvSpPr/>
          <p:nvPr/>
        </p:nvSpPr>
        <p:spPr>
          <a:xfrm>
            <a:off x="5330952" y="5504688"/>
            <a:ext cx="1536192" cy="164592"/>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txBody>
          <a:bodyPr/>
          <a:lstStyle/>
          <a:p>
            <a:endParaRPr lang="en-US"/>
          </a:p>
        </p:txBody>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txBody>
          <a:bodyPr/>
          <a:lstStyle/>
          <a:p>
            <a:endParaRPr lang="en-US"/>
          </a:p>
        </p:txBody>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txBody>
          <a:bodyPr/>
          <a:lstStyle/>
          <a:p>
            <a:endParaRPr lang="en-US"/>
          </a:p>
        </p:txBody>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txBody>
          <a:bodyPr/>
          <a:lstStyle/>
          <a:p>
            <a:endParaRPr lang="en-US"/>
          </a:p>
        </p:txBody>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txBody>
          <a:bodyPr/>
          <a:lstStyle/>
          <a:p>
            <a:endParaRPr lang="en-US"/>
          </a:p>
        </p:txBody>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txBody>
          <a:bodyPr/>
          <a:lstStyle/>
          <a:p>
            <a:endParaRPr lang="en-US"/>
          </a:p>
        </p:txBody>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txBody>
          <a:bodyPr/>
          <a:lstStyle/>
          <a:p>
            <a:endParaRPr lang="en-US"/>
          </a:p>
        </p:txBody>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txBody>
          <a:bodyPr/>
          <a:lstStyle/>
          <a:p>
            <a:endParaRPr lang="en-US"/>
          </a:p>
        </p:txBody>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txBody>
          <a:bodyPr/>
          <a:lstStyle/>
          <a:p>
            <a:endParaRPr lang="en-US"/>
          </a:p>
        </p:txBody>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txBody>
          <a:bodyPr/>
          <a:lstStyle/>
          <a:p>
            <a:endParaRPr lang="en-US"/>
          </a:p>
        </p:txBody>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txBody>
          <a:bodyPr/>
          <a:lstStyle/>
          <a:p>
            <a:endParaRPr lang="en-US"/>
          </a:p>
        </p:txBody>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txBody>
          <a:bodyPr/>
          <a:lstStyle/>
          <a:p>
            <a:endParaRPr lang="en-US"/>
          </a:p>
        </p:txBody>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txBody>
          <a:bodyPr/>
          <a:lstStyle/>
          <a:p>
            <a:endParaRPr lang="en-US"/>
          </a:p>
        </p:txBody>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txBody>
          <a:bodyPr/>
          <a:lstStyle/>
          <a:p>
            <a:endParaRPr lang="en-US"/>
          </a:p>
        </p:txBody>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txBody>
          <a:bodyPr/>
          <a:lstStyle/>
          <a:p>
            <a:endParaRPr lang="en-US"/>
          </a:p>
        </p:txBody>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txBody>
          <a:bodyPr/>
          <a:lstStyle/>
          <a:p>
            <a:endParaRPr lang="en-US"/>
          </a:p>
        </p:txBody>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txBody>
          <a:bodyPr/>
          <a:lstStyle/>
          <a:p>
            <a:endParaRPr lang="en-US"/>
          </a:p>
        </p:txBody>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txBody>
          <a:bodyPr/>
          <a:lstStyle/>
          <a:p>
            <a:endParaRPr lang="en-US"/>
          </a:p>
        </p:txBody>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txBody>
          <a:bodyPr/>
          <a:lstStyle/>
          <a:p>
            <a:endParaRPr lang="en-US"/>
          </a:p>
        </p:txBody>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txBody>
          <a:bodyPr/>
          <a:lstStyle/>
          <a:p>
            <a:endParaRPr lang="en-US"/>
          </a:p>
        </p:txBody>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txBody>
          <a:bodyPr/>
          <a:lstStyle/>
          <a:p>
            <a:endParaRPr lang="en-US"/>
          </a:p>
        </p:txBody>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txBody>
          <a:bodyPr/>
          <a:lstStyle/>
          <a:p>
            <a:endParaRPr lang="en-US"/>
          </a:p>
        </p:txBody>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txBody>
          <a:bodyPr/>
          <a:lstStyle/>
          <a:p>
            <a:endParaRPr lang="en-US"/>
          </a:p>
        </p:txBody>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txBody>
          <a:bodyPr/>
          <a:lstStyle/>
          <a:p>
            <a:endParaRPr lang="en-US"/>
          </a:p>
        </p:txBody>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txBody>
          <a:bodyPr/>
          <a:lstStyle/>
          <a:p>
            <a:endParaRPr lang="en-US"/>
          </a:p>
        </p:txBody>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txBody>
          <a:bodyPr/>
          <a:lstStyle/>
          <a:p>
            <a:endParaRPr lang="en-US"/>
          </a:p>
        </p:txBody>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txBody>
          <a:bodyPr/>
          <a:lstStyle/>
          <a:p>
            <a:endParaRPr lang="en-US"/>
          </a:p>
        </p:txBody>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txBody>
          <a:bodyPr/>
          <a:lstStyle/>
          <a:p>
            <a:endParaRPr 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txBody>
          <a:bodyPr/>
          <a:lstStyle/>
          <a:p>
            <a:endParaRPr lang="en-US"/>
          </a:p>
        </p:txBody>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txBody>
          <a:bodyPr/>
          <a:lstStyle/>
          <a:p>
            <a:endParaRPr lang="en-US"/>
          </a:p>
        </p:txBody>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txBody>
          <a:bodyPr/>
          <a:lstStyle/>
          <a:p>
            <a:endParaRPr lang="en-US"/>
          </a:p>
        </p:txBody>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txBody>
          <a:bodyPr/>
          <a:lstStyle/>
          <a:p>
            <a:endParaRPr lang="en-US"/>
          </a:p>
        </p:txBody>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3294</Words>
  <Application>Microsoft Office PowerPoint</Application>
  <PresentationFormat>Widescreen</PresentationFormat>
  <Paragraphs>462</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2026-09-28T14:39:12Z</dcterms:modified>
</cp:coreProperties>
</file>