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both methods. PowerShell is the fastest pass or fail check. Agent Inspector is the teaching view because it exposes the complete run and approval behavior.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0.svg"/><Relationship Id="rId7" Type="http://schemas.openxmlformats.org/officeDocument/2006/relationships/image" Target="../media/image12.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2.svg"/><Relationship Id="rId4" Type="http://schemas.openxmlformats.org/officeDocument/2006/relationships/image" Target="../media/image3.svg"/><Relationship Id="rId9" Type="http://schemas.openxmlformats.org/officeDocument/2006/relationships/image" Target="../media/image14.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19.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7.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2.svg"/></Relationships>
</file>

<file path=ppt/slides/_rels/slide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svg"/></Relationships>
</file>

<file path=ppt/slides/_rels/slide10.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 Id="rId9" Type="http://schemas.openxmlformats.org/officeDocument/2006/relationships/image" Target="../media/image36.svg"/></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7.svg"/></Relationships>
</file>

<file path=ppt/slides/_rels/slide12.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svg"/></Relationships>
</file>

<file path=ppt/slides/_rels/slide13.xml.rels><?xml version="1.0" encoding="UTF-8" standalone="yes"?>
<Relationships xmlns="http://schemas.openxmlformats.org/package/2006/relationships"><Relationship Id="rId8" Type="http://schemas.openxmlformats.org/officeDocument/2006/relationships/image" Target="../media/image46.svg"/><Relationship Id="rId3" Type="http://schemas.openxmlformats.org/officeDocument/2006/relationships/image" Target="../media/image42.svg"/><Relationship Id="rId7"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44.svg"/><Relationship Id="rId4" Type="http://schemas.openxmlformats.org/officeDocument/2006/relationships/image" Target="../media/image43.svg"/><Relationship Id="rId9" Type="http://schemas.openxmlformats.org/officeDocument/2006/relationships/image" Target="../media/image25.svg"/></Relationships>
</file>

<file path=ppt/slides/_rels/slide14.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7.svg"/></Relationships>
</file>

<file path=ppt/slides/_rels/slide15.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52.svg"/><Relationship Id="rId4" Type="http://schemas.openxmlformats.org/officeDocument/2006/relationships/image" Target="../media/image51.svg"/></Relationships>
</file>

<file path=ppt/slides/_rels/slide17.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3.svg"/><Relationship Id="rId7" Type="http://schemas.openxmlformats.org/officeDocument/2006/relationships/image" Target="../media/image1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2.svg"/><Relationship Id="rId11" Type="http://schemas.openxmlformats.org/officeDocument/2006/relationships/image" Target="../media/image57.svg"/><Relationship Id="rId5" Type="http://schemas.openxmlformats.org/officeDocument/2006/relationships/image" Target="../media/image54.svg"/><Relationship Id="rId10" Type="http://schemas.openxmlformats.org/officeDocument/2006/relationships/image" Target="../media/image56.svg"/><Relationship Id="rId4" Type="http://schemas.openxmlformats.org/officeDocument/2006/relationships/image" Target="../media/image7.svg"/><Relationship Id="rId9" Type="http://schemas.openxmlformats.org/officeDocument/2006/relationships/image" Target="../media/image26.svg"/></Relationships>
</file>

<file path=ppt/slides/_rels/slide1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58.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0.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59.svg"/><Relationship Id="rId5" Type="http://schemas.openxmlformats.org/officeDocument/2006/relationships/image" Target="../media/image48.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4.svg"/><Relationship Id="rId5" Type="http://schemas.openxmlformats.org/officeDocument/2006/relationships/image" Target="../media/image63.svg"/><Relationship Id="rId4" Type="http://schemas.openxmlformats.org/officeDocument/2006/relationships/image" Target="../media/image62.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016752"/>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10312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sp>
      <p:sp>
        <p:nvSpPr>
          <p:cNvPr id="6" name="Shape 4"/>
          <p:cNvSpPr/>
          <p:nvPr/>
        </p:nvSpPr>
        <p:spPr>
          <a:xfrm>
            <a:off x="1088136" y="2331720"/>
            <a:ext cx="530352" cy="530352"/>
          </a:xfrm>
          <a:prstGeom prst="ellipse">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2459736"/>
            <a:ext cx="274320" cy="274320"/>
          </a:xfrm>
          <a:prstGeom prst="rect">
            <a:avLst/>
          </a:prstGeom>
        </p:spPr>
      </p:pic>
      <p:sp>
        <p:nvSpPr>
          <p:cNvPr id="8" name="Text 5"/>
          <p:cNvSpPr/>
          <p:nvPr/>
        </p:nvSpPr>
        <p:spPr>
          <a:xfrm>
            <a:off x="676656" y="2999232"/>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3328416"/>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85416" y="2907792"/>
            <a:ext cx="283464" cy="0"/>
          </a:xfrm>
          <a:prstGeom prst="line">
            <a:avLst/>
          </a:prstGeom>
          <a:noFill/>
          <a:ln w="25400">
            <a:solidFill>
              <a:srgbClr val="748494"/>
            </a:solidFill>
            <a:prstDash val="solid"/>
            <a:tailEnd type="triangle"/>
          </a:ln>
        </p:spPr>
      </p:sp>
      <p:sp>
        <p:nvSpPr>
          <p:cNvPr id="11" name="Shape 8"/>
          <p:cNvSpPr/>
          <p:nvPr/>
        </p:nvSpPr>
        <p:spPr>
          <a:xfrm>
            <a:off x="2514600" y="210312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sp>
      <p:sp>
        <p:nvSpPr>
          <p:cNvPr id="12" name="Shape 9"/>
          <p:cNvSpPr/>
          <p:nvPr/>
        </p:nvSpPr>
        <p:spPr>
          <a:xfrm>
            <a:off x="3218688" y="2331720"/>
            <a:ext cx="530352" cy="530352"/>
          </a:xfrm>
          <a:prstGeom prst="ellipse">
            <a:avLst/>
          </a:prstGeom>
          <a:solidFill>
            <a:srgbClr val="775DA6"/>
          </a:solidFill>
          <a:ln w="12700">
            <a:solidFill>
              <a:srgbClr val="775DA6"/>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46704" y="2459736"/>
            <a:ext cx="274320" cy="274320"/>
          </a:xfrm>
          <a:prstGeom prst="rect">
            <a:avLst/>
          </a:prstGeom>
        </p:spPr>
      </p:pic>
      <p:sp>
        <p:nvSpPr>
          <p:cNvPr id="14" name="Text 10"/>
          <p:cNvSpPr/>
          <p:nvPr/>
        </p:nvSpPr>
        <p:spPr>
          <a:xfrm>
            <a:off x="2624328" y="2999232"/>
            <a:ext cx="171907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Agent experience</a:t>
            </a:r>
            <a:endParaRPr lang="en-US" sz="1300" dirty="0"/>
          </a:p>
        </p:txBody>
      </p:sp>
      <p:sp>
        <p:nvSpPr>
          <p:cNvPr id="15" name="Text 11"/>
          <p:cNvSpPr/>
          <p:nvPr/>
        </p:nvSpPr>
        <p:spPr>
          <a:xfrm>
            <a:off x="2624328" y="3328416"/>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98848" y="2907792"/>
            <a:ext cx="329184" cy="0"/>
          </a:xfrm>
          <a:prstGeom prst="line">
            <a:avLst/>
          </a:prstGeom>
          <a:noFill/>
          <a:ln w="25400">
            <a:solidFill>
              <a:srgbClr val="748494"/>
            </a:solidFill>
            <a:prstDash val="solid"/>
            <a:tailEnd type="triangle"/>
          </a:ln>
        </p:spPr>
      </p:sp>
      <p:sp>
        <p:nvSpPr>
          <p:cNvPr id="17" name="Shape 13"/>
          <p:cNvSpPr/>
          <p:nvPr/>
        </p:nvSpPr>
        <p:spPr>
          <a:xfrm>
            <a:off x="4873752" y="210312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sp>
      <p:sp>
        <p:nvSpPr>
          <p:cNvPr id="18" name="Shape 14"/>
          <p:cNvSpPr/>
          <p:nvPr/>
        </p:nvSpPr>
        <p:spPr>
          <a:xfrm>
            <a:off x="5591556" y="2331720"/>
            <a:ext cx="530352" cy="530352"/>
          </a:xfrm>
          <a:prstGeom prst="ellipse">
            <a:avLst/>
          </a:prstGeom>
          <a:solidFill>
            <a:srgbClr val="0F8B8D"/>
          </a:solidFill>
          <a:ln w="12700">
            <a:solidFill>
              <a:srgbClr val="0F8B8D"/>
            </a:solidFill>
            <a:prstDash val="solid"/>
          </a:ln>
        </p:spPr>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9572" y="2459736"/>
            <a:ext cx="274320" cy="274320"/>
          </a:xfrm>
          <a:prstGeom prst="rect">
            <a:avLst/>
          </a:prstGeom>
        </p:spPr>
      </p:pic>
      <p:sp>
        <p:nvSpPr>
          <p:cNvPr id="20" name="Text 15"/>
          <p:cNvSpPr/>
          <p:nvPr/>
        </p:nvSpPr>
        <p:spPr>
          <a:xfrm>
            <a:off x="4983480" y="2999232"/>
            <a:ext cx="174650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APIM MCP server</a:t>
            </a:r>
            <a:endParaRPr lang="en-US" sz="1300" dirty="0"/>
          </a:p>
        </p:txBody>
      </p:sp>
      <p:sp>
        <p:nvSpPr>
          <p:cNvPr id="21" name="Text 16"/>
          <p:cNvSpPr/>
          <p:nvPr/>
        </p:nvSpPr>
        <p:spPr>
          <a:xfrm>
            <a:off x="4983480" y="3328416"/>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85432" y="2907792"/>
            <a:ext cx="338328" cy="0"/>
          </a:xfrm>
          <a:prstGeom prst="line">
            <a:avLst/>
          </a:prstGeom>
          <a:noFill/>
          <a:ln w="25400">
            <a:solidFill>
              <a:srgbClr val="748494"/>
            </a:solidFill>
            <a:prstDash val="solid"/>
            <a:tailEnd type="triangle"/>
          </a:ln>
        </p:spPr>
      </p:sp>
      <p:sp>
        <p:nvSpPr>
          <p:cNvPr id="23" name="Shape 18"/>
          <p:cNvSpPr/>
          <p:nvPr/>
        </p:nvSpPr>
        <p:spPr>
          <a:xfrm>
            <a:off x="7269480" y="210312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sp>
      <p:sp>
        <p:nvSpPr>
          <p:cNvPr id="24" name="Shape 19"/>
          <p:cNvSpPr/>
          <p:nvPr/>
        </p:nvSpPr>
        <p:spPr>
          <a:xfrm>
            <a:off x="7941564" y="2331720"/>
            <a:ext cx="530352" cy="530352"/>
          </a:xfrm>
          <a:prstGeom prst="ellipse">
            <a:avLst/>
          </a:prstGeom>
          <a:solidFill>
            <a:srgbClr val="4F8EF7"/>
          </a:solidFill>
          <a:ln w="12700">
            <a:solidFill>
              <a:srgbClr val="4F8EF7"/>
            </a:solidFill>
            <a:prstDash val="solid"/>
          </a:ln>
        </p:spPr>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69580" y="2459736"/>
            <a:ext cx="274320" cy="274320"/>
          </a:xfrm>
          <a:prstGeom prst="rect">
            <a:avLst/>
          </a:prstGeom>
        </p:spPr>
      </p:pic>
      <p:sp>
        <p:nvSpPr>
          <p:cNvPr id="26" name="Text 20"/>
          <p:cNvSpPr/>
          <p:nvPr/>
        </p:nvSpPr>
        <p:spPr>
          <a:xfrm>
            <a:off x="7379208" y="2999232"/>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3328416"/>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89720" y="2907792"/>
            <a:ext cx="338328" cy="0"/>
          </a:xfrm>
          <a:prstGeom prst="line">
            <a:avLst/>
          </a:prstGeom>
          <a:noFill/>
          <a:ln w="25400">
            <a:solidFill>
              <a:srgbClr val="748494"/>
            </a:solidFill>
            <a:prstDash val="solid"/>
            <a:tailEnd type="triangle"/>
          </a:ln>
        </p:spPr>
      </p:sp>
      <p:sp>
        <p:nvSpPr>
          <p:cNvPr id="29" name="Shape 23"/>
          <p:cNvSpPr/>
          <p:nvPr/>
        </p:nvSpPr>
        <p:spPr>
          <a:xfrm>
            <a:off x="9573768" y="210312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sp>
      <p:sp>
        <p:nvSpPr>
          <p:cNvPr id="30" name="Shape 24"/>
          <p:cNvSpPr/>
          <p:nvPr/>
        </p:nvSpPr>
        <p:spPr>
          <a:xfrm>
            <a:off x="10323576" y="2331720"/>
            <a:ext cx="530352" cy="530352"/>
          </a:xfrm>
          <a:prstGeom prst="ellipse">
            <a:avLst/>
          </a:prstGeom>
          <a:solidFill>
            <a:srgbClr val="F4B942"/>
          </a:solidFill>
          <a:ln w="12700">
            <a:solidFill>
              <a:srgbClr val="F4B942"/>
            </a:solidFill>
            <a:prstDash val="solid"/>
          </a:ln>
        </p:spPr>
      </p:sp>
      <p:pic>
        <p:nvPicPr>
          <p:cNvPr id="3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451592" y="2459736"/>
            <a:ext cx="274320" cy="274320"/>
          </a:xfrm>
          <a:prstGeom prst="rect">
            <a:avLst/>
          </a:prstGeom>
        </p:spPr>
      </p:pic>
      <p:sp>
        <p:nvSpPr>
          <p:cNvPr id="32" name="Text 25"/>
          <p:cNvSpPr/>
          <p:nvPr/>
        </p:nvSpPr>
        <p:spPr>
          <a:xfrm>
            <a:off x="9683496" y="2999232"/>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3328416"/>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sp>
        <p:nvSpPr>
          <p:cNvPr id="34" name="Shape 27"/>
          <p:cNvSpPr/>
          <p:nvPr/>
        </p:nvSpPr>
        <p:spPr>
          <a:xfrm>
            <a:off x="4407408" y="4224528"/>
            <a:ext cx="2926080" cy="1042416"/>
          </a:xfrm>
          <a:prstGeom prst="roundRect">
            <a:avLst/>
          </a:prstGeom>
          <a:solidFill>
            <a:srgbClr val="102A43"/>
          </a:solidFill>
          <a:ln w="12700">
            <a:solidFill>
              <a:srgbClr val="102A43"/>
            </a:solidFill>
            <a:prstDash val="solid"/>
          </a:ln>
        </p:spPr>
      </p:sp>
      <p:pic>
        <p:nvPicPr>
          <p:cNvPr id="3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45152" y="4480560"/>
            <a:ext cx="347472" cy="347472"/>
          </a:xfrm>
          <a:prstGeom prst="rect">
            <a:avLst/>
          </a:prstGeom>
        </p:spPr>
      </p:pic>
      <p:sp>
        <p:nvSpPr>
          <p:cNvPr id="36" name="Text 28"/>
          <p:cNvSpPr/>
          <p:nvPr/>
        </p:nvSpPr>
        <p:spPr>
          <a:xfrm>
            <a:off x="5120640" y="4370832"/>
            <a:ext cx="1938528" cy="228600"/>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Policies and approvals</a:t>
            </a:r>
            <a:endParaRPr lang="en-US" sz="1400" dirty="0"/>
          </a:p>
        </p:txBody>
      </p:sp>
      <p:sp>
        <p:nvSpPr>
          <p:cNvPr id="37" name="Text 29"/>
          <p:cNvSpPr/>
          <p:nvPr/>
        </p:nvSpPr>
        <p:spPr>
          <a:xfrm>
            <a:off x="5120640" y="4645152"/>
            <a:ext cx="1901952" cy="393192"/>
          </a:xfrm>
          <a:prstGeom prst="rect">
            <a:avLst/>
          </a:prstGeom>
          <a:noFill/>
          <a:ln/>
        </p:spPr>
        <p:txBody>
          <a:bodyPr wrap="square" lIns="0" tIns="0" rIns="0" bIns="0" rtlCol="0" anchor="ctr">
            <a:normAutofit/>
          </a:bodyPr>
          <a:lstStyle/>
          <a:p>
            <a:pPr marL="0" indent="0">
              <a:buNone/>
            </a:pPr>
            <a:r>
              <a:rPr lang="en-US" sz="870" dirty="0">
                <a:solidFill>
                  <a:srgbClr val="DDEAF2"/>
                </a:solidFill>
                <a:latin typeface="Aptos" pitchFamily="34" charset="0"/>
                <a:ea typeface="Aptos" pitchFamily="34" charset="-122"/>
                <a:cs typeface="Aptos" pitchFamily="34" charset="-120"/>
              </a:rPr>
              <a:t>Authentication, rate limits, correlation, tracing, logging, and state-change consent</a:t>
            </a:r>
            <a:endParaRPr lang="en-US" sz="870" dirty="0"/>
          </a:p>
        </p:txBody>
      </p:sp>
      <p:sp>
        <p:nvSpPr>
          <p:cNvPr id="38" name="Shape 30"/>
          <p:cNvSpPr/>
          <p:nvPr/>
        </p:nvSpPr>
        <p:spPr>
          <a:xfrm>
            <a:off x="5870448" y="3758184"/>
            <a:ext cx="0" cy="457200"/>
          </a:xfrm>
          <a:prstGeom prst="line">
            <a:avLst/>
          </a:prstGeom>
          <a:noFill/>
          <a:ln w="25400">
            <a:solidFill>
              <a:srgbClr val="5BD6C5"/>
            </a:solidFill>
            <a:prstDash val="solid"/>
            <a:headEnd type="triangle"/>
          </a:ln>
        </p:spPr>
      </p:sp>
      <p:sp>
        <p:nvSpPr>
          <p:cNvPr id="39" name="Shape 31"/>
          <p:cNvSpPr/>
          <p:nvPr/>
        </p:nvSpPr>
        <p:spPr>
          <a:xfrm>
            <a:off x="7680960" y="4224528"/>
            <a:ext cx="2880360" cy="1042416"/>
          </a:xfrm>
          <a:prstGeom prst="roundRect">
            <a:avLst/>
          </a:prstGeom>
          <a:solidFill>
            <a:srgbClr val="FFFFFF"/>
          </a:solidFill>
          <a:ln w="12700">
            <a:solidFill>
              <a:srgbClr val="DDE6EC"/>
            </a:solidFill>
            <a:prstDash val="solid"/>
          </a:ln>
        </p:spPr>
      </p:sp>
      <p:pic>
        <p:nvPicPr>
          <p:cNvPr id="40"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36992" y="4480560"/>
            <a:ext cx="329184" cy="329184"/>
          </a:xfrm>
          <a:prstGeom prst="rect">
            <a:avLst/>
          </a:prstGeom>
        </p:spPr>
      </p:pic>
      <p:sp>
        <p:nvSpPr>
          <p:cNvPr id="41" name="Text 32"/>
          <p:cNvSpPr/>
          <p:nvPr/>
        </p:nvSpPr>
        <p:spPr>
          <a:xfrm>
            <a:off x="8394192" y="4370832"/>
            <a:ext cx="1874520" cy="228600"/>
          </a:xfrm>
          <a:prstGeom prst="rect">
            <a:avLst/>
          </a:prstGeom>
          <a:noFill/>
          <a:ln/>
        </p:spPr>
        <p:txBody>
          <a:bodyPr wrap="square" lIns="0" tIns="0" rIns="0" bIns="0" rtlCol="0" anchor="ctr">
            <a:normAutofit/>
          </a:bodyP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Azure Monitor + App Insights</a:t>
            </a:r>
            <a:endParaRPr lang="en-US" sz="1300" dirty="0"/>
          </a:p>
        </p:txBody>
      </p:sp>
      <p:sp>
        <p:nvSpPr>
          <p:cNvPr id="42" name="Text 33"/>
          <p:cNvSpPr/>
          <p:nvPr/>
        </p:nvSpPr>
        <p:spPr>
          <a:xfrm>
            <a:off x="8394192" y="4645152"/>
            <a:ext cx="1874520" cy="36576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Aptos" pitchFamily="34" charset="0"/>
                <a:ea typeface="Aptos" pitchFamily="34" charset="-122"/>
                <a:cs typeface="Aptos" pitchFamily="34" charset="-120"/>
              </a:rPr>
              <a:t>Latency, failures, usage, request correlation, and audit evidence</a:t>
            </a:r>
            <a:endParaRPr lang="en-US" sz="870" dirty="0"/>
          </a:p>
        </p:txBody>
      </p:sp>
      <p:sp>
        <p:nvSpPr>
          <p:cNvPr id="43" name="Shape 34"/>
          <p:cNvSpPr/>
          <p:nvPr/>
        </p:nvSpPr>
        <p:spPr>
          <a:xfrm>
            <a:off x="6858000" y="3749040"/>
            <a:ext cx="1691640" cy="475488"/>
          </a:xfrm>
          <a:prstGeom prst="line">
            <a:avLst/>
          </a:prstGeom>
          <a:noFill/>
          <a:ln w="19050">
            <a:solidFill>
              <a:srgbClr val="FF7A59"/>
            </a:solidFill>
            <a:prstDash val="solid"/>
            <a:tailEnd type="triangle"/>
          </a:ln>
        </p:spPr>
      </p:sp>
      <p:sp>
        <p:nvSpPr>
          <p:cNvPr id="44" name="Text 3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Architecture: intent stays with the agent, controls stay at the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sp>
      <p:sp>
        <p:nvSpPr>
          <p:cNvPr id="21" name="Shape 19"/>
          <p:cNvSpPr/>
          <p:nvPr/>
        </p:nvSpPr>
        <p:spPr>
          <a:xfrm>
            <a:off x="7626096" y="2953512"/>
            <a:ext cx="731520" cy="0"/>
          </a:xfrm>
          <a:prstGeom prst="line">
            <a:avLst/>
          </a:prstGeom>
          <a:noFill/>
          <a:ln w="25400">
            <a:solidFill>
              <a:srgbClr val="748494"/>
            </a:solidFill>
            <a:prstDash val="solid"/>
            <a:tailEnd type="triangle"/>
          </a:ln>
        </p:spPr>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VALIDATION CHECKPOINT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two views to test the same Responses endpoint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Command-line calls prove behavior. Agent Inspector makes the run understandable.</a:t>
            </a:r>
            <a:endParaRPr lang="en-US" sz="1250" dirty="0"/>
          </a:p>
        </p:txBody>
      </p:sp>
      <p:sp>
        <p:nvSpPr>
          <p:cNvPr id="5" name="Shape 3"/>
          <p:cNvSpPr/>
          <p:nvPr/>
        </p:nvSpPr>
        <p:spPr>
          <a:xfrm>
            <a:off x="658368"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847088"/>
            <a:ext cx="73152" cy="3337560"/>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29968"/>
            <a:ext cx="347472" cy="347472"/>
          </a:xfrm>
          <a:prstGeom prst="rect">
            <a:avLst/>
          </a:prstGeom>
        </p:spPr>
      </p:pic>
      <p:sp>
        <p:nvSpPr>
          <p:cNvPr id="8" name="Text 5"/>
          <p:cNvSpPr/>
          <p:nvPr/>
        </p:nvSpPr>
        <p:spPr>
          <a:xfrm>
            <a:off x="1353312"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PowerShell smoke test</a:t>
            </a:r>
            <a:endParaRPr lang="en-US" sz="1500" dirty="0"/>
          </a:p>
        </p:txBody>
      </p:sp>
      <p:sp>
        <p:nvSpPr>
          <p:cNvPr id="9" name="Text 6"/>
          <p:cNvSpPr/>
          <p:nvPr/>
        </p:nvSpPr>
        <p:spPr>
          <a:xfrm>
            <a:off x="877824"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Start the agent on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Send a Responses request with a work-request prompt.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Confirm the model selects the expected MCP tool and returns a grounded recommendation.</a:t>
            </a:r>
            <a:endParaRPr lang="en-US" sz="1050" dirty="0"/>
          </a:p>
        </p:txBody>
      </p:sp>
      <p:sp>
        <p:nvSpPr>
          <p:cNvPr id="10" name="Shape 7"/>
          <p:cNvSpPr/>
          <p:nvPr/>
        </p:nvSpPr>
        <p:spPr>
          <a:xfrm>
            <a:off x="987552" y="4151376"/>
            <a:ext cx="4407408" cy="640080"/>
          </a:xfrm>
          <a:prstGeom prst="roundRect">
            <a:avLst/>
          </a:prstGeom>
          <a:solidFill>
            <a:srgbClr val="102A43"/>
          </a:solidFill>
          <a:ln w="12700">
            <a:solidFill>
              <a:srgbClr val="102A43"/>
            </a:solidFill>
            <a:prstDash val="solid"/>
          </a:ln>
        </p:spPr>
      </p:sp>
      <p:sp>
        <p:nvSpPr>
          <p:cNvPr id="11" name="Text 8"/>
          <p:cNvSpPr/>
          <p:nvPr/>
        </p:nvSpPr>
        <p:spPr>
          <a:xfrm>
            <a:off x="1170432" y="4370832"/>
            <a:ext cx="4041648" cy="182880"/>
          </a:xfrm>
          <a:prstGeom prst="rect">
            <a:avLst/>
          </a:prstGeom>
          <a:noFill/>
          <a:ln/>
        </p:spPr>
        <p:txBody>
          <a:bodyPr wrap="square" lIns="0" tIns="0" rIns="0" bIns="0" rtlCol="0" anchor="ctr"/>
          <a:lstStyle/>
          <a:p>
            <a:pPr marL="0" indent="0" algn="ctr">
              <a:buNone/>
            </a:pPr>
            <a:r>
              <a:rPr lang="en-US" sz="1050" dirty="0">
                <a:solidFill>
                  <a:srgbClr val="5BD6C5"/>
                </a:solidFill>
                <a:latin typeface="Consolas" pitchFamily="34" charset="0"/>
                <a:ea typeface="Consolas" pitchFamily="34" charset="-122"/>
                <a:cs typeface="Consolas" pitchFamily="34" charset="-120"/>
              </a:rPr>
              <a:t>http://localhost:8090/v1/responses</a:t>
            </a:r>
            <a:endParaRPr lang="en-US" sz="1050" dirty="0"/>
          </a:p>
        </p:txBody>
      </p:sp>
      <p:sp>
        <p:nvSpPr>
          <p:cNvPr id="12" name="Shape 9"/>
          <p:cNvSpPr/>
          <p:nvPr/>
        </p:nvSpPr>
        <p:spPr>
          <a:xfrm>
            <a:off x="6437376"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3" name="Shape 10"/>
          <p:cNvSpPr/>
          <p:nvPr/>
        </p:nvSpPr>
        <p:spPr>
          <a:xfrm>
            <a:off x="6437376" y="1847088"/>
            <a:ext cx="73152" cy="3337560"/>
          </a:xfrm>
          <a:prstGeom prst="rect">
            <a:avLst/>
          </a:prstGeom>
          <a:solidFill>
            <a:srgbClr val="775DA6"/>
          </a:solidFill>
          <a:ln w="12700">
            <a:solidFill>
              <a:srgbClr val="775DA6"/>
            </a:solidFill>
            <a:prstDash val="solid"/>
          </a:ln>
        </p:spPr>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029968"/>
            <a:ext cx="347472" cy="347472"/>
          </a:xfrm>
          <a:prstGeom prst="rect">
            <a:avLst/>
          </a:prstGeom>
        </p:spPr>
      </p:pic>
      <p:sp>
        <p:nvSpPr>
          <p:cNvPr id="15" name="Text 11"/>
          <p:cNvSpPr/>
          <p:nvPr/>
        </p:nvSpPr>
        <p:spPr>
          <a:xfrm>
            <a:off x="7132320"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Foundry Agent Inspector</a:t>
            </a:r>
            <a:endParaRPr lang="en-US" sz="1500" dirty="0"/>
          </a:p>
        </p:txBody>
      </p:sp>
      <p:sp>
        <p:nvSpPr>
          <p:cNvPr id="16" name="Text 12"/>
          <p:cNvSpPr/>
          <p:nvPr/>
        </p:nvSpPr>
        <p:spPr>
          <a:xfrm>
            <a:off x="6656832"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the Foundry Toolkit to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Inspect model input, tool discovery, tool calls, approvals, and the final response in one visual run.</a:t>
            </a:r>
            <a:endParaRPr lang="en-US" sz="1050" dirty="0"/>
          </a:p>
        </p:txBody>
      </p:sp>
      <p:sp>
        <p:nvSpPr>
          <p:cNvPr id="17" name="Shape 13"/>
          <p:cNvSpPr/>
          <p:nvPr/>
        </p:nvSpPr>
        <p:spPr>
          <a:xfrm>
            <a:off x="6766560" y="4151376"/>
            <a:ext cx="4407408" cy="640080"/>
          </a:xfrm>
          <a:prstGeom prst="roundRect">
            <a:avLst/>
          </a:prstGeom>
          <a:solidFill>
            <a:srgbClr val="EEE8F7"/>
          </a:solidFill>
          <a:ln w="12700">
            <a:solidFill>
              <a:srgbClr val="775DA6"/>
            </a:solidFill>
            <a:prstDash val="solid"/>
          </a:ln>
        </p:spPr>
      </p:sp>
      <p:sp>
        <p:nvSpPr>
          <p:cNvPr id="18" name="Text 14"/>
          <p:cNvSpPr/>
          <p:nvPr/>
        </p:nvSpPr>
        <p:spPr>
          <a:xfrm>
            <a:off x="6949440" y="4370832"/>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Toolkit: Open Agent Inspector</a:t>
            </a:r>
            <a:endParaRPr lang="en-US" sz="1050" dirty="0"/>
          </a:p>
        </p:txBody>
      </p:sp>
      <p:sp>
        <p:nvSpPr>
          <p:cNvPr id="19" name="Shape 15"/>
          <p:cNvSpPr/>
          <p:nvPr/>
        </p:nvSpPr>
        <p:spPr>
          <a:xfrm>
            <a:off x="2148840" y="5413248"/>
            <a:ext cx="7909560" cy="402336"/>
          </a:xfrm>
          <a:prstGeom prst="roundRect">
            <a:avLst/>
          </a:prstGeom>
          <a:solidFill>
            <a:srgbClr val="FFF4D7"/>
          </a:solidFill>
          <a:ln w="12700">
            <a:solidFill>
              <a:srgbClr val="F4B942"/>
            </a:solidFill>
            <a:prstDash val="solid"/>
          </a:ln>
        </p:spPr>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504688"/>
            <a:ext cx="210312" cy="210312"/>
          </a:xfrm>
          <a:prstGeom prst="rect">
            <a:avLst/>
          </a:prstGeom>
        </p:spPr>
      </p:pic>
      <p:sp>
        <p:nvSpPr>
          <p:cNvPr id="21" name="Text 16"/>
          <p:cNvSpPr/>
          <p:nvPr/>
        </p:nvSpPr>
        <p:spPr>
          <a:xfrm>
            <a:off x="2724912" y="5522976"/>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sp>
      <p:sp>
        <p:nvSpPr>
          <p:cNvPr id="10" name="Shape 7"/>
          <p:cNvSpPr/>
          <p:nvPr/>
        </p:nvSpPr>
        <p:spPr>
          <a:xfrm>
            <a:off x="3657600" y="4160520"/>
            <a:ext cx="914400" cy="594360"/>
          </a:xfrm>
          <a:prstGeom prst="line">
            <a:avLst/>
          </a:prstGeom>
          <a:noFill/>
          <a:ln w="25400">
            <a:solidFill>
              <a:srgbClr val="F4B942"/>
            </a:solidFill>
            <a:prstDash val="solid"/>
            <a:tailEnd type="triangle"/>
          </a:ln>
        </p:spPr>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26930" y="2357120"/>
            <a:ext cx="713232" cy="713232"/>
          </a:xfrm>
          <a:prstGeom prst="rect">
            <a:avLst/>
          </a:prstGeom>
        </p:spPr>
      </p:pic>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32" name="Path A Merge">
            <a:extLst>
              <a:ext uri="{FF2B5EF4-FFF2-40B4-BE49-F238E27FC236}">
                <a16:creationId xmlns:a16="http://schemas.microsoft.com/office/drawing/2014/main" id="{8ED5DBD5-75C2-391A-41F7-74BAE2B20076}"/>
              </a:ext>
            </a:extLst>
          </p:cNvPr>
          <p:cNvCxnSpPr/>
          <p:nvPr/>
        </p:nvCxnSpPr>
        <p:spPr>
          <a:xfrm>
            <a:off x="7388860" y="2580640"/>
            <a:ext cx="815340" cy="988060"/>
          </a:xfrm>
          <a:prstGeom prst="line">
            <a:avLst/>
          </a:prstGeom>
          <a:ln w="19050">
            <a:solidFill>
              <a:srgbClr val="4F8BEF"/>
            </a:solidFill>
          </a:ln>
        </p:spPr>
        <p:style>
          <a:lnRef idx="1">
            <a:schemeClr val="accent1"/>
          </a:lnRef>
          <a:fillRef idx="0">
            <a:schemeClr val="accent1"/>
          </a:fillRef>
          <a:effectRef idx="0">
            <a:schemeClr val="accent1"/>
          </a:effectRef>
          <a:fontRef idx="minor">
            <a:schemeClr val="tx1"/>
          </a:fontRef>
        </p:style>
      </p:cxnSp>
      <p:cxnSp>
        <p:nvCxnSpPr>
          <p:cNvPr id="33" name="Path B Merge">
            <a:extLst>
              <a:ext uri="{FF2B5EF4-FFF2-40B4-BE49-F238E27FC236}">
                <a16:creationId xmlns:a16="http://schemas.microsoft.com/office/drawing/2014/main" id="{F0A31E5F-A2DC-0CE6-ABA3-755073804560}"/>
              </a:ext>
            </a:extLst>
          </p:cNvPr>
          <p:cNvCxnSpPr/>
          <p:nvPr/>
        </p:nvCxnSpPr>
        <p:spPr>
          <a:xfrm flipV="1">
            <a:off x="7388860" y="3568700"/>
            <a:ext cx="815340" cy="1085850"/>
          </a:xfrm>
          <a:prstGeom prst="line">
            <a:avLst/>
          </a:prstGeom>
          <a:ln w="19050">
            <a:solidFill>
              <a:srgbClr val="008B8B"/>
            </a:solidFill>
          </a:ln>
        </p:spPr>
        <p:style>
          <a:lnRef idx="1">
            <a:schemeClr val="accent1"/>
          </a:lnRef>
          <a:fillRef idx="0">
            <a:schemeClr val="accent1"/>
          </a:fillRef>
          <a:effectRef idx="0">
            <a:schemeClr val="accent1"/>
          </a:effectRef>
          <a:fontRef idx="minor">
            <a:schemeClr val="tx1"/>
          </a:fontRef>
        </p:style>
      </p:cxnSp>
      <p:cxnSp>
        <p:nvCxnSpPr>
          <p:cNvPr id="34" name="Shared Target Arrow">
            <a:extLst>
              <a:ext uri="{FF2B5EF4-FFF2-40B4-BE49-F238E27FC236}">
                <a16:creationId xmlns:a16="http://schemas.microsoft.com/office/drawing/2014/main" id="{8AC23DF8-2986-6446-63AA-C903017D2F62}"/>
              </a:ext>
            </a:extLst>
          </p:cNvPr>
          <p:cNvCxnSpPr/>
          <p:nvPr/>
        </p:nvCxnSpPr>
        <p:spPr>
          <a:xfrm>
            <a:off x="8204200" y="3568700"/>
            <a:ext cx="419100" cy="0"/>
          </a:xfrm>
          <a:prstGeom prst="line">
            <a:avLst/>
          </a:prstGeom>
          <a:ln w="22225">
            <a:solidFill>
              <a:srgbClr val="12304A"/>
            </a:solidFill>
            <a:tailEnd type="triangle"/>
          </a:ln>
        </p:spPr>
        <p:style>
          <a:lnRef idx="1">
            <a:schemeClr val="accent1"/>
          </a:lnRef>
          <a:fillRef idx="0">
            <a:schemeClr val="accent1"/>
          </a:fillRef>
          <a:effectRef idx="0">
            <a:schemeClr val="accent1"/>
          </a:effectRef>
          <a:fontRef idx="minor">
            <a:schemeClr val="tx1"/>
          </a:fontRef>
        </p:style>
      </p:cxnSp>
      <p:sp>
        <p:nvSpPr>
          <p:cNvPr id="35" name="Path Merge Junction">
            <a:extLst>
              <a:ext uri="{FF2B5EF4-FFF2-40B4-BE49-F238E27FC236}">
                <a16:creationId xmlns:a16="http://schemas.microsoft.com/office/drawing/2014/main" id="{04051500-A30C-FFF9-91D7-C23CAB22013D}"/>
              </a:ext>
            </a:extLst>
          </p:cNvPr>
          <p:cNvSpPr/>
          <p:nvPr/>
        </p:nvSpPr>
        <p:spPr>
          <a:xfrm>
            <a:off x="8159750" y="3524250"/>
            <a:ext cx="88900" cy="88900"/>
          </a:xfrm>
          <a:prstGeom prst="ellipse">
            <a:avLst/>
          </a:prstGeom>
          <a:solidFill>
            <a:srgbClr val="12304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3174</Words>
  <Application>Microsoft Office PowerPoint</Application>
  <PresentationFormat>Widescreen</PresentationFormat>
  <Paragraphs>454</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2026-09-25T18:09:34Z</dcterms:modified>
</cp:coreProperties>
</file>