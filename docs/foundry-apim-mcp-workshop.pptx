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methods. PowerShell is the fastest pass or fail check. Agent Inspector is the teaching view because it exposes the complete run and approval behavior.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44.svg"/><Relationship Id="rId4" Type="http://schemas.openxmlformats.org/officeDocument/2006/relationships/image" Target="../media/image43.svg"/><Relationship Id="rId9" Type="http://schemas.openxmlformats.org/officeDocument/2006/relationships/image" Target="../media/image25.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sp>
      <p:sp>
        <p:nvSpPr>
          <p:cNvPr id="21" name="Shape 19"/>
          <p:cNvSpPr/>
          <p:nvPr/>
        </p:nvSpPr>
        <p:spPr>
          <a:xfrm>
            <a:off x="7626096" y="2953512"/>
            <a:ext cx="731520" cy="0"/>
          </a:xfrm>
          <a:prstGeom prst="line">
            <a:avLst/>
          </a:prstGeom>
          <a:noFill/>
          <a:ln w="25400">
            <a:solidFill>
              <a:srgbClr val="748494"/>
            </a:solidFill>
            <a:prstDash val="solid"/>
            <a:tailEnd type="triangle"/>
          </a:ln>
        </p:spPr>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VALIDATION CHECKPOINT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two views to test the same Responses endpoint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Command-line calls prove behavior. Agent Inspector makes the run understandable.</a:t>
            </a:r>
            <a:endParaRPr lang="en-US" sz="1250" dirty="0"/>
          </a:p>
        </p:txBody>
      </p:sp>
      <p:sp>
        <p:nvSpPr>
          <p:cNvPr id="5" name="Shape 3"/>
          <p:cNvSpPr/>
          <p:nvPr/>
        </p:nvSpPr>
        <p:spPr>
          <a:xfrm>
            <a:off x="658368"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47088"/>
            <a:ext cx="73152" cy="333756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29968"/>
            <a:ext cx="347472" cy="347472"/>
          </a:xfrm>
          <a:prstGeom prst="rect">
            <a:avLst/>
          </a:prstGeom>
        </p:spPr>
      </p:pic>
      <p:sp>
        <p:nvSpPr>
          <p:cNvPr id="8" name="Text 5"/>
          <p:cNvSpPr/>
          <p:nvPr/>
        </p:nvSpPr>
        <p:spPr>
          <a:xfrm>
            <a:off x="1353312"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PowerShell smoke test</a:t>
            </a:r>
            <a:endParaRPr lang="en-US" sz="1500" dirty="0"/>
          </a:p>
        </p:txBody>
      </p:sp>
      <p:sp>
        <p:nvSpPr>
          <p:cNvPr id="9" name="Text 6"/>
          <p:cNvSpPr/>
          <p:nvPr/>
        </p:nvSpPr>
        <p:spPr>
          <a:xfrm>
            <a:off x="877824"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Start the agent on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Send a Responses request with a work-request prompt.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Confirm the model selects the expected MCP tool and returns a grounded recommendation.</a:t>
            </a:r>
            <a:endParaRPr lang="en-US" sz="1050" dirty="0"/>
          </a:p>
        </p:txBody>
      </p:sp>
      <p:sp>
        <p:nvSpPr>
          <p:cNvPr id="10" name="Shape 7"/>
          <p:cNvSpPr/>
          <p:nvPr/>
        </p:nvSpPr>
        <p:spPr>
          <a:xfrm>
            <a:off x="987552" y="4151376"/>
            <a:ext cx="4407408" cy="640080"/>
          </a:xfrm>
          <a:prstGeom prst="roundRect">
            <a:avLst/>
          </a:prstGeom>
          <a:solidFill>
            <a:srgbClr val="102A43"/>
          </a:solidFill>
          <a:ln w="12700">
            <a:solidFill>
              <a:srgbClr val="102A43"/>
            </a:solidFill>
            <a:prstDash val="solid"/>
          </a:ln>
        </p:spPr>
      </p:sp>
      <p:sp>
        <p:nvSpPr>
          <p:cNvPr id="11" name="Text 8"/>
          <p:cNvSpPr/>
          <p:nvPr/>
        </p:nvSpPr>
        <p:spPr>
          <a:xfrm>
            <a:off x="1170432" y="4370832"/>
            <a:ext cx="4041648" cy="182880"/>
          </a:xfrm>
          <a:prstGeom prst="rect">
            <a:avLst/>
          </a:prstGeom>
          <a:noFill/>
          <a:ln/>
        </p:spPr>
        <p:txBody>
          <a:bodyPr wrap="square" lIns="0" tIns="0" rIns="0" bIns="0" rtlCol="0" anchor="ctr"/>
          <a:lstStyle/>
          <a:p>
            <a:pPr marL="0" indent="0" algn="ctr">
              <a:buNone/>
            </a:pPr>
            <a:r>
              <a:rPr lang="en-US" sz="1050" dirty="0">
                <a:solidFill>
                  <a:srgbClr val="5BD6C5"/>
                </a:solidFill>
                <a:latin typeface="Consolas" pitchFamily="34" charset="0"/>
                <a:ea typeface="Consolas" pitchFamily="34" charset="-122"/>
                <a:cs typeface="Consolas" pitchFamily="34" charset="-120"/>
              </a:rPr>
              <a:t>http://localhost:8090/v1/responses</a:t>
            </a:r>
            <a:endParaRPr lang="en-US" sz="1050" dirty="0"/>
          </a:p>
        </p:txBody>
      </p:sp>
      <p:sp>
        <p:nvSpPr>
          <p:cNvPr id="12" name="Shape 9"/>
          <p:cNvSpPr/>
          <p:nvPr/>
        </p:nvSpPr>
        <p:spPr>
          <a:xfrm>
            <a:off x="6437376"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3" name="Shape 10"/>
          <p:cNvSpPr/>
          <p:nvPr/>
        </p:nvSpPr>
        <p:spPr>
          <a:xfrm>
            <a:off x="6437376" y="1847088"/>
            <a:ext cx="73152" cy="3337560"/>
          </a:xfrm>
          <a:prstGeom prst="rect">
            <a:avLst/>
          </a:prstGeom>
          <a:solidFill>
            <a:srgbClr val="775DA6"/>
          </a:solidFill>
          <a:ln w="12700">
            <a:solidFill>
              <a:srgbClr val="775DA6"/>
            </a:solidFill>
            <a:prstDash val="solid"/>
          </a:ln>
        </p:spPr>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029968"/>
            <a:ext cx="347472" cy="347472"/>
          </a:xfrm>
          <a:prstGeom prst="rect">
            <a:avLst/>
          </a:prstGeom>
        </p:spPr>
      </p:pic>
      <p:sp>
        <p:nvSpPr>
          <p:cNvPr id="15" name="Text 11"/>
          <p:cNvSpPr/>
          <p:nvPr/>
        </p:nvSpPr>
        <p:spPr>
          <a:xfrm>
            <a:off x="7132320"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Foundry Agent Inspector</a:t>
            </a:r>
            <a:endParaRPr lang="en-US" sz="1500" dirty="0"/>
          </a:p>
        </p:txBody>
      </p:sp>
      <p:sp>
        <p:nvSpPr>
          <p:cNvPr id="16" name="Text 12"/>
          <p:cNvSpPr/>
          <p:nvPr/>
        </p:nvSpPr>
        <p:spPr>
          <a:xfrm>
            <a:off x="6656832"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the Foundry Toolkit to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Inspect model input, tool discovery, tool calls, approvals, and the final response in one visual run.</a:t>
            </a:r>
            <a:endParaRPr lang="en-US" sz="1050" dirty="0"/>
          </a:p>
        </p:txBody>
      </p:sp>
      <p:sp>
        <p:nvSpPr>
          <p:cNvPr id="17" name="Shape 13"/>
          <p:cNvSpPr/>
          <p:nvPr/>
        </p:nvSpPr>
        <p:spPr>
          <a:xfrm>
            <a:off x="6766560" y="4151376"/>
            <a:ext cx="4407408" cy="640080"/>
          </a:xfrm>
          <a:prstGeom prst="roundRect">
            <a:avLst/>
          </a:prstGeom>
          <a:solidFill>
            <a:srgbClr val="EEE8F7"/>
          </a:solidFill>
          <a:ln w="12700">
            <a:solidFill>
              <a:srgbClr val="775DA6"/>
            </a:solidFill>
            <a:prstDash val="solid"/>
          </a:ln>
        </p:spPr>
      </p:sp>
      <p:sp>
        <p:nvSpPr>
          <p:cNvPr id="18" name="Text 14"/>
          <p:cNvSpPr/>
          <p:nvPr/>
        </p:nvSpPr>
        <p:spPr>
          <a:xfrm>
            <a:off x="6949440" y="4370832"/>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413248"/>
            <a:ext cx="7909560" cy="402336"/>
          </a:xfrm>
          <a:prstGeom prst="roundRect">
            <a:avLst/>
          </a:prstGeom>
          <a:solidFill>
            <a:srgbClr val="FFF4D7"/>
          </a:solidFill>
          <a:ln w="12700">
            <a:solidFill>
              <a:srgbClr val="F4B942"/>
            </a:solidFill>
            <a:prstDash val="solid"/>
          </a:ln>
        </p:spPr>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504688"/>
            <a:ext cx="210312" cy="210312"/>
          </a:xfrm>
          <a:prstGeom prst="rect">
            <a:avLst/>
          </a:prstGeom>
        </p:spPr>
      </p:pic>
      <p:sp>
        <p:nvSpPr>
          <p:cNvPr id="21" name="Text 16"/>
          <p:cNvSpPr/>
          <p:nvPr/>
        </p:nvSpPr>
        <p:spPr>
          <a:xfrm>
            <a:off x="2724912" y="5522976"/>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sp>
      <p:sp>
        <p:nvSpPr>
          <p:cNvPr id="10" name="Shape 7"/>
          <p:cNvSpPr/>
          <p:nvPr/>
        </p:nvSpPr>
        <p:spPr>
          <a:xfrm>
            <a:off x="3657600" y="4160520"/>
            <a:ext cx="914400" cy="594360"/>
          </a:xfrm>
          <a:prstGeom prst="line">
            <a:avLst/>
          </a:prstGeom>
          <a:noFill/>
          <a:ln w="25400">
            <a:solidFill>
              <a:srgbClr val="F4B942"/>
            </a:solidFill>
            <a:prstDash val="solid"/>
            <a:tailEnd type="triangle"/>
          </a:ln>
        </p:spPr>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26930" y="2357120"/>
            <a:ext cx="713232" cy="713232"/>
          </a:xfrm>
          <a:prstGeom prst="rect">
            <a:avLst/>
          </a:prstGeom>
        </p:spPr>
      </p:pic>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sp>
        <p:nvSpPr>
          <p:cNvPr id="19" name="Shape 14"/>
          <p:cNvSpPr/>
          <p:nvPr/>
        </p:nvSpPr>
        <p:spPr>
          <a:xfrm>
            <a:off x="7416800" y="2580640"/>
            <a:ext cx="1155700" cy="0"/>
          </a:xfrm>
          <a:prstGeom prst="line">
            <a:avLst/>
          </a:prstGeom>
          <a:noFill/>
          <a:ln w="25400">
            <a:solidFill>
              <a:srgbClr val="4F8EF7"/>
            </a:solidFill>
            <a:prstDash val="solid"/>
            <a:headEnd type="none"/>
            <a:tailEnd type="triangle"/>
          </a:ln>
        </p:spPr>
      </p:sp>
      <p:sp>
        <p:nvSpPr>
          <p:cNvPr id="20" name="Shape 15"/>
          <p:cNvSpPr/>
          <p:nvPr/>
        </p:nvSpPr>
        <p:spPr>
          <a:xfrm>
            <a:off x="7416800" y="4654550"/>
            <a:ext cx="1155700" cy="0"/>
          </a:xfrm>
          <a:prstGeom prst="line">
            <a:avLst/>
          </a:prstGeom>
          <a:noFill/>
          <a:ln w="25400">
            <a:solidFill>
              <a:srgbClr val="0F8B8D"/>
            </a:solidFill>
            <a:prstDash val="solid"/>
            <a:headEnd type="none"/>
            <a:tailEnd type="triangle"/>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3174</Words>
  <Application>Microsoft Office PowerPoint</Application>
  <PresentationFormat>Widescreen</PresentationFormat>
  <Paragraphs>454</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2026-09-25T18:04:14Z</dcterms:modified>
</cp:coreProperties>
</file>